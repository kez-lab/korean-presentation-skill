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[전환 및 도입]</a:t>
            </a:r>
          </a:p>
          <a:p>
            <a:r>
              <a:t>안녕하십니까, 오늘 발표를 맡은 AI 혁신 전략팀입니다.</a:t>
            </a:r>
          </a:p>
          <a:p/>
          <a:p>
            <a:r>
              <a:t>[본문 상세 설명]</a:t>
            </a:r>
          </a:p>
          <a:p>
            <a:r>
              <a:t>본 세션에서는 2026년 기업의 생존과 초격차를 결정지을 '차세대 자율 AI 에이전트' 생태계 구축 전략을 공유해 드리고자 합니다.</a:t>
            </a:r>
          </a:p>
          <a:p/>
          <a:p>
            <a:r>
              <a:t>[핵심 강조]</a:t>
            </a:r>
          </a:p>
          <a:p>
            <a:r>
              <a:t>단순 도구 도입이 아닌 전사 업무 프로세스를 재정의하는 실질적인 로드맵을 확인하시기 바랍니다.</a:t>
            </a:r>
          </a:p>
          <a:p/>
          <a:p>
            <a:r>
              <a:t>[예상 시간]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[전체 목차 안내]</a:t>
            </a:r>
          </a:p>
          <a:p>
            <a:r>
              <a:t>[클릭 1] 1부: 기존 업무 도구의 한계와 병목</a:t>
            </a:r>
          </a:p>
          <a:p>
            <a:r>
              <a:t>[클릭 2] 2부: 파일럿 실증을 통해 입증된 정량적 성과</a:t>
            </a:r>
          </a:p>
          <a:p>
            <a:r>
              <a:t>[클릭 3] 3부: RPA에서 자율 에이전트로의 패러다임 전환</a:t>
            </a:r>
          </a:p>
          <a:p>
            <a:r>
              <a:t>[클릭 4] 4부: 연간 4단계 실행 마일스톤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[전환 및 도입]</a:t>
            </a:r>
          </a:p>
          <a:p>
            <a:r>
              <a:t>먼저 우리가 해결해야 할 3대 핵심 병목 현상을 하나씩 짚어보겠습니다.</a:t>
            </a:r>
          </a:p>
          <a:p/>
          <a:p>
            <a:r>
              <a:t>[클릭 1: 데이터 사일로]</a:t>
            </a:r>
          </a:p>
          <a:p>
            <a:r>
              <a:t>좌측 첫 번째 카드처럼, 데이터 사일로로 인해 매주 반나절 이상을 단순 데이터 취합에 낭비하고 있습니다.</a:t>
            </a:r>
          </a:p>
          <a:p/>
          <a:p>
            <a:r>
              <a:t>[클릭 2: 휴먼 에러]</a:t>
            </a:r>
          </a:p>
          <a:p>
            <a:r>
              <a:t>두 번째로 수기 작업에서 필연적으로 발생하는 휴먼 에러는 재작업 비용을 급증시킵니다.</a:t>
            </a:r>
          </a:p>
          <a:p/>
          <a:p>
            <a:r>
              <a:t>[클릭 3: 확장성 한계]</a:t>
            </a:r>
          </a:p>
          <a:p>
            <a:r>
              <a:t>세 번째로 업무량이 폭증할 때마다 인력을 늘릴 수 없는 구조적 한계에 부딪히고 있습니다.</a:t>
            </a:r>
          </a:p>
          <a:p/>
          <a:p>
            <a:r>
              <a:t>[핵심 강조]</a:t>
            </a:r>
          </a:p>
          <a:p>
            <a:r>
              <a:t>결국 이 3대 문제를 해결하지 않고는 진정한 생산성 혁신이 불가능합니다.</a:t>
            </a:r>
          </a:p>
          <a:p>
            <a:r>
              <a:t>[예상 시간] 1분 30초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[전환 및 도입]</a:t>
            </a:r>
          </a:p>
          <a:p>
            <a:r>
              <a:t>이번 파일럿을 통해 거둔 3가지 핵심 지표를 공개합니다.</a:t>
            </a:r>
          </a:p>
          <a:p/>
          <a:p>
            <a:r>
              <a:t>[클릭 1: 속도 3.2배]</a:t>
            </a:r>
          </a:p>
          <a:p>
            <a:r>
              <a:t>업무 처리 속도가 3.2배 빨라졌습니다.</a:t>
            </a:r>
          </a:p>
          <a:p/>
          <a:p>
            <a:r>
              <a:t>[클릭 2: 정합성 99.4%]</a:t>
            </a:r>
          </a:p>
          <a:p>
            <a:r>
              <a:t>교차 검증을 통해 휴먼 에러가 사실상 제로에 수렴하게 되었습니다.</a:t>
            </a:r>
          </a:p>
          <a:p/>
          <a:p>
            <a:r>
              <a:t>[클릭 3: 비용 42% 절감]</a:t>
            </a:r>
          </a:p>
          <a:p>
            <a:r>
              <a:t>이를 통해 운영 비용을 42% 절감하는 쾌거를 이루었습니다.</a:t>
            </a:r>
          </a:p>
          <a:p/>
          <a:p>
            <a:r>
              <a:t>[예상 시간] 1분 30초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[전환 및 도입]</a:t>
            </a:r>
          </a:p>
          <a:p>
            <a:r>
              <a:t>기존 자동화 도구와 자율 에이전트의 결정적 차이를 비교해 드리겠습니다.</a:t>
            </a:r>
          </a:p>
          <a:p/>
          <a:p>
            <a:r>
              <a:t>[클릭 1: As-Is 설명]</a:t>
            </a:r>
          </a:p>
          <a:p>
            <a:r>
              <a:t>좌측의 기존 RPA는 규칙이 조금만 바뀌어도 에러가 나고 멈춥니다.</a:t>
            </a:r>
          </a:p>
          <a:p/>
          <a:p>
            <a:r>
              <a:t>[클릭 2: To-Be 하이라이트]</a:t>
            </a:r>
          </a:p>
          <a:p>
            <a:r>
              <a:t>하지만 우측의 자율 에이전트는 상황을 스스로 인지하고 복합 추론을 통해 문제를 유연하게 해결합니다.</a:t>
            </a:r>
          </a:p>
          <a:p/>
          <a:p>
            <a:r>
              <a:t>[핵심 강조]</a:t>
            </a:r>
          </a:p>
          <a:p>
            <a:r>
              <a:t>이제 단순 작업 대행이 아닌 진정한 '지능형 페어 워커'를 갖추게 되는 것입니다.</a:t>
            </a:r>
          </a:p>
          <a:p>
            <a:r>
              <a:t>[예상 시간] 1분 30초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[전환 및 도입]</a:t>
            </a:r>
          </a:p>
          <a:p>
            <a:r>
              <a:t>전사 확산을 위한 4단계 마일스톤입니다.</a:t>
            </a:r>
          </a:p>
          <a:p/>
          <a:p>
            <a:r>
              <a:t>[클릭 1: Q1 PoC] 1분기 핵심 부서 PoC</a:t>
            </a:r>
          </a:p>
          <a:p>
            <a:r>
              <a:t>[클릭 2: Q2 엔진 고도화] 2분기 사내 데이터 연동 및 특화 학습</a:t>
            </a:r>
          </a:p>
          <a:p>
            <a:r>
              <a:t>[클릭 3: Q3 전사 확산] 3분기 전사 롤아웃 및 사용자 교육</a:t>
            </a:r>
          </a:p>
          <a:p>
            <a:r>
              <a:t>[클릭 4: Q4 자율 최적화] 4분기 자율 모니터링 체계 완비</a:t>
            </a:r>
          </a:p>
          <a:p/>
          <a:p>
            <a:r>
              <a:t>[예상 시간] 1분 30초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[전환 및 도입]</a:t>
            </a:r>
          </a:p>
          <a:p>
            <a:r>
              <a:t>오늘 발표를 요약하며 세 가지 핵심 성공 요인과 Next Step을 말씀드리겠습니다.</a:t>
            </a:r>
          </a:p>
          <a:p/>
          <a:p>
            <a:r>
              <a:t>[클릭 1: Key 1] 에이전트 중심 프로세스 혁신</a:t>
            </a:r>
          </a:p>
          <a:p>
            <a:r>
              <a:t>[클릭 2: Key 2] 안전한 엔터프라이즈 아키텍처</a:t>
            </a:r>
          </a:p>
          <a:p>
            <a:r>
              <a:t>[클릭 3: Key 3] 애자일 전사 확산 체계</a:t>
            </a:r>
          </a:p>
          <a:p>
            <a:r>
              <a:t>[클릭 4: Next Step] 다음 주 킥오프 TF 착수 안내</a:t>
            </a:r>
          </a:p>
          <a:p/>
          <a:p>
            <a:r>
              <a:t>[예상 시간]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80160" y="1280160"/>
            <a:ext cx="2194560" cy="347472"/>
          </a:xfrm>
          <a:prstGeom prst="round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32B"/>
                </a:solidFill>
                <a:latin typeface="Pretendard"/>
              </a:defRPr>
            </a:pPr>
            <a:r>
              <a:t>STRATEGIC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Pretendard"/>
              </a:defRPr>
            </a:pPr>
            <a:r>
              <a:t>2026 차세대 자율 AI 에이전트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AEC0"/>
                </a:solidFill>
                <a:latin typeface="Pretendard"/>
              </a:defRPr>
            </a:pPr>
            <a:r>
              <a:t>엔터프라이즈 업무 혁신과 멀티 에이전트 협업 생태계 구축 방안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663440"/>
            <a:ext cx="9601200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463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AI 혁신 전략팀  |  Future Tech Labs  |  2026.08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  <a:latin typeface="Pretendard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5895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Pretendard"/>
              </a:defRPr>
            </a:pPr>
            <a:r>
              <a:t>오늘 발표는 크게 4개의 핵심 섹션으로 진행됩니다.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3352"/>
            <a:ext cx="1371600" cy="27432"/>
          </a:xfrm>
          <a:prstGeom prst="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2476423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2019223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EBFF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07792"/>
            <a:ext cx="20192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시장 배경 및 문제점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30752"/>
            <a:ext cx="20192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파편화된 기존 업무 도구의 한계와 AI 도입 병목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2263" y="1901952"/>
            <a:ext cx="2476423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0863" y="2176272"/>
            <a:ext cx="2019223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EBFF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0863" y="2907792"/>
            <a:ext cx="20192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핵심 혁신 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0863" y="3730752"/>
            <a:ext cx="20192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실제 파일럿 도입을 통해 검증된 정량적 성과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901952"/>
            <a:ext cx="2476423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176272"/>
            <a:ext cx="2019223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EBFF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907792"/>
            <a:ext cx="20192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패러다임의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730752"/>
            <a:ext cx="20192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규칙 기반 RPA에서 자율 협업 멀티 에이전트로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3751" y="1901952"/>
            <a:ext cx="2476423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2351" y="2176272"/>
            <a:ext cx="2019223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EBFF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2907792"/>
            <a:ext cx="20192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단계별 실행 로드맵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3730752"/>
            <a:ext cx="20192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PoC 검증부터 전사 확산까지 4단계 마일스톤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</p:animEffec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</p:animEffec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</p:cBhvr>
                              </p:animEffec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4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</p:animEffec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4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</p:animEffec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4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</p:cBhvr>
                              </p:animEffec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4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  <a:latin typeface="Pretendard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5895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기존 수동 프로세스의 3대 핵심 병목 현상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Pretendard"/>
              </a:defRPr>
            </a:pPr>
            <a:r>
              <a:t>데이터 단절과 휴먼 에러로 인해 기업의 디지털 혁신 속도가 지연되고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3352"/>
            <a:ext cx="1371600" cy="27432"/>
          </a:xfrm>
          <a:prstGeom prst="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405530" cy="449884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2"/>
            <a:ext cx="294833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</a:defRPr>
            </a:pPr>
            <a:r>
              <a:t>BOTTLENECK 01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사일로화된 데이터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부서별 파편화된 시스템으로 정보 공유 단절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수동 데이터 취합으로 주당 12시간 소모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실시간 의사결정 지연 유발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082" y="1901952"/>
            <a:ext cx="3405530" cy="449884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1682" y="2084832"/>
            <a:ext cx="294833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</a:defRPr>
            </a:pPr>
            <a:r>
              <a:t>BOTTLENECK 02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반복적 휴먼 에러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수기 입력 과정에서 데이터 누락 및 오기 발생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오류 수정에 따른 불필요한 리워크 비용 증가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품질 균일성 유지 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4644" y="1901952"/>
            <a:ext cx="3405530" cy="449884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3244" y="2084832"/>
            <a:ext cx="294833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</a:defRPr>
            </a:pPr>
            <a:r>
              <a:t>BOTTLENECK 03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확장성 한계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업무량 급증 시 인력 증원 외 대응 불가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담당자 의존적인 비표준화 프로세스</a:t>
            </a:r>
          </a:p>
          <a:p>
            <a:pPr>
              <a:spcAft>
                <a:spcPts val="300"/>
              </a:spcAft>
              <a:defRPr sz="1100">
                <a:solidFill>
                  <a:srgbClr val="A0AEC0"/>
                </a:solidFill>
                <a:latin typeface="Pretendard"/>
              </a:defRPr>
            </a:pPr>
            <a:r>
              <a:t>• 신규 인력 온보딩 비용 과다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  <a:latin typeface="Pretendard"/>
              </a:defRPr>
            </a:pPr>
            <a:r>
              <a:t>KEY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5895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자율 에이전트 도입을 통한 정량적 혁신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Pretendard"/>
              </a:defRPr>
            </a:pPr>
            <a:r>
              <a:t>파일럿 실증 테스트 결과 전 영역에서 획기적인 지표 개선을 달성했습니다.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3352"/>
            <a:ext cx="1371600" cy="27432"/>
          </a:xfrm>
          <a:prstGeom prst="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393338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293613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0EBFF"/>
                </a:solidFill>
                <a:latin typeface="Pretendard"/>
              </a:defRPr>
            </a:pPr>
            <a:r>
              <a:t>3.2x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업무 처리 속도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기존 대비 소요 시간 68% 단축 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901952"/>
            <a:ext cx="3393338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267712"/>
            <a:ext cx="293613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0EBFF"/>
                </a:solidFill>
                <a:latin typeface="Pretendard"/>
              </a:defRPr>
            </a:pPr>
            <a:r>
              <a:t>99.4%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데이터 정합성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자동 검증 파이프라인으로 휴먼 에러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901952"/>
            <a:ext cx="3393338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5436" y="2267712"/>
            <a:ext cx="293613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00EBFF"/>
                </a:solidFill>
                <a:latin typeface="Pretendard"/>
              </a:defRPr>
            </a:pPr>
            <a:r>
              <a:t>42%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운영 비용 절감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반복 수작업 자동화로 인건비 및 리워크 절감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  <a:latin typeface="Pretendard"/>
              </a:defRPr>
            </a:pPr>
            <a:r>
              <a:t>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5895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패러다임의 전환: 규칙 기반에서 자율 협업으로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Pretendard"/>
              </a:defRPr>
            </a:pPr>
            <a:r>
              <a:t>경직된 룰베이스 RPA에서 상황을 인지하고 협업하는 에이전트로 진화합니다.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3352"/>
            <a:ext cx="1371600" cy="27432"/>
          </a:xfrm>
          <a:prstGeom prst="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5166360" cy="41148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76272"/>
            <a:ext cx="4526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AEC0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전통적 RPA 방식 (As-Is)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Pretendard"/>
              </a:defRPr>
            </a:pPr>
            <a:r>
              <a:t>✕  정형화된 단일 태스크만 수행 가능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Pretendard"/>
              </a:defRPr>
            </a:pPr>
            <a:r>
              <a:t>✕  예외 상황 발생 시 프로세스 즉시 중단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Pretendard"/>
              </a:defRPr>
            </a:pPr>
            <a:r>
              <a:t>✕  시스템 UI 변경 시마다 스크립트 재작성 필요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Pretendard"/>
              </a:defRPr>
            </a:pPr>
            <a:r>
              <a:t>✕  단순 반복 작업에 국한된 자동화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3815" y="1901952"/>
            <a:ext cx="5166360" cy="411480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0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3855" y="2176272"/>
            <a:ext cx="4526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BFF"/>
                </a:solidFill>
              </a:defRPr>
            </a:pPr>
            <a:r>
              <a:t>FUTURE TARGET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차세대 자율 에이전트 (To-Be)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✓  LLM 기반 복합 추론 및 동적 워크플로우 생성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✓  오류 발생 시 스스로 원인 파악 및 자가 복구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✓  자연어 지시만으로 새로운 업무 즉시 학습 및 수행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✓  기획, 분석, 실행을 포괄하는 지능형 협업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  <a:latin typeface="Pretendard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5895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성공적인 전사 확산을 위한 4단계 실행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Pretendard"/>
              </a:defRPr>
            </a:pPr>
            <a:r>
              <a:t>위험을 최소화하고 가치를 빠르게 입증하는 애자일 마일스톤을 제안합니다.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3352"/>
            <a:ext cx="1371600" cy="27432"/>
          </a:xfrm>
          <a:prstGeom prst="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2510713" cy="40233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30552"/>
            <a:ext cx="2144953" cy="320040"/>
          </a:xfrm>
          <a:prstGeom prst="round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</a:defRPr>
            </a:pPr>
            <a:r>
              <a:t>PHASE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214495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PoC 검증</a:t>
            </a:r>
          </a:p>
          <a:p>
            <a:pPr>
              <a:spcAft>
                <a:spcPts val="600"/>
              </a:spcAft>
              <a:defRPr sz="1100" b="1">
                <a:solidFill>
                  <a:srgbClr val="00EBFF"/>
                </a:solidFill>
              </a:defRPr>
            </a:pPr>
            <a:r>
              <a:t>📅 Q1 2026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핵심 2개 부서 대상 파일럿 구축 및 효과 측정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0833" y="1901952"/>
            <a:ext cx="2510713" cy="40233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3713" y="2130552"/>
            <a:ext cx="2144953" cy="320040"/>
          </a:xfrm>
          <a:prstGeom prst="round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</a:defRPr>
            </a:pPr>
            <a:r>
              <a:t>PHASE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2587752"/>
            <a:ext cx="214495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엔진 고도화</a:t>
            </a:r>
          </a:p>
          <a:p>
            <a:pPr>
              <a:spcAft>
                <a:spcPts val="600"/>
              </a:spcAft>
              <a:defRPr sz="1100" b="1">
                <a:solidFill>
                  <a:srgbClr val="00EBFF"/>
                </a:solidFill>
              </a:defRPr>
            </a:pPr>
            <a:r>
              <a:t>📅 Q2 2026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도메인 특화 에이전트 학습 및 사내 DB 연동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901952"/>
            <a:ext cx="2510713" cy="40233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93027" y="2130552"/>
            <a:ext cx="2144953" cy="320040"/>
          </a:xfrm>
          <a:prstGeom prst="round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</a:defRPr>
            </a:pPr>
            <a:r>
              <a:t>PHASE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7" y="2587752"/>
            <a:ext cx="214495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전사 확산</a:t>
            </a:r>
          </a:p>
          <a:p>
            <a:pPr>
              <a:spcAft>
                <a:spcPts val="600"/>
              </a:spcAft>
              <a:defRPr sz="1100" b="1">
                <a:solidFill>
                  <a:srgbClr val="00EBFF"/>
                </a:solidFill>
              </a:defRPr>
            </a:pPr>
            <a:r>
              <a:t>📅 Q3 2026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전 부서 대상 배포 및 사용자 교육 프로그램 가동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9461" y="1901952"/>
            <a:ext cx="2510713" cy="40233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32341" y="2130552"/>
            <a:ext cx="2144953" cy="320040"/>
          </a:xfrm>
          <a:prstGeom prst="round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32B"/>
                </a:solidFill>
              </a:defRPr>
            </a:pPr>
            <a:r>
              <a:t>PHASE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587752"/>
            <a:ext cx="214495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자율 최적화</a:t>
            </a:r>
          </a:p>
          <a:p>
            <a:pPr>
              <a:spcAft>
                <a:spcPts val="600"/>
              </a:spcAft>
              <a:defRPr sz="1100" b="1">
                <a:solidFill>
                  <a:srgbClr val="00EBFF"/>
                </a:solidFill>
              </a:defRPr>
            </a:pPr>
            <a:r>
              <a:t>📅 Q4 2026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에이전트 자율 모니터링 및 지속적 성능 개선 체계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</p:animEffec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</p:animEffec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</p:cBhvr>
                              </p:animEffec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EBFF"/>
                </a:solidFill>
                <a:latin typeface="Pretendard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5895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핵심 요약 및 추진 제언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Pretendard"/>
              </a:defRPr>
            </a:pPr>
            <a:r>
              <a:t>디지털 초격차를 확보하기 위한 3가지 핵심 성공 요인입니다.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3352"/>
            <a:ext cx="1371600" cy="27432"/>
          </a:xfrm>
          <a:prstGeom prst="rect">
            <a:avLst/>
          </a:prstGeom>
          <a:solidFill>
            <a:srgbClr val="0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A0AEC0"/>
                </a:solidFill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393338" cy="2926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93613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EBFF"/>
                </a:solidFill>
              </a:defRPr>
            </a:pPr>
            <a:r>
              <a:t>KEY 01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자율 에이전트 우선주의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단순 도구 도입이 아닌 에이전트 중심의 업무 프로세스 재설계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901952"/>
            <a:ext cx="3393338" cy="2926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130552"/>
            <a:ext cx="293613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EBFF"/>
                </a:solidFill>
              </a:defRPr>
            </a:pPr>
            <a:r>
              <a:t>KEY 02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검증된 모듈형 아키텍처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확장 가능하고 안전한 엔터프라이즈 레벨 보안 가드레일 탑재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901952"/>
            <a:ext cx="3393338" cy="29260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5436" y="2130552"/>
            <a:ext cx="293613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EBFF"/>
                </a:solidFill>
              </a:defRPr>
            </a:pPr>
            <a:r>
              <a:t>KEY 03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애자일 확산 체계</a:t>
            </a:r>
          </a:p>
          <a:p>
            <a:pPr>
              <a:defRPr sz="1200">
                <a:solidFill>
                  <a:srgbClr val="A0AEC0"/>
                </a:solidFill>
                <a:latin typeface="Pretendard"/>
              </a:defRPr>
            </a:pPr>
            <a:r>
              <a:t>빠른 PoC로 조기 성과를 입증하고 단계적 전사 확산 추진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02352"/>
            <a:ext cx="10728655" cy="8229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🎯 Next Step: 9월 1주차 PoC 착수 TF 구성 및 킥오프 미팅 진행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문의: AI 혁신 TF (ai-innovation@example.com)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7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1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3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5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29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</p:animEffec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type="str" val="visible"/>
                                </p:to>
                              </p:set>
                              <p:animEffect transition="in" filter="fade">
                                <p:cBhvr>
                                  <p:cTn id="31" dur="4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