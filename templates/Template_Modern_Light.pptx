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[학술 발표 오프닝] 모바일 온디바이스 환경에서 소형 언어 모델의 추론 성능을 극대화하기 위한 연구 결과를 발표합니다.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[아젠다 발표] 연구 배경부터 경량화 기법, 벤치마크 검증까지 순서대로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[연구 성과] 추론 속도, 메모리 절감, 한국어 정확도 3개 지표를 모두 충족했습니다.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[파이프라인] AWQ, KV Pruning, NPU 가속의 3단계 파이프라인 구조를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[비교 평가] 처리 지연시간 68% 단축과 메모리 66% 절감의 뛰어난 정량적 성과를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[마무리 발표] 연구 결론을 요약하고 오픈소스 저장소를 안내합니다. 질문해 주시면 성실히 답변드리겠습니다.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438180"/>
            <a:ext cx="3942253" cy="418521"/>
          </a:xfrm>
          <a:prstGeom prst="roundRect">
            <a:avLst>
              <a:gd name="adj" fmla="val 50011"/>
            </a:avLst>
          </a:prstGeom>
          <a:solidFill>
            <a:srgbClr val="4F46E5">
              <a:alpha val="10000"/>
            </a:srgbClr>
          </a:solidFill>
          <a:ln w="9525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481432"/>
            <a:ext cx="3968039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CONFERENCE PAPER &amp; RESEARCH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040679"/>
            <a:ext cx="11125230" cy="1682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소형 언어 모델(sLLM)을 활용한</a:t>
            </a:r>
            <a:pPr algn="l" indent="0" marL="0">
              <a:lnSpc>
                <a:spcPts val="6626"/>
              </a:lnSpc>
              <a:buNone/>
            </a:pPr>
            <a:endParaRPr lang="en-US" sz="5177" dirty="0"/>
          </a:p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5177" dirty="0"/>
          </a:p>
          <a:p>
            <a:pPr algn="l" indent="0" marL="0">
              <a:lnSpc>
                <a:spcPts val="6626"/>
              </a:lnSpc>
              <a:buNone/>
            </a:pPr>
            <a:r>
              <a:rPr lang="en-US" sz="5177" b="1" spc="-155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한국어 문맥 추론 및 요약 엔진</a:t>
            </a:r>
            <a:endParaRPr lang="en-US" sz="5177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3032425"/>
            <a:ext cx="119930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344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엣지 디바이스 환경에서 메모리 사용량 최적화와 추론 지연시간 단축에 관한 연구</a:t>
            </a:r>
            <a:endParaRPr lang="en-US" sz="1344" dirty="0"/>
          </a:p>
        </p:txBody>
      </p:sp>
      <p:sp>
        <p:nvSpPr>
          <p:cNvPr id="6" name="Shape 4"/>
          <p:cNvSpPr/>
          <p:nvPr/>
        </p:nvSpPr>
        <p:spPr>
          <a:xfrm>
            <a:off x="552480" y="5153284"/>
            <a:ext cx="3818992" cy="1285555"/>
          </a:xfrm>
          <a:prstGeom prst="roundRect">
            <a:avLst>
              <a:gd name="adj" fmla="val 88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4421" y="5457139"/>
            <a:ext cx="3752606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AUTHORS &amp; LAB</a:t>
            </a:r>
            <a:endParaRPr lang="en-US" sz="1523" dirty="0"/>
          </a:p>
        </p:txBody>
      </p:sp>
      <p:sp>
        <p:nvSpPr>
          <p:cNvPr id="8" name="Text 6"/>
          <p:cNvSpPr txBox="1"/>
          <p:nvPr/>
        </p:nvSpPr>
        <p:spPr>
          <a:xfrm>
            <a:off x="714421" y="5766938"/>
            <a:ext cx="3752606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인공지능연구소 자연어처리팀</a:t>
            </a:r>
            <a:endParaRPr lang="en-US" sz="1914" dirty="0"/>
          </a:p>
        </p:txBody>
      </p:sp>
      <p:sp>
        <p:nvSpPr>
          <p:cNvPr id="9" name="Shape 7"/>
          <p:cNvSpPr/>
          <p:nvPr/>
        </p:nvSpPr>
        <p:spPr>
          <a:xfrm>
            <a:off x="4504792" y="5153284"/>
            <a:ext cx="3182386" cy="1285555"/>
          </a:xfrm>
          <a:prstGeom prst="roundRect">
            <a:avLst>
              <a:gd name="adj" fmla="val 88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6640" y="5275082"/>
            <a:ext cx="3065160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SYMPOSIUM &amp; SESSION</a:t>
            </a:r>
            <a:endParaRPr lang="en-US" sz="1523" dirty="0"/>
          </a:p>
        </p:txBody>
      </p:sp>
      <p:sp>
        <p:nvSpPr>
          <p:cNvPr id="11" name="Text 9"/>
          <p:cNvSpPr txBox="1"/>
          <p:nvPr/>
        </p:nvSpPr>
        <p:spPr>
          <a:xfrm>
            <a:off x="4666640" y="5584698"/>
            <a:ext cx="2858506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AI Symposium • Edge Track</a:t>
            </a:r>
            <a:endParaRPr lang="en-US" sz="1914" dirty="0"/>
          </a:p>
        </p:txBody>
      </p:sp>
      <p:sp>
        <p:nvSpPr>
          <p:cNvPr id="12" name="Shape 10"/>
          <p:cNvSpPr/>
          <p:nvPr/>
        </p:nvSpPr>
        <p:spPr>
          <a:xfrm>
            <a:off x="7820497" y="5153284"/>
            <a:ext cx="3819083" cy="1285555"/>
          </a:xfrm>
          <a:prstGeom prst="roundRect">
            <a:avLst>
              <a:gd name="adj" fmla="val 8891"/>
            </a:avLst>
          </a:prstGeom>
          <a:solidFill>
            <a:srgbClr val="FFFFFF"/>
          </a:solidFill>
          <a:ln w="9525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82438" y="5457139"/>
            <a:ext cx="3752698" cy="290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en-US" sz="1523" b="1" spc="76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 REGISTRATION</a:t>
            </a:r>
            <a:endParaRPr lang="en-US" sz="1523" dirty="0"/>
          </a:p>
        </p:txBody>
      </p:sp>
      <p:sp>
        <p:nvSpPr>
          <p:cNvPr id="14" name="Text 12"/>
          <p:cNvSpPr txBox="1"/>
          <p:nvPr/>
        </p:nvSpPr>
        <p:spPr>
          <a:xfrm>
            <a:off x="7982438" y="5766938"/>
            <a:ext cx="3752698" cy="364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71"/>
              </a:lnSpc>
              <a:buNone/>
            </a:pPr>
            <a:r>
              <a:rPr lang="en-US" sz="1914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 No. 2026-AI-088</a:t>
            </a:r>
            <a:endParaRPr lang="en-US" sz="191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1638330"/>
            <a:ext cx="1983791" cy="418521"/>
          </a:xfrm>
          <a:prstGeom prst="roundRect">
            <a:avLst>
              <a:gd name="adj" fmla="val 50011"/>
            </a:avLst>
          </a:prstGeom>
          <a:solidFill>
            <a:srgbClr val="4F46E5">
              <a:alpha val="10000"/>
            </a:srgbClr>
          </a:solidFill>
          <a:ln w="9525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1681490"/>
            <a:ext cx="1852940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PAPER OUTLINE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2188982"/>
            <a:ext cx="2693640" cy="62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94"/>
              </a:lnSpc>
              <a:buNone/>
            </a:pPr>
            <a:r>
              <a:rPr lang="en-US" sz="3263" b="1" spc="261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3263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882463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배경부터</a:t>
            </a:r>
            <a:endParaRPr lang="en-US" sz="1056" dirty="0"/>
          </a:p>
          <a:p>
            <a:pPr algn="l" indent="0" marL="0">
              <a:lnSpc>
                <a:spcPts val="1584"/>
              </a:lnSpc>
              <a:buNone/>
            </a:pPr>
            <a:r>
              <a:rPr lang="en-US" sz="1056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벤치마크까지 4챕터</a:t>
            </a:r>
            <a:endParaRPr lang="en-US" sz="1056" dirty="0"/>
          </a:p>
        </p:txBody>
      </p:sp>
      <p:sp>
        <p:nvSpPr>
          <p:cNvPr id="6" name="Shape 4"/>
          <p:cNvSpPr/>
          <p:nvPr/>
        </p:nvSpPr>
        <p:spPr>
          <a:xfrm>
            <a:off x="552480" y="46863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7" name="Shape 5"/>
          <p:cNvSpPr/>
          <p:nvPr/>
        </p:nvSpPr>
        <p:spPr>
          <a:xfrm>
            <a:off x="761970" y="4724430"/>
            <a:ext cx="571500" cy="19020"/>
          </a:xfrm>
          <a:prstGeom prst="rect">
            <a:avLst/>
          </a:prstGeom>
          <a:solidFill>
            <a:srgbClr val="4F46E5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2480" y="49149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/>
        </p:spPr>
      </p:sp>
      <p:sp>
        <p:nvSpPr>
          <p:cNvPr id="9" name="Shape 7"/>
          <p:cNvSpPr/>
          <p:nvPr/>
        </p:nvSpPr>
        <p:spPr>
          <a:xfrm>
            <a:off x="761970" y="4953030"/>
            <a:ext cx="952530" cy="19020"/>
          </a:xfrm>
          <a:prstGeom prst="rect">
            <a:avLst/>
          </a:prstGeom>
          <a:solidFill>
            <a:srgbClr val="0284C7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5143500"/>
            <a:ext cx="95280" cy="952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761970" y="5181630"/>
            <a:ext cx="428671" cy="19020"/>
          </a:xfrm>
          <a:prstGeom prst="rect">
            <a:avLst/>
          </a:prstGeom>
          <a:solidFill>
            <a:srgbClr val="4F46E5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86150" y="764347"/>
            <a:ext cx="4000500" cy="2795595"/>
          </a:xfrm>
          <a:prstGeom prst="roundRect">
            <a:avLst>
              <a:gd name="adj" fmla="val 4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05240" y="964418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4F46E5">
              <a:alpha val="12000"/>
            </a:srgbClr>
          </a:solidFill>
          <a:ln w="9525">
            <a:solidFill>
              <a:srgbClr val="4F46E5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95730" y="929945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5" name="Text 13"/>
          <p:cNvSpPr txBox="1"/>
          <p:nvPr/>
        </p:nvSpPr>
        <p:spPr>
          <a:xfrm>
            <a:off x="3686221" y="1285921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 및 당면 과제</a:t>
            </a:r>
            <a:endParaRPr lang="en-US" sz="2175" dirty="0"/>
          </a:p>
        </p:txBody>
      </p:sp>
      <p:sp>
        <p:nvSpPr>
          <p:cNvPr id="16" name="Text 14"/>
          <p:cNvSpPr txBox="1"/>
          <p:nvPr/>
        </p:nvSpPr>
        <p:spPr>
          <a:xfrm>
            <a:off x="3686221" y="1700235"/>
            <a:ext cx="360045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엣지 디바이스 하드웨어 제약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한국어 토크나이저 메모리 오버헤드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저지연 스트리밍 구현 한계</a:t>
            </a:r>
            <a:endParaRPr lang="en-US" sz="2175" dirty="0"/>
          </a:p>
        </p:txBody>
      </p:sp>
      <p:sp>
        <p:nvSpPr>
          <p:cNvPr id="17" name="Shape 15"/>
          <p:cNvSpPr/>
          <p:nvPr/>
        </p:nvSpPr>
        <p:spPr>
          <a:xfrm>
            <a:off x="7639080" y="764347"/>
            <a:ext cx="4000500" cy="2795595"/>
          </a:xfrm>
          <a:prstGeom prst="roundRect">
            <a:avLst>
              <a:gd name="adj" fmla="val 476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58171" y="964418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0284C7">
              <a:alpha val="12000"/>
            </a:srgbClr>
          </a:solidFill>
          <a:ln w="9525">
            <a:solidFill>
              <a:srgbClr val="0284C7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48570" y="929945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0" name="Text 18"/>
          <p:cNvSpPr txBox="1"/>
          <p:nvPr/>
        </p:nvSpPr>
        <p:spPr>
          <a:xfrm>
            <a:off x="7839060" y="1285921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경량화 아키텍처 설계</a:t>
            </a:r>
            <a:endParaRPr lang="en-US" sz="2175" dirty="0"/>
          </a:p>
        </p:txBody>
      </p:sp>
      <p:sp>
        <p:nvSpPr>
          <p:cNvPr id="21" name="Text 19"/>
          <p:cNvSpPr txBox="1"/>
          <p:nvPr/>
        </p:nvSpPr>
        <p:spPr>
          <a:xfrm>
            <a:off x="7839060" y="1700235"/>
            <a:ext cx="360045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4-bit AWQ 활성화 양자화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동적 KV Cache Pruning 기법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모바일 NPU 연산 최적화 파이프라인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3486150" y="3712373"/>
            <a:ext cx="4000500" cy="2381280"/>
          </a:xfrm>
          <a:prstGeom prst="roundRect">
            <a:avLst>
              <a:gd name="adj" fmla="val 55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05240" y="391235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059669">
              <a:alpha val="12000"/>
            </a:srgbClr>
          </a:solidFill>
          <a:ln w="9525">
            <a:solidFill>
              <a:srgbClr val="059669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95730" y="3877879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25" name="Text 23"/>
          <p:cNvSpPr txBox="1"/>
          <p:nvPr/>
        </p:nvSpPr>
        <p:spPr>
          <a:xfrm>
            <a:off x="3686221" y="4233855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결과 및 정량 분석</a:t>
            </a:r>
            <a:endParaRPr lang="en-US" sz="2175" dirty="0"/>
          </a:p>
        </p:txBody>
      </p:sp>
      <p:sp>
        <p:nvSpPr>
          <p:cNvPr id="26" name="Text 24"/>
          <p:cNvSpPr txBox="1"/>
          <p:nvPr/>
        </p:nvSpPr>
        <p:spPr>
          <a:xfrm>
            <a:off x="3686221" y="4648170"/>
            <a:ext cx="3600450" cy="124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Ko-Harness 벤치마크 평가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TTFT 및 토큰 생성 속도 측정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전력 소모 및 RAM 점유율 비교</a:t>
            </a:r>
            <a:endParaRPr lang="en-US" sz="2175" dirty="0"/>
          </a:p>
        </p:txBody>
      </p:sp>
      <p:sp>
        <p:nvSpPr>
          <p:cNvPr id="27" name="Shape 25"/>
          <p:cNvSpPr/>
          <p:nvPr/>
        </p:nvSpPr>
        <p:spPr>
          <a:xfrm>
            <a:off x="7639080" y="3712373"/>
            <a:ext cx="4000500" cy="2381280"/>
          </a:xfrm>
          <a:prstGeom prst="roundRect">
            <a:avLst>
              <a:gd name="adj" fmla="val 55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58171" y="391235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4F46E5">
              <a:alpha val="12000"/>
            </a:srgbClr>
          </a:solidFill>
          <a:ln w="9525">
            <a:solidFill>
              <a:srgbClr val="4F46E5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48570" y="3877879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631" dirty="0"/>
          </a:p>
        </p:txBody>
      </p:sp>
      <p:sp>
        <p:nvSpPr>
          <p:cNvPr id="30" name="Text 28"/>
          <p:cNvSpPr txBox="1"/>
          <p:nvPr/>
        </p:nvSpPr>
        <p:spPr>
          <a:xfrm>
            <a:off x="7839060" y="4233855"/>
            <a:ext cx="3866358" cy="414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향후 연구 방향</a:t>
            </a:r>
            <a:endParaRPr lang="en-US" sz="2175" dirty="0"/>
          </a:p>
        </p:txBody>
      </p:sp>
      <p:sp>
        <p:nvSpPr>
          <p:cNvPr id="31" name="Text 29"/>
          <p:cNvSpPr txBox="1"/>
          <p:nvPr/>
        </p:nvSpPr>
        <p:spPr>
          <a:xfrm>
            <a:off x="7839060" y="4648170"/>
            <a:ext cx="3600450" cy="1243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온디바이스 멀티모달 확장 방안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연속 학습(Continual Learning)</a:t>
            </a:r>
            <a:endParaRPr lang="en-US" sz="2175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175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오픈소스 모델 가중치 공개 계획</a:t>
            </a:r>
            <a:endParaRPr lang="en-US" sz="21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11685" y="1358158"/>
            <a:ext cx="2968417" cy="418521"/>
          </a:xfrm>
          <a:prstGeom prst="roundRect">
            <a:avLst>
              <a:gd name="adj" fmla="val 50011"/>
            </a:avLst>
          </a:prstGeom>
          <a:solidFill>
            <a:srgbClr val="4F46E5">
              <a:alpha val="10000"/>
            </a:srgbClr>
          </a:solidFill>
          <a:ln w="9525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39996" y="1401409"/>
            <a:ext cx="3111886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EXPERIMENTAL RESULTS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1852849"/>
            <a:ext cx="12861036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핵심 연구 성과 및 벤치마크 검증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2626614"/>
            <a:ext cx="12861036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양자화(Quantization)와 캐시 최적화를 통해 기존 모델 대비 처리 속도 3.4배 향상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261482"/>
            <a:ext cx="3594049" cy="2257196"/>
          </a:xfrm>
          <a:prstGeom prst="roundRect">
            <a:avLst>
              <a:gd name="adj" fmla="val 590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3261482"/>
            <a:ext cx="3594049" cy="28621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8" name="Shape 6"/>
          <p:cNvSpPr/>
          <p:nvPr/>
        </p:nvSpPr>
        <p:spPr>
          <a:xfrm>
            <a:off x="4137020" y="3261482"/>
            <a:ext cx="9510" cy="22571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5509169"/>
            <a:ext cx="359404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3261482"/>
            <a:ext cx="9510" cy="22571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771571" y="348057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4F46E5">
              <a:alpha val="12000"/>
            </a:srgbClr>
          </a:solidFill>
          <a:ln w="9525">
            <a:solidFill>
              <a:srgbClr val="4F46E5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1970" y="3445916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631" dirty="0"/>
          </a:p>
        </p:txBody>
      </p:sp>
      <p:sp>
        <p:nvSpPr>
          <p:cNvPr id="13" name="Text 11"/>
          <p:cNvSpPr txBox="1"/>
          <p:nvPr/>
        </p:nvSpPr>
        <p:spPr>
          <a:xfrm>
            <a:off x="752460" y="3801892"/>
            <a:ext cx="3427446" cy="224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176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지연시간 68% 단축</a:t>
            </a:r>
            <a:endParaRPr lang="en-US" sz="1176" dirty="0"/>
          </a:p>
        </p:txBody>
      </p:sp>
      <p:sp>
        <p:nvSpPr>
          <p:cNvPr id="14" name="Text 12"/>
          <p:cNvSpPr txBox="1"/>
          <p:nvPr/>
        </p:nvSpPr>
        <p:spPr>
          <a:xfrm>
            <a:off x="904890" y="4133454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 프루닝(Pruning) 기법 적용</a:t>
            </a:r>
            <a:endParaRPr lang="en-US" sz="1740" dirty="0"/>
          </a:p>
        </p:txBody>
      </p:sp>
      <p:sp>
        <p:nvSpPr>
          <p:cNvPr id="15" name="Text 13"/>
          <p:cNvSpPr txBox="1"/>
          <p:nvPr/>
        </p:nvSpPr>
        <p:spPr>
          <a:xfrm>
            <a:off x="904890" y="4531126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토큰 생성(TTFT) 42ms 달성</a:t>
            </a:r>
            <a:endParaRPr lang="en-US" sz="1740" dirty="0"/>
          </a:p>
        </p:txBody>
      </p:sp>
      <p:sp>
        <p:nvSpPr>
          <p:cNvPr id="16" name="Text 14"/>
          <p:cNvSpPr txBox="1"/>
          <p:nvPr/>
        </p:nvSpPr>
        <p:spPr>
          <a:xfrm>
            <a:off x="904890" y="4928799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38.5 토큰 실시간 스트리밍</a:t>
            </a:r>
            <a:endParaRPr lang="en-US" sz="1740" dirty="0"/>
          </a:p>
        </p:txBody>
      </p:sp>
      <p:sp>
        <p:nvSpPr>
          <p:cNvPr id="17" name="Shape 15"/>
          <p:cNvSpPr/>
          <p:nvPr/>
        </p:nvSpPr>
        <p:spPr>
          <a:xfrm>
            <a:off x="4298960" y="3261482"/>
            <a:ext cx="3594049" cy="2257196"/>
          </a:xfrm>
          <a:prstGeom prst="roundRect">
            <a:avLst>
              <a:gd name="adj" fmla="val 5906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8960" y="3261482"/>
            <a:ext cx="3594049" cy="28621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Shape 17"/>
          <p:cNvSpPr/>
          <p:nvPr/>
        </p:nvSpPr>
        <p:spPr>
          <a:xfrm>
            <a:off x="7883500" y="3261482"/>
            <a:ext cx="9510" cy="22571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8960" y="5509169"/>
            <a:ext cx="359404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8960" y="3261482"/>
            <a:ext cx="9510" cy="22571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4517959" y="348057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0284C7">
              <a:alpha val="12000"/>
            </a:srgbClr>
          </a:solidFill>
          <a:ln w="9525">
            <a:solidFill>
              <a:srgbClr val="0284C7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08449" y="3445916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631" dirty="0"/>
          </a:p>
        </p:txBody>
      </p:sp>
      <p:sp>
        <p:nvSpPr>
          <p:cNvPr id="24" name="Text 22"/>
          <p:cNvSpPr txBox="1"/>
          <p:nvPr/>
        </p:nvSpPr>
        <p:spPr>
          <a:xfrm>
            <a:off x="4498939" y="3801892"/>
            <a:ext cx="3427446" cy="224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176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 점유율 1.8GB 유지</a:t>
            </a:r>
            <a:endParaRPr lang="en-US" sz="1176" dirty="0"/>
          </a:p>
        </p:txBody>
      </p:sp>
      <p:sp>
        <p:nvSpPr>
          <p:cNvPr id="25" name="Text 23"/>
          <p:cNvSpPr txBox="1"/>
          <p:nvPr/>
        </p:nvSpPr>
        <p:spPr>
          <a:xfrm>
            <a:off x="4651370" y="4133454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 AWQ 양자화로 압축률 극대화</a:t>
            </a:r>
            <a:endParaRPr lang="en-US" sz="1740" dirty="0"/>
          </a:p>
        </p:txBody>
      </p:sp>
      <p:sp>
        <p:nvSpPr>
          <p:cNvPr id="26" name="Text 24"/>
          <p:cNvSpPr txBox="1"/>
          <p:nvPr/>
        </p:nvSpPr>
        <p:spPr>
          <a:xfrm>
            <a:off x="4651370" y="4531126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저전력 LPDDR5X 완벽 지원</a:t>
            </a:r>
            <a:endParaRPr lang="en-US" sz="1740" dirty="0"/>
          </a:p>
        </p:txBody>
      </p:sp>
      <p:sp>
        <p:nvSpPr>
          <p:cNvPr id="27" name="Text 25"/>
          <p:cNvSpPr txBox="1"/>
          <p:nvPr/>
        </p:nvSpPr>
        <p:spPr>
          <a:xfrm>
            <a:off x="4651370" y="4928799"/>
            <a:ext cx="3262854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메모리 누수 0% 달성</a:t>
            </a:r>
            <a:endParaRPr lang="en-US" sz="1740" dirty="0"/>
          </a:p>
        </p:txBody>
      </p:sp>
      <p:sp>
        <p:nvSpPr>
          <p:cNvPr id="28" name="Shape 26"/>
          <p:cNvSpPr/>
          <p:nvPr/>
        </p:nvSpPr>
        <p:spPr>
          <a:xfrm>
            <a:off x="8045348" y="3261482"/>
            <a:ext cx="3594141" cy="2257196"/>
          </a:xfrm>
          <a:prstGeom prst="roundRect">
            <a:avLst>
              <a:gd name="adj" fmla="val 5906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5348" y="3261482"/>
            <a:ext cx="3594141" cy="28621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30071" y="3261482"/>
            <a:ext cx="9510" cy="22571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5348" y="5509169"/>
            <a:ext cx="3594141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5348" y="3261482"/>
            <a:ext cx="9510" cy="225719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8264439" y="3480572"/>
            <a:ext cx="247620" cy="247620"/>
          </a:xfrm>
          <a:prstGeom prst="roundRect">
            <a:avLst>
              <a:gd name="adj" fmla="val 50000"/>
            </a:avLst>
          </a:prstGeom>
          <a:solidFill>
            <a:srgbClr val="059669">
              <a:alpha val="12000"/>
            </a:srgbClr>
          </a:solidFill>
          <a:ln w="9525">
            <a:solidFill>
              <a:srgbClr val="059669">
                <a:alpha val="35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54929" y="3445916"/>
            <a:ext cx="304770" cy="31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7"/>
              </a:lnSpc>
              <a:buNone/>
            </a:pPr>
            <a:r>
              <a:rPr lang="en-US" sz="1631" b="1" spc="-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631" dirty="0"/>
          </a:p>
        </p:txBody>
      </p:sp>
      <p:sp>
        <p:nvSpPr>
          <p:cNvPr id="35" name="Text 33"/>
          <p:cNvSpPr txBox="1"/>
          <p:nvPr/>
        </p:nvSpPr>
        <p:spPr>
          <a:xfrm>
            <a:off x="8245419" y="3801892"/>
            <a:ext cx="3427537" cy="224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176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문해력 94.2점</a:t>
            </a:r>
            <a:endParaRPr lang="en-US" sz="1176" dirty="0"/>
          </a:p>
        </p:txBody>
      </p:sp>
      <p:sp>
        <p:nvSpPr>
          <p:cNvPr id="36" name="Text 34"/>
          <p:cNvSpPr txBox="1"/>
          <p:nvPr/>
        </p:nvSpPr>
        <p:spPr>
          <a:xfrm>
            <a:off x="8397850" y="4133454"/>
            <a:ext cx="3262945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Ko-Harness 종합 평가 기준 준수</a:t>
            </a:r>
            <a:endParaRPr lang="en-US" sz="1740" dirty="0"/>
          </a:p>
        </p:txBody>
      </p:sp>
      <p:sp>
        <p:nvSpPr>
          <p:cNvPr id="37" name="Text 35"/>
          <p:cNvSpPr txBox="1"/>
          <p:nvPr/>
        </p:nvSpPr>
        <p:spPr>
          <a:xfrm>
            <a:off x="8397850" y="4531126"/>
            <a:ext cx="3262945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도메인 용어 오역률 1.2% 미만</a:t>
            </a:r>
            <a:endParaRPr lang="en-US" sz="1740" dirty="0"/>
          </a:p>
        </p:txBody>
      </p:sp>
      <p:sp>
        <p:nvSpPr>
          <p:cNvPr id="38" name="Text 36"/>
          <p:cNvSpPr txBox="1"/>
          <p:nvPr/>
        </p:nvSpPr>
        <p:spPr>
          <a:xfrm>
            <a:off x="8397850" y="4928799"/>
            <a:ext cx="3262945" cy="342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97"/>
              </a:lnSpc>
              <a:buSzPct val="100000"/>
              <a:buChar char="•"/>
            </a:pPr>
            <a:r>
              <a:rPr lang="en-US" sz="1740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환각 현상(Hallucination) 78% 억제</a:t>
            </a:r>
            <a:endParaRPr lang="en-US" sz="1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1571854"/>
            <a:ext cx="2890236" cy="418521"/>
          </a:xfrm>
          <a:prstGeom prst="roundRect">
            <a:avLst>
              <a:gd name="adj" fmla="val 50011"/>
            </a:avLst>
          </a:prstGeom>
          <a:solidFill>
            <a:srgbClr val="4F46E5">
              <a:alpha val="10000"/>
            </a:srgbClr>
          </a:solidFill>
          <a:ln w="9525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1614922"/>
            <a:ext cx="2831897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OPTIMIZATION PIPELINE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2066453"/>
            <a:ext cx="11993088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온디바이스 배포를 위한 3단계 모델 경량화 파이프라인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840126"/>
            <a:ext cx="11993088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압축부터 캐시 압축, 하드웨어 가속기 오프로딩까지 유기적으로 연결됩니다.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474994"/>
            <a:ext cx="3340669" cy="912754"/>
          </a:xfrm>
          <a:prstGeom prst="roundRect">
            <a:avLst>
              <a:gd name="adj" fmla="val 1252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8854" y="3636935"/>
            <a:ext cx="35879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1: AWQ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28854" y="3824752"/>
            <a:ext cx="3587923" cy="2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2"/>
              </a:lnSpc>
              <a:buNone/>
            </a:pPr>
            <a:r>
              <a:rPr lang="en-US" sz="1128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 가중치 양자화</a:t>
            </a:r>
            <a:endParaRPr lang="en-US" sz="1128" dirty="0"/>
          </a:p>
        </p:txBody>
      </p:sp>
      <p:sp>
        <p:nvSpPr>
          <p:cNvPr id="9" name="Text 7"/>
          <p:cNvSpPr txBox="1"/>
          <p:nvPr/>
        </p:nvSpPr>
        <p:spPr>
          <a:xfrm>
            <a:off x="428854" y="4055273"/>
            <a:ext cx="35879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손실 0.3% 미만</a:t>
            </a:r>
            <a:endParaRPr lang="en-US" sz="864" dirty="0"/>
          </a:p>
        </p:txBody>
      </p:sp>
      <p:sp>
        <p:nvSpPr>
          <p:cNvPr id="10" name="Text 8"/>
          <p:cNvSpPr txBox="1"/>
          <p:nvPr/>
        </p:nvSpPr>
        <p:spPr>
          <a:xfrm>
            <a:off x="3988430" y="3654674"/>
            <a:ext cx="379933" cy="53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41"/>
              </a:lnSpc>
              <a:buNone/>
            </a:pPr>
            <a:r>
              <a:rPr lang="en-US" sz="2828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➔</a:t>
            </a:r>
            <a:endParaRPr lang="en-US" sz="2828" dirty="0"/>
          </a:p>
        </p:txBody>
      </p:sp>
      <p:sp>
        <p:nvSpPr>
          <p:cNvPr id="11" name="Shape 9"/>
          <p:cNvSpPr/>
          <p:nvPr/>
        </p:nvSpPr>
        <p:spPr>
          <a:xfrm>
            <a:off x="4425605" y="3474994"/>
            <a:ext cx="3340852" cy="912754"/>
          </a:xfrm>
          <a:prstGeom prst="roundRect">
            <a:avLst>
              <a:gd name="adj" fmla="val 12523"/>
            </a:avLst>
          </a:prstGeom>
          <a:solidFill>
            <a:srgbClr val="FFFFFF"/>
          </a:solidFill>
          <a:ln w="9525">
            <a:solidFill>
              <a:srgbClr val="0284C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01978" y="3636935"/>
            <a:ext cx="35881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2: KV PRUNING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301978" y="3824752"/>
            <a:ext cx="3588197" cy="2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2"/>
              </a:lnSpc>
              <a:buNone/>
            </a:pPr>
            <a:r>
              <a:rPr lang="en-US" sz="1128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토큰 압축</a:t>
            </a:r>
            <a:endParaRPr lang="en-US" sz="1128" dirty="0"/>
          </a:p>
        </p:txBody>
      </p:sp>
      <p:sp>
        <p:nvSpPr>
          <p:cNvPr id="14" name="Text 12"/>
          <p:cNvSpPr txBox="1"/>
          <p:nvPr/>
        </p:nvSpPr>
        <p:spPr>
          <a:xfrm>
            <a:off x="4301978" y="4055273"/>
            <a:ext cx="35881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메모리 60% 절감</a:t>
            </a:r>
            <a:endParaRPr lang="en-US" sz="864" dirty="0"/>
          </a:p>
        </p:txBody>
      </p:sp>
      <p:sp>
        <p:nvSpPr>
          <p:cNvPr id="15" name="Text 13"/>
          <p:cNvSpPr txBox="1"/>
          <p:nvPr/>
        </p:nvSpPr>
        <p:spPr>
          <a:xfrm>
            <a:off x="7861737" y="3654674"/>
            <a:ext cx="379933" cy="538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41"/>
              </a:lnSpc>
              <a:buNone/>
            </a:pPr>
            <a:r>
              <a:rPr lang="en-US" sz="2828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➔</a:t>
            </a:r>
            <a:endParaRPr lang="en-US" sz="2828" dirty="0"/>
          </a:p>
        </p:txBody>
      </p:sp>
      <p:sp>
        <p:nvSpPr>
          <p:cNvPr id="16" name="Shape 14"/>
          <p:cNvSpPr/>
          <p:nvPr/>
        </p:nvSpPr>
        <p:spPr>
          <a:xfrm>
            <a:off x="8298820" y="3474994"/>
            <a:ext cx="3340669" cy="912754"/>
          </a:xfrm>
          <a:prstGeom prst="roundRect">
            <a:avLst>
              <a:gd name="adj" fmla="val 12523"/>
            </a:avLst>
          </a:prstGeom>
          <a:solidFill>
            <a:srgbClr val="FFFFFF"/>
          </a:solidFill>
          <a:ln w="9525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75193" y="3636935"/>
            <a:ext cx="35879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spc="-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3: NPU RUNTIME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75193" y="3824752"/>
            <a:ext cx="3587923" cy="214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92"/>
              </a:lnSpc>
              <a:buNone/>
            </a:pPr>
            <a:r>
              <a:rPr lang="en-US" sz="1128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칩셋 가속</a:t>
            </a:r>
            <a:endParaRPr lang="en-US" sz="1128" dirty="0"/>
          </a:p>
        </p:txBody>
      </p:sp>
      <p:sp>
        <p:nvSpPr>
          <p:cNvPr id="19" name="Text 17"/>
          <p:cNvSpPr txBox="1"/>
          <p:nvPr/>
        </p:nvSpPr>
        <p:spPr>
          <a:xfrm>
            <a:off x="8175193" y="4055273"/>
            <a:ext cx="35879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6"/>
              </a:lnSpc>
              <a:buNone/>
            </a:pPr>
            <a:r>
              <a:rPr lang="en-US" sz="864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배터리 전력 소모 55% 개선</a:t>
            </a:r>
            <a:endParaRPr lang="en-US" sz="864" dirty="0"/>
          </a:p>
        </p:txBody>
      </p:sp>
      <p:sp>
        <p:nvSpPr>
          <p:cNvPr id="20" name="Shape 18"/>
          <p:cNvSpPr/>
          <p:nvPr/>
        </p:nvSpPr>
        <p:spPr>
          <a:xfrm>
            <a:off x="552480" y="4559198"/>
            <a:ext cx="5467380" cy="746059"/>
          </a:xfrm>
          <a:prstGeom prst="roundRect">
            <a:avLst>
              <a:gd name="adj" fmla="val 178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3440" y="4718304"/>
            <a:ext cx="549170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활성화 인식 양자화 (Activation-aware Weight Quantization)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733440" y="4956871"/>
            <a:ext cx="549170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가중치 채널을 보존하여 4-bit 환경에서도 한국어 문맥 추론 능력을 99% 이상 유지</a:t>
            </a:r>
            <a:endParaRPr lang="en-US" sz="936" dirty="0"/>
          </a:p>
        </p:txBody>
      </p:sp>
      <p:sp>
        <p:nvSpPr>
          <p:cNvPr id="23" name="Shape 21"/>
          <p:cNvSpPr/>
          <p:nvPr/>
        </p:nvSpPr>
        <p:spPr>
          <a:xfrm>
            <a:off x="6172200" y="4559198"/>
            <a:ext cx="5467380" cy="746059"/>
          </a:xfrm>
          <a:prstGeom prst="roundRect">
            <a:avLst>
              <a:gd name="adj" fmla="val 178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53160" y="4718304"/>
            <a:ext cx="549170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b="1" spc="-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NPU 하드웨어 친화적 커널 퓨전 (Kernel Fusion)</a:t>
            </a:r>
            <a:endParaRPr lang="en-US" sz="1080" dirty="0"/>
          </a:p>
        </p:txBody>
      </p:sp>
      <p:sp>
        <p:nvSpPr>
          <p:cNvPr id="25" name="Text 23"/>
          <p:cNvSpPr txBox="1"/>
          <p:nvPr/>
        </p:nvSpPr>
        <p:spPr>
          <a:xfrm>
            <a:off x="6353160" y="4956871"/>
            <a:ext cx="5491704" cy="178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4"/>
              </a:lnSpc>
              <a:buNone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I/O 병목을 제거하여 모바일 디바이스의 발열과 전력 소모를 대폭 억제</a:t>
            </a:r>
            <a:endParaRPr lang="en-US" sz="93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7653" y="1787561"/>
            <a:ext cx="2196755" cy="418521"/>
          </a:xfrm>
          <a:prstGeom prst="roundRect">
            <a:avLst>
              <a:gd name="adj" fmla="val 50011"/>
            </a:avLst>
          </a:prstGeom>
          <a:solidFill>
            <a:srgbClr val="4F46E5">
              <a:alpha val="10000"/>
            </a:srgbClr>
          </a:solidFill>
          <a:ln w="9525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987686" y="1830812"/>
            <a:ext cx="2216780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ABLATION STUDY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-334488" y="2282160"/>
            <a:ext cx="12861036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온디바이스 모델 대비 성능 비교 매트릭스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-334488" y="3056016"/>
            <a:ext cx="12861036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3B 파라미터 규모에서 기존 최고 성능 모델 대비 모든 지표에서 유의미한 우위 입증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3690793"/>
            <a:ext cx="5467380" cy="1398575"/>
          </a:xfrm>
          <a:prstGeom prst="roundRect">
            <a:avLst>
              <a:gd name="adj" fmla="val 95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2460" y="3886932"/>
            <a:ext cx="545055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추론 속도 및 반응성 (Latency &amp; Throughput)</a:t>
            </a:r>
            <a:endParaRPr lang="en-US" sz="1140" dirty="0"/>
          </a:p>
        </p:txBody>
      </p:sp>
      <p:sp>
        <p:nvSpPr>
          <p:cNvPr id="8" name="Text 6"/>
          <p:cNvSpPr txBox="1"/>
          <p:nvPr/>
        </p:nvSpPr>
        <p:spPr>
          <a:xfrm>
            <a:off x="904890" y="4220596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토큰 생성(TTFT):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140ms ➔ 42ms (68% 단축)</a:t>
            </a:r>
            <a:endParaRPr lang="en-US" sz="936" dirty="0"/>
          </a:p>
        </p:txBody>
      </p:sp>
      <p:sp>
        <p:nvSpPr>
          <p:cNvPr id="9" name="Text 7"/>
          <p:cNvSpPr txBox="1"/>
          <p:nvPr/>
        </p:nvSpPr>
        <p:spPr>
          <a:xfrm>
            <a:off x="904890" y="4442978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생성 토큰 수: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11.2 ➔ 38.5 tokens/s</a:t>
            </a:r>
            <a:endParaRPr lang="en-US" sz="936" dirty="0"/>
          </a:p>
        </p:txBody>
      </p:sp>
      <p:sp>
        <p:nvSpPr>
          <p:cNvPr id="10" name="Text 8"/>
          <p:cNvSpPr txBox="1"/>
          <p:nvPr/>
        </p:nvSpPr>
        <p:spPr>
          <a:xfrm>
            <a:off x="904890" y="4665360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컨텍스트 길이: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8K 토큰 무손실 지원</a:t>
            </a:r>
            <a:endParaRPr lang="en-US" sz="936" dirty="0"/>
          </a:p>
        </p:txBody>
      </p:sp>
      <p:sp>
        <p:nvSpPr>
          <p:cNvPr id="11" name="Shape 9"/>
          <p:cNvSpPr/>
          <p:nvPr/>
        </p:nvSpPr>
        <p:spPr>
          <a:xfrm>
            <a:off x="6172200" y="3690793"/>
            <a:ext cx="5467380" cy="1398575"/>
          </a:xfrm>
          <a:prstGeom prst="roundRect">
            <a:avLst>
              <a:gd name="adj" fmla="val 95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2271" y="3886932"/>
            <a:ext cx="5450556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140" b="1" spc="-54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자원 효율성 및 정확도 (Efficiency &amp; Quality)</a:t>
            </a:r>
            <a:endParaRPr lang="en-US" sz="1140" dirty="0"/>
          </a:p>
        </p:txBody>
      </p:sp>
      <p:sp>
        <p:nvSpPr>
          <p:cNvPr id="13" name="Text 11"/>
          <p:cNvSpPr txBox="1"/>
          <p:nvPr/>
        </p:nvSpPr>
        <p:spPr>
          <a:xfrm>
            <a:off x="6524610" y="4220596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메모리 사용량: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5.4GB ➔ 1.8GB (66% 절감)</a:t>
            </a:r>
            <a:endParaRPr lang="en-US" sz="936" dirty="0"/>
          </a:p>
        </p:txBody>
      </p:sp>
      <p:sp>
        <p:nvSpPr>
          <p:cNvPr id="14" name="Text 12"/>
          <p:cNvSpPr txBox="1"/>
          <p:nvPr/>
        </p:nvSpPr>
        <p:spPr>
          <a:xfrm>
            <a:off x="6524610" y="4442978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Ko-Harness 벤치마크: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88.4점 ➔ 94.2점 달성</a:t>
            </a:r>
            <a:endParaRPr lang="en-US" sz="936" dirty="0"/>
          </a:p>
        </p:txBody>
      </p:sp>
      <p:sp>
        <p:nvSpPr>
          <p:cNvPr id="15" name="Text 13"/>
          <p:cNvSpPr txBox="1"/>
          <p:nvPr/>
        </p:nvSpPr>
        <p:spPr>
          <a:xfrm>
            <a:off x="6524610" y="4665360"/>
            <a:ext cx="5285964" cy="184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51"/>
              </a:lnSpc>
              <a:buSzPct val="100000"/>
              <a:buChar char="•"/>
            </a:pPr>
            <a:r>
              <a:rPr lang="en-US" sz="936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시간당 배터리 소모율: </a:t>
            </a:r>
            <a:pPr algn="l" indent="0" marL="0">
              <a:lnSpc>
                <a:spcPts val="1451"/>
              </a:lnSpc>
              <a:buNone/>
            </a:pPr>
            <a:r>
              <a:rPr lang="en-US" sz="936" b="1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4.2% 수준 극저치 유지</a:t>
            </a:r>
            <a:endParaRPr lang="en-US" sz="93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2480" y="804306"/>
            <a:ext cx="2579431" cy="418521"/>
          </a:xfrm>
          <a:prstGeom prst="roundRect">
            <a:avLst>
              <a:gd name="adj" fmla="val 50011"/>
            </a:avLst>
          </a:prstGeom>
          <a:solidFill>
            <a:srgbClr val="4F46E5">
              <a:alpha val="10000"/>
            </a:srgbClr>
          </a:solidFill>
          <a:ln w="9525">
            <a:solidFill>
              <a:srgbClr val="4F46E5">
                <a:alpha val="2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6290" y="847466"/>
            <a:ext cx="2496221" cy="323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45"/>
              </a:lnSpc>
              <a:buNone/>
            </a:pPr>
            <a:r>
              <a:rPr lang="en-US" sz="1697" b="1" spc="3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 &amp; REPO</a:t>
            </a:r>
            <a:endParaRPr lang="en-US" sz="1697" dirty="0"/>
          </a:p>
        </p:txBody>
      </p:sp>
      <p:sp>
        <p:nvSpPr>
          <p:cNvPr id="4" name="Text 2"/>
          <p:cNvSpPr txBox="1"/>
          <p:nvPr/>
        </p:nvSpPr>
        <p:spPr>
          <a:xfrm>
            <a:off x="533370" y="1298905"/>
            <a:ext cx="11993088" cy="590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1"/>
              </a:lnSpc>
              <a:buNone/>
            </a:pPr>
            <a:r>
              <a:rPr lang="en-US" sz="3524" b="1" spc="-88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질의응답 (Q&amp;A)</a:t>
            </a:r>
            <a:endParaRPr lang="en-US" sz="3524" dirty="0"/>
          </a:p>
        </p:txBody>
      </p:sp>
      <p:sp>
        <p:nvSpPr>
          <p:cNvPr id="5" name="Text 3"/>
          <p:cNvSpPr txBox="1"/>
          <p:nvPr/>
        </p:nvSpPr>
        <p:spPr>
          <a:xfrm>
            <a:off x="533370" y="2072670"/>
            <a:ext cx="11993088" cy="39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2"/>
              </a:lnSpc>
              <a:buNone/>
            </a:pPr>
            <a:r>
              <a:rPr lang="en-US" sz="2088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소형 언어 모델의 엣지 배포 가능성을 확인하였으며, 오픈소스 모델 가중치를 공개합니다.</a:t>
            </a:r>
            <a:endParaRPr lang="en-US" sz="2088" dirty="0"/>
          </a:p>
        </p:txBody>
      </p:sp>
      <p:sp>
        <p:nvSpPr>
          <p:cNvPr id="6" name="Shape 4"/>
          <p:cNvSpPr/>
          <p:nvPr/>
        </p:nvSpPr>
        <p:spPr>
          <a:xfrm>
            <a:off x="552480" y="2631277"/>
            <a:ext cx="6029919" cy="669707"/>
          </a:xfrm>
          <a:prstGeom prst="roundRect">
            <a:avLst>
              <a:gd name="adj" fmla="val 1990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52480" y="2631277"/>
            <a:ext cx="602991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6572799" y="2631277"/>
            <a:ext cx="9510" cy="6697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552480" y="3291474"/>
            <a:ext cx="602991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52480" y="2631277"/>
            <a:ext cx="28621" cy="669707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421" y="2754721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4-bit AWQ + KV 캐시 프루닝 실증</a:t>
            </a:r>
            <a:endParaRPr lang="en-US" sz="1104" dirty="0"/>
          </a:p>
        </p:txBody>
      </p:sp>
      <p:sp>
        <p:nvSpPr>
          <p:cNvPr id="12" name="Text 10"/>
          <p:cNvSpPr txBox="1"/>
          <p:nvPr/>
        </p:nvSpPr>
        <p:spPr>
          <a:xfrm>
            <a:off x="714421" y="2997586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저하 없이 메모리 66% 절감 및 모바일 RAM 1.8GB 유지</a:t>
            </a:r>
            <a:endParaRPr lang="en-US" sz="912" dirty="0"/>
          </a:p>
        </p:txBody>
      </p:sp>
      <p:sp>
        <p:nvSpPr>
          <p:cNvPr id="13" name="Shape 11"/>
          <p:cNvSpPr/>
          <p:nvPr/>
        </p:nvSpPr>
        <p:spPr>
          <a:xfrm>
            <a:off x="552480" y="3396264"/>
            <a:ext cx="6029919" cy="669707"/>
          </a:xfrm>
          <a:prstGeom prst="roundRect">
            <a:avLst>
              <a:gd name="adj" fmla="val 19907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52480" y="3396264"/>
            <a:ext cx="602991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2799" y="3396264"/>
            <a:ext cx="9510" cy="6697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52480" y="4056370"/>
            <a:ext cx="602991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552480" y="3396264"/>
            <a:ext cx="28621" cy="669707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4421" y="3519708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실시간 스트리밍 38.5 tok/s 달성</a:t>
            </a:r>
            <a:endParaRPr lang="en-US" sz="1104" dirty="0"/>
          </a:p>
        </p:txBody>
      </p:sp>
      <p:sp>
        <p:nvSpPr>
          <p:cNvPr id="19" name="Text 17"/>
          <p:cNvSpPr txBox="1"/>
          <p:nvPr/>
        </p:nvSpPr>
        <p:spPr>
          <a:xfrm>
            <a:off x="714421" y="3762573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토큰 지연시간 42ms로 온디바이스 실시간 UX 완벽 지원</a:t>
            </a:r>
            <a:endParaRPr lang="en-US" sz="912" dirty="0"/>
          </a:p>
        </p:txBody>
      </p:sp>
      <p:sp>
        <p:nvSpPr>
          <p:cNvPr id="20" name="Shape 18"/>
          <p:cNvSpPr/>
          <p:nvPr/>
        </p:nvSpPr>
        <p:spPr>
          <a:xfrm>
            <a:off x="552480" y="4161252"/>
            <a:ext cx="6029919" cy="669707"/>
          </a:xfrm>
          <a:prstGeom prst="roundRect">
            <a:avLst>
              <a:gd name="adj" fmla="val 19907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480" y="4161252"/>
            <a:ext cx="602991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6572799" y="4161252"/>
            <a:ext cx="9510" cy="66970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552480" y="4821448"/>
            <a:ext cx="6029919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552480" y="4161252"/>
            <a:ext cx="28621" cy="66970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4421" y="4284696"/>
            <a:ext cx="61610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104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오픈 연구 생태계 기여</a:t>
            </a:r>
            <a:endParaRPr lang="en-US" sz="1104" dirty="0"/>
          </a:p>
        </p:txBody>
      </p:sp>
      <p:sp>
        <p:nvSpPr>
          <p:cNvPr id="26" name="Text 24"/>
          <p:cNvSpPr txBox="1"/>
          <p:nvPr/>
        </p:nvSpPr>
        <p:spPr>
          <a:xfrm>
            <a:off x="714421" y="4527560"/>
            <a:ext cx="6161044" cy="173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912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학습된 한국어 가중치 및 양자화 파이프라인 공개</a:t>
            </a:r>
            <a:endParaRPr lang="en-US" sz="912" dirty="0"/>
          </a:p>
        </p:txBody>
      </p:sp>
      <p:sp>
        <p:nvSpPr>
          <p:cNvPr id="27" name="Shape 25"/>
          <p:cNvSpPr/>
          <p:nvPr/>
        </p:nvSpPr>
        <p:spPr>
          <a:xfrm>
            <a:off x="6772869" y="2631277"/>
            <a:ext cx="4866711" cy="3441344"/>
          </a:xfrm>
          <a:prstGeom prst="roundRect">
            <a:avLst>
              <a:gd name="adj" fmla="val 3874"/>
            </a:avLst>
          </a:prstGeom>
          <a:solidFill>
            <a:srgbClr val="FFFFFF"/>
          </a:solidFill>
          <a:ln w="9525">
            <a:solidFill>
              <a:srgbClr val="4F46E5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53829" y="2810774"/>
            <a:ext cx="4843028" cy="298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49"/>
              </a:lnSpc>
              <a:buNone/>
            </a:pPr>
            <a:r>
              <a:rPr lang="en-US" sz="1566" b="1" spc="125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ACADEMIC DISCUSSION</a:t>
            </a:r>
            <a:endParaRPr lang="en-US" sz="1566" dirty="0"/>
          </a:p>
        </p:txBody>
      </p:sp>
      <p:sp>
        <p:nvSpPr>
          <p:cNvPr id="29" name="Text 27"/>
          <p:cNvSpPr txBox="1"/>
          <p:nvPr/>
        </p:nvSpPr>
        <p:spPr>
          <a:xfrm>
            <a:off x="6953829" y="3127522"/>
            <a:ext cx="4843028" cy="546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7"/>
              </a:lnSpc>
              <a:buNone/>
            </a:pPr>
            <a:r>
              <a:rPr lang="en-US" sz="3915" b="1" spc="-54" kern="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3915" dirty="0"/>
          </a:p>
        </p:txBody>
      </p:sp>
      <p:sp>
        <p:nvSpPr>
          <p:cNvPr id="30" name="Text 28"/>
          <p:cNvSpPr txBox="1"/>
          <p:nvPr/>
        </p:nvSpPr>
        <p:spPr>
          <a:xfrm>
            <a:off x="6953829" y="3730478"/>
            <a:ext cx="4504792" cy="603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75"/>
              </a:lnSpc>
              <a:buNone/>
            </a:pPr>
            <a:r>
              <a:rPr lang="en-US" sz="1697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연구 방법론 및 벤치마크에 대한 질의응답을 진행합니다.</a:t>
            </a:r>
            <a:endParaRPr lang="en-US" sz="1697" dirty="0"/>
          </a:p>
        </p:txBody>
      </p:sp>
      <p:sp>
        <p:nvSpPr>
          <p:cNvPr id="31" name="Shape 29"/>
          <p:cNvSpPr/>
          <p:nvPr/>
        </p:nvSpPr>
        <p:spPr>
          <a:xfrm>
            <a:off x="6972849" y="4432280"/>
            <a:ext cx="4466661" cy="951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53829" y="4529480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RESEARCH REPO</a:t>
            </a:r>
            <a:endParaRPr lang="en-US" sz="1479" dirty="0"/>
          </a:p>
        </p:txBody>
      </p:sp>
      <p:sp>
        <p:nvSpPr>
          <p:cNvPr id="33" name="Text 31"/>
          <p:cNvSpPr txBox="1"/>
          <p:nvPr/>
        </p:nvSpPr>
        <p:spPr>
          <a:xfrm>
            <a:off x="6953829" y="4830501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b="1" spc="-54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github.com/ai-lab/edge-sllm</a:t>
            </a:r>
            <a:endParaRPr lang="en-US" sz="1827" dirty="0"/>
          </a:p>
        </p:txBody>
      </p:sp>
      <p:sp>
        <p:nvSpPr>
          <p:cNvPr id="34" name="Text 32"/>
          <p:cNvSpPr txBox="1"/>
          <p:nvPr/>
        </p:nvSpPr>
        <p:spPr>
          <a:xfrm>
            <a:off x="6953829" y="5235397"/>
            <a:ext cx="4843028" cy="2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19"/>
              </a:lnSpc>
              <a:buNone/>
            </a:pPr>
            <a:r>
              <a:rPr lang="en-US" sz="1479" spc="-54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CORRESPONDING AUTHOR</a:t>
            </a:r>
            <a:endParaRPr lang="en-US" sz="1479" dirty="0"/>
          </a:p>
        </p:txBody>
      </p:sp>
      <p:sp>
        <p:nvSpPr>
          <p:cNvPr id="35" name="Text 33"/>
          <p:cNvSpPr txBox="1"/>
          <p:nvPr/>
        </p:nvSpPr>
        <p:spPr>
          <a:xfrm>
            <a:off x="6953829" y="5536418"/>
            <a:ext cx="4843028" cy="34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41"/>
              </a:lnSpc>
              <a:buNone/>
            </a:pPr>
            <a:r>
              <a:rPr lang="en-US" sz="1827" spc="-54" kern="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lead-researcher@ailab.org</a:t>
            </a:r>
            <a:endParaRPr lang="en-US" sz="18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Template_Modern_Light</dc:title>
  <dc:subject>Generated from an audited HTML preview</dc:subject>
  <dc:creator>korean-presentation-skill</dc:creator>
  <cp:lastModifiedBy>korean-presentation-skill</cp:lastModifiedBy>
  <cp:revision>1</cp:revision>
  <dcterms:created xsi:type="dcterms:W3CDTF">2026-09-06T09:53:52Z</dcterms:created>
  <dcterms:modified xsi:type="dcterms:W3CDTF">2026-09-06T09:53:52Z</dcterms:modified>
</cp:coreProperties>
</file>