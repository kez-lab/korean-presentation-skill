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[오프닝 멘트] 대규모 분산 환경에서 데이터 일관성과 처리량을 극대화하는 아키텍처 패턴을 공유합니다.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[아젠다 안내] 1부 동기 병목 분석부터 4부 프로덕션 튜닝까지 4단계로 진행합니다.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[문제점 설명] 동기 호출 기반 마이크로서비스가 겪는 3대 치명적 병목을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[아키텍처 파이프라인] Outbox 패턴과 Saga 엔진의 유기적 상호작용을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[성능 벤치마크] 초당 12만 TPS, P99 18ms, 99.99% 가용성 검증 결과를 발표합니다.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[마무리 멘트] 3가지 핵심 아키텍처 원칙과 GitHub 저장소 링크를 안내하며 세션을 마칩니다. 질문을 환영합니다.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E9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2480" y="438180"/>
            <a:ext cx="3401751" cy="418521"/>
          </a:xfrm>
          <a:prstGeom prst="roundRect">
            <a:avLst>
              <a:gd name="adj" fmla="val 50011"/>
            </a:avLst>
          </a:prstGeom>
          <a:solidFill>
            <a:srgbClr val="38BDF8">
              <a:alpha val="15000"/>
            </a:srgbClr>
          </a:solidFill>
          <a:ln w="9525">
            <a:solidFill>
              <a:srgbClr val="38BDF8">
                <a:alpha val="3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6290" y="481432"/>
            <a:ext cx="3384377" cy="32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45"/>
              </a:lnSpc>
              <a:buNone/>
            </a:pPr>
            <a:r>
              <a:rPr lang="en-US" sz="1697" b="1" spc="34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ENGINEERING TECH SESSION</a:t>
            </a:r>
            <a:endParaRPr lang="en-US" sz="1697" dirty="0"/>
          </a:p>
        </p:txBody>
      </p:sp>
      <p:sp>
        <p:nvSpPr>
          <p:cNvPr id="4" name="Text 2"/>
          <p:cNvSpPr txBox="1"/>
          <p:nvPr/>
        </p:nvSpPr>
        <p:spPr>
          <a:xfrm>
            <a:off x="533370" y="1040679"/>
            <a:ext cx="11125230" cy="1682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26"/>
              </a:lnSpc>
              <a:buNone/>
            </a:pPr>
            <a:r>
              <a:rPr lang="en-US" sz="5177" b="1" spc="-155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분산 시스템을 위한</a:t>
            </a:r>
            <a:pPr algn="l" indent="0" marL="0">
              <a:lnSpc>
                <a:spcPts val="6626"/>
              </a:lnSpc>
              <a:buNone/>
            </a:pPr>
            <a:endParaRPr lang="en-US" sz="5177" dirty="0"/>
          </a:p>
          <a:p>
            <a:pPr algn="l" indent="0" marL="0">
              <a:lnSpc>
                <a:spcPts val="6626"/>
              </a:lnSpc>
              <a:buNone/>
            </a:pPr>
            <a:r>
              <a:rPr lang="en-US" sz="5177" b="1" spc="-155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5177" dirty="0"/>
          </a:p>
          <a:p>
            <a:pPr algn="l" indent="0" marL="0">
              <a:lnSpc>
                <a:spcPts val="6626"/>
              </a:lnSpc>
              <a:buNone/>
            </a:pPr>
            <a:r>
              <a:rPr lang="en-US" sz="5177" b="1" spc="-155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고성능 이벤트 드라이븐 아키텍처</a:t>
            </a:r>
            <a:endParaRPr lang="en-US" sz="5177" dirty="0"/>
          </a:p>
        </p:txBody>
      </p:sp>
      <p:sp>
        <p:nvSpPr>
          <p:cNvPr id="5" name="Text 3"/>
          <p:cNvSpPr txBox="1"/>
          <p:nvPr/>
        </p:nvSpPr>
        <p:spPr>
          <a:xfrm>
            <a:off x="533370" y="3032425"/>
            <a:ext cx="1199308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344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마이크로서비스 환경에서 데이터 일관성과 처리량을 동시에 확보하는 설계 패턴</a:t>
            </a:r>
            <a:endParaRPr lang="en-US" sz="1344" dirty="0"/>
          </a:p>
        </p:txBody>
      </p:sp>
      <p:sp>
        <p:nvSpPr>
          <p:cNvPr id="6" name="Shape 4"/>
          <p:cNvSpPr/>
          <p:nvPr/>
        </p:nvSpPr>
        <p:spPr>
          <a:xfrm>
            <a:off x="552480" y="5153284"/>
            <a:ext cx="3678448" cy="1285555"/>
          </a:xfrm>
          <a:prstGeom prst="roundRect">
            <a:avLst>
              <a:gd name="adj" fmla="val 8891"/>
            </a:avLst>
          </a:prstGeom>
          <a:solidFill>
            <a:srgbClr val="161E2E">
              <a:alpha val="85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4421" y="5457139"/>
            <a:ext cx="3600907" cy="290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23" b="1" spc="76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PRESENTER &amp; TEAM</a:t>
            </a:r>
            <a:endParaRPr lang="en-US" sz="1523" dirty="0"/>
          </a:p>
        </p:txBody>
      </p:sp>
      <p:sp>
        <p:nvSpPr>
          <p:cNvPr id="8" name="Text 6"/>
          <p:cNvSpPr txBox="1"/>
          <p:nvPr/>
        </p:nvSpPr>
        <p:spPr>
          <a:xfrm>
            <a:off x="714421" y="5766938"/>
            <a:ext cx="3600907" cy="364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71"/>
              </a:lnSpc>
              <a:buNone/>
            </a:pPr>
            <a:r>
              <a:rPr lang="en-US" sz="1914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Platform Team</a:t>
            </a:r>
            <a:endParaRPr lang="en-US" sz="1914" dirty="0"/>
          </a:p>
        </p:txBody>
      </p:sp>
      <p:sp>
        <p:nvSpPr>
          <p:cNvPr id="9" name="Shape 7"/>
          <p:cNvSpPr/>
          <p:nvPr/>
        </p:nvSpPr>
        <p:spPr>
          <a:xfrm>
            <a:off x="4364248" y="5153284"/>
            <a:ext cx="3065435" cy="1285555"/>
          </a:xfrm>
          <a:prstGeom prst="roundRect">
            <a:avLst>
              <a:gd name="adj" fmla="val 8891"/>
            </a:avLst>
          </a:prstGeom>
          <a:solidFill>
            <a:srgbClr val="161E2E">
              <a:alpha val="85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189" y="5275082"/>
            <a:ext cx="2938790" cy="290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23" b="1" spc="76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SESSION &amp; DATE</a:t>
            </a:r>
            <a:endParaRPr lang="en-US" sz="1523" dirty="0"/>
          </a:p>
        </p:txBody>
      </p:sp>
      <p:sp>
        <p:nvSpPr>
          <p:cNvPr id="11" name="Text 9"/>
          <p:cNvSpPr txBox="1"/>
          <p:nvPr/>
        </p:nvSpPr>
        <p:spPr>
          <a:xfrm>
            <a:off x="4526189" y="5584698"/>
            <a:ext cx="2741554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1"/>
              </a:lnSpc>
              <a:buNone/>
            </a:pPr>
            <a:r>
              <a:rPr lang="en-US" sz="1914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 Architecture • 2026.08</a:t>
            </a:r>
            <a:endParaRPr lang="en-US" sz="1914" dirty="0"/>
          </a:p>
        </p:txBody>
      </p:sp>
      <p:sp>
        <p:nvSpPr>
          <p:cNvPr id="12" name="Shape 10"/>
          <p:cNvSpPr/>
          <p:nvPr/>
        </p:nvSpPr>
        <p:spPr>
          <a:xfrm>
            <a:off x="7563002" y="5153284"/>
            <a:ext cx="4076487" cy="1285555"/>
          </a:xfrm>
          <a:prstGeom prst="roundRect">
            <a:avLst>
              <a:gd name="adj" fmla="val 8891"/>
            </a:avLst>
          </a:prstGeom>
          <a:solidFill>
            <a:srgbClr val="161E2E">
              <a:alpha val="85000"/>
            </a:srgbClr>
          </a:solidFill>
          <a:ln w="9525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24943" y="5457139"/>
            <a:ext cx="4030767" cy="290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23" b="1" spc="76" kern="0" dirty="0">
                <a:solidFill>
                  <a:srgbClr val="00F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REPOSITORY &amp; DOCS</a:t>
            </a:r>
            <a:endParaRPr lang="en-US" sz="1523" dirty="0"/>
          </a:p>
        </p:txBody>
      </p:sp>
      <p:sp>
        <p:nvSpPr>
          <p:cNvPr id="14" name="Text 12"/>
          <p:cNvSpPr txBox="1"/>
          <p:nvPr/>
        </p:nvSpPr>
        <p:spPr>
          <a:xfrm>
            <a:off x="7724943" y="5766938"/>
            <a:ext cx="4030767" cy="364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71"/>
              </a:lnSpc>
              <a:buNone/>
            </a:pPr>
            <a:r>
              <a:rPr lang="en-US" sz="1914" b="1" spc="-54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github.com/company/architecture</a:t>
            </a:r>
            <a:endParaRPr lang="en-US" sz="191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E9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2480" y="1638330"/>
            <a:ext cx="1207831" cy="418521"/>
          </a:xfrm>
          <a:prstGeom prst="roundRect">
            <a:avLst>
              <a:gd name="adj" fmla="val 50011"/>
            </a:avLst>
          </a:prstGeom>
          <a:solidFill>
            <a:srgbClr val="38BDF8">
              <a:alpha val="15000"/>
            </a:srgbClr>
          </a:solidFill>
          <a:ln w="9525">
            <a:solidFill>
              <a:srgbClr val="38BDF8">
                <a:alpha val="3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6290" y="1681490"/>
            <a:ext cx="1014893" cy="32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45"/>
              </a:lnSpc>
              <a:buNone/>
            </a:pPr>
            <a:r>
              <a:rPr lang="en-US" sz="1697" b="1" spc="34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AGENDA</a:t>
            </a:r>
            <a:endParaRPr lang="en-US" sz="1697" dirty="0"/>
          </a:p>
        </p:txBody>
      </p:sp>
      <p:sp>
        <p:nvSpPr>
          <p:cNvPr id="4" name="Text 2"/>
          <p:cNvSpPr txBox="1"/>
          <p:nvPr/>
        </p:nvSpPr>
        <p:spPr>
          <a:xfrm>
            <a:off x="533370" y="2188982"/>
            <a:ext cx="2693640" cy="621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94"/>
              </a:lnSpc>
              <a:buNone/>
            </a:pPr>
            <a:r>
              <a:rPr lang="en-US" sz="3263" b="1" spc="261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3263" dirty="0"/>
          </a:p>
        </p:txBody>
      </p:sp>
      <p:sp>
        <p:nvSpPr>
          <p:cNvPr id="5" name="Text 3"/>
          <p:cNvSpPr txBox="1"/>
          <p:nvPr/>
        </p:nvSpPr>
        <p:spPr>
          <a:xfrm>
            <a:off x="533370" y="2882463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056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 병목 극복부터</a:t>
            </a:r>
            <a:endParaRPr lang="en-US" sz="1056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056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프로덕션 튜닝까지 4단계</a:t>
            </a:r>
            <a:endParaRPr lang="en-US" sz="1056" dirty="0"/>
          </a:p>
        </p:txBody>
      </p:sp>
      <p:sp>
        <p:nvSpPr>
          <p:cNvPr id="6" name="Shape 4"/>
          <p:cNvSpPr/>
          <p:nvPr/>
        </p:nvSpPr>
        <p:spPr>
          <a:xfrm>
            <a:off x="552480" y="4686300"/>
            <a:ext cx="95280" cy="95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761970" y="4724430"/>
            <a:ext cx="571500" cy="19020"/>
          </a:xfrm>
          <a:prstGeom prst="rect">
            <a:avLst/>
          </a:prstGeom>
          <a:solidFill>
            <a:srgbClr val="6366F1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2480" y="4914900"/>
            <a:ext cx="95280" cy="9528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9" name="Shape 7"/>
          <p:cNvSpPr/>
          <p:nvPr/>
        </p:nvSpPr>
        <p:spPr>
          <a:xfrm>
            <a:off x="761970" y="4953030"/>
            <a:ext cx="952530" cy="19020"/>
          </a:xfrm>
          <a:prstGeom prst="rect">
            <a:avLst/>
          </a:prstGeom>
          <a:solidFill>
            <a:srgbClr val="38BDF8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52480" y="5143500"/>
            <a:ext cx="95280" cy="95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Shape 9"/>
          <p:cNvSpPr/>
          <p:nvPr/>
        </p:nvSpPr>
        <p:spPr>
          <a:xfrm>
            <a:off x="761970" y="5181630"/>
            <a:ext cx="428671" cy="19020"/>
          </a:xfrm>
          <a:prstGeom prst="rect">
            <a:avLst/>
          </a:prstGeom>
          <a:solidFill>
            <a:srgbClr val="6366F1">
              <a:alpha val="5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86150" y="1163848"/>
            <a:ext cx="4000500" cy="2188982"/>
          </a:xfrm>
          <a:prstGeom prst="roundRect">
            <a:avLst>
              <a:gd name="adj" fmla="val 6090"/>
            </a:avLst>
          </a:prstGeom>
          <a:solidFill>
            <a:srgbClr val="161E2E">
              <a:alpha val="82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05240" y="1363919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00F0FF">
              <a:alpha val="15000"/>
            </a:srgbClr>
          </a:solidFill>
          <a:ln w="9525">
            <a:solidFill>
              <a:srgbClr val="00F0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95730" y="1329355"/>
            <a:ext cx="30477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00F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31" dirty="0"/>
          </a:p>
        </p:txBody>
      </p:sp>
      <p:sp>
        <p:nvSpPr>
          <p:cNvPr id="15" name="Text 13"/>
          <p:cNvSpPr txBox="1"/>
          <p:nvPr/>
        </p:nvSpPr>
        <p:spPr>
          <a:xfrm>
            <a:off x="3686221" y="1684691"/>
            <a:ext cx="3866358" cy="406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97"/>
              </a:lnSpc>
              <a:buNone/>
            </a:pPr>
            <a:r>
              <a:rPr lang="en-US" sz="2132" b="1" spc="-43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 호출의 병목 한계</a:t>
            </a:r>
            <a:endParaRPr lang="en-US" sz="2132" dirty="0"/>
          </a:p>
        </p:txBody>
      </p:sp>
      <p:sp>
        <p:nvSpPr>
          <p:cNvPr id="16" name="Text 14"/>
          <p:cNvSpPr txBox="1"/>
          <p:nvPr/>
        </p:nvSpPr>
        <p:spPr>
          <a:xfrm>
            <a:off x="3686221" y="2150577"/>
            <a:ext cx="3600450" cy="1001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0"/>
              </a:lnSpc>
              <a:buNone/>
            </a:pPr>
            <a:r>
              <a:rPr lang="en-US" sz="1697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REST 체인에 따른 연쇄 지연</a:t>
            </a:r>
            <a:endParaRPr lang="en-US" sz="1697" dirty="0"/>
          </a:p>
          <a:p>
            <a:pPr algn="l" indent="0" marL="0">
              <a:lnSpc>
                <a:spcPts val="2630"/>
              </a:lnSpc>
              <a:buNone/>
            </a:pPr>
            <a:r>
              <a:rPr lang="en-US" sz="1697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서비스 간 강한 결합도 위험</a:t>
            </a:r>
            <a:endParaRPr lang="en-US" sz="1697" dirty="0"/>
          </a:p>
          <a:p>
            <a:pPr algn="l" indent="0" marL="0">
              <a:lnSpc>
                <a:spcPts val="2630"/>
              </a:lnSpc>
              <a:buNone/>
            </a:pPr>
            <a:r>
              <a:rPr lang="en-US" sz="1697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부분 장애 시 전체 시스템 마비</a:t>
            </a:r>
            <a:endParaRPr lang="en-US" sz="1697" dirty="0"/>
          </a:p>
        </p:txBody>
      </p:sp>
      <p:sp>
        <p:nvSpPr>
          <p:cNvPr id="17" name="Shape 15"/>
          <p:cNvSpPr/>
          <p:nvPr/>
        </p:nvSpPr>
        <p:spPr>
          <a:xfrm>
            <a:off x="7639080" y="1163848"/>
            <a:ext cx="4000500" cy="2188982"/>
          </a:xfrm>
          <a:prstGeom prst="roundRect">
            <a:avLst>
              <a:gd name="adj" fmla="val 6090"/>
            </a:avLst>
          </a:prstGeom>
          <a:solidFill>
            <a:srgbClr val="161E2E">
              <a:alpha val="82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58171" y="1363919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A78BFA">
              <a:alpha val="15000"/>
            </a:srgbClr>
          </a:solidFill>
          <a:ln w="9525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48570" y="1329355"/>
            <a:ext cx="30477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31" dirty="0"/>
          </a:p>
        </p:txBody>
      </p:sp>
      <p:sp>
        <p:nvSpPr>
          <p:cNvPr id="20" name="Text 18"/>
          <p:cNvSpPr txBox="1"/>
          <p:nvPr/>
        </p:nvSpPr>
        <p:spPr>
          <a:xfrm>
            <a:off x="7839060" y="1684691"/>
            <a:ext cx="3866358" cy="406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97"/>
              </a:lnSpc>
              <a:buNone/>
            </a:pPr>
            <a:r>
              <a:rPr lang="en-US" sz="2132" b="1" spc="-43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브로커 스트리밍</a:t>
            </a:r>
            <a:endParaRPr lang="en-US" sz="2132" dirty="0"/>
          </a:p>
        </p:txBody>
      </p:sp>
      <p:sp>
        <p:nvSpPr>
          <p:cNvPr id="21" name="Text 19"/>
          <p:cNvSpPr txBox="1"/>
          <p:nvPr/>
        </p:nvSpPr>
        <p:spPr>
          <a:xfrm>
            <a:off x="7839060" y="2150577"/>
            <a:ext cx="3600450" cy="1001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0"/>
              </a:lnSpc>
              <a:buNone/>
            </a:pPr>
            <a:r>
              <a:rPr lang="en-US" sz="1697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Kafka 파티셔닝 및 순서 보장</a:t>
            </a:r>
            <a:endParaRPr lang="en-US" sz="1697" dirty="0"/>
          </a:p>
          <a:p>
            <a:pPr algn="l" indent="0" marL="0">
              <a:lnSpc>
                <a:spcPts val="2630"/>
              </a:lnSpc>
              <a:buNone/>
            </a:pPr>
            <a:r>
              <a:rPr lang="en-US" sz="1697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Idempotent Consumer 설계</a:t>
            </a:r>
            <a:endParaRPr lang="en-US" sz="1697" dirty="0"/>
          </a:p>
          <a:p>
            <a:pPr algn="l" indent="0" marL="0">
              <a:lnSpc>
                <a:spcPts val="2630"/>
              </a:lnSpc>
              <a:buNone/>
            </a:pPr>
            <a:r>
              <a:rPr lang="en-US" sz="1697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Transactional Outbox 패턴</a:t>
            </a:r>
            <a:endParaRPr lang="en-US" sz="1697" dirty="0"/>
          </a:p>
        </p:txBody>
      </p:sp>
      <p:sp>
        <p:nvSpPr>
          <p:cNvPr id="22" name="Shape 20"/>
          <p:cNvSpPr/>
          <p:nvPr/>
        </p:nvSpPr>
        <p:spPr>
          <a:xfrm>
            <a:off x="3486150" y="3505170"/>
            <a:ext cx="4000500" cy="2188982"/>
          </a:xfrm>
          <a:prstGeom prst="roundRect">
            <a:avLst>
              <a:gd name="adj" fmla="val 6090"/>
            </a:avLst>
          </a:prstGeom>
          <a:solidFill>
            <a:srgbClr val="161E2E">
              <a:alpha val="82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05240" y="3705240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38BDF8">
              <a:alpha val="15000"/>
            </a:srgbClr>
          </a:solidFill>
          <a:ln w="9525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95730" y="3670767"/>
            <a:ext cx="30477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31" dirty="0"/>
          </a:p>
        </p:txBody>
      </p:sp>
      <p:sp>
        <p:nvSpPr>
          <p:cNvPr id="25" name="Text 23"/>
          <p:cNvSpPr txBox="1"/>
          <p:nvPr/>
        </p:nvSpPr>
        <p:spPr>
          <a:xfrm>
            <a:off x="3686221" y="4026012"/>
            <a:ext cx="3866358" cy="406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97"/>
              </a:lnSpc>
              <a:buNone/>
            </a:pPr>
            <a:r>
              <a:rPr lang="en-US" sz="2132" b="1" spc="-43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Saga 패턴 분산 트랜잭션</a:t>
            </a:r>
            <a:endParaRPr lang="en-US" sz="2132" dirty="0"/>
          </a:p>
        </p:txBody>
      </p:sp>
      <p:sp>
        <p:nvSpPr>
          <p:cNvPr id="26" name="Text 24"/>
          <p:cNvSpPr txBox="1"/>
          <p:nvPr/>
        </p:nvSpPr>
        <p:spPr>
          <a:xfrm>
            <a:off x="3686221" y="4491990"/>
            <a:ext cx="3600450" cy="1001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0"/>
              </a:lnSpc>
              <a:buNone/>
            </a:pPr>
            <a:r>
              <a:rPr lang="en-US" sz="1697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오케스트레이션 vs 코레오그래피</a:t>
            </a:r>
            <a:endParaRPr lang="en-US" sz="1697" dirty="0"/>
          </a:p>
          <a:p>
            <a:pPr algn="l" indent="0" marL="0">
              <a:lnSpc>
                <a:spcPts val="2630"/>
              </a:lnSpc>
              <a:buNone/>
            </a:pPr>
            <a:r>
              <a:rPr lang="en-US" sz="1697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보상 트랜잭션(Compensation)</a:t>
            </a:r>
            <a:endParaRPr lang="en-US" sz="1697" dirty="0"/>
          </a:p>
          <a:p>
            <a:pPr algn="l" indent="0" marL="0">
              <a:lnSpc>
                <a:spcPts val="2630"/>
              </a:lnSpc>
              <a:buNone/>
            </a:pPr>
            <a:r>
              <a:rPr lang="en-US" sz="1697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최종 일관성(Eventual Consistency)</a:t>
            </a:r>
            <a:endParaRPr lang="en-US" sz="1697" dirty="0"/>
          </a:p>
        </p:txBody>
      </p:sp>
      <p:sp>
        <p:nvSpPr>
          <p:cNvPr id="27" name="Shape 25"/>
          <p:cNvSpPr/>
          <p:nvPr/>
        </p:nvSpPr>
        <p:spPr>
          <a:xfrm>
            <a:off x="7639080" y="3505170"/>
            <a:ext cx="4000500" cy="2188982"/>
          </a:xfrm>
          <a:prstGeom prst="roundRect">
            <a:avLst>
              <a:gd name="adj" fmla="val 6090"/>
            </a:avLst>
          </a:prstGeom>
          <a:solidFill>
            <a:srgbClr val="161E2E">
              <a:alpha val="82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58171" y="3705240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34D399">
              <a:alpha val="15000"/>
            </a:srgbClr>
          </a:solidFill>
          <a:ln w="9525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848570" y="3670767"/>
            <a:ext cx="30477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631" dirty="0"/>
          </a:p>
        </p:txBody>
      </p:sp>
      <p:sp>
        <p:nvSpPr>
          <p:cNvPr id="30" name="Text 28"/>
          <p:cNvSpPr txBox="1"/>
          <p:nvPr/>
        </p:nvSpPr>
        <p:spPr>
          <a:xfrm>
            <a:off x="7839060" y="4026012"/>
            <a:ext cx="3866358" cy="406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97"/>
              </a:lnSpc>
              <a:buNone/>
            </a:pPr>
            <a:r>
              <a:rPr lang="en-US" sz="2132" b="1" spc="-43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 &amp; 프로덕션 튜닝</a:t>
            </a:r>
            <a:endParaRPr lang="en-US" sz="2132" dirty="0"/>
          </a:p>
        </p:txBody>
      </p:sp>
      <p:sp>
        <p:nvSpPr>
          <p:cNvPr id="31" name="Text 29"/>
          <p:cNvSpPr txBox="1"/>
          <p:nvPr/>
        </p:nvSpPr>
        <p:spPr>
          <a:xfrm>
            <a:off x="7839060" y="4491990"/>
            <a:ext cx="3600450" cy="1001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0"/>
              </a:lnSpc>
              <a:buNone/>
            </a:pPr>
            <a:r>
              <a:rPr lang="en-US" sz="1697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OpenTelemetry 분산 추적</a:t>
            </a:r>
            <a:endParaRPr lang="en-US" sz="1697" dirty="0"/>
          </a:p>
          <a:p>
            <a:pPr algn="l" indent="0" marL="0">
              <a:lnSpc>
                <a:spcPts val="2630"/>
              </a:lnSpc>
              <a:buNone/>
            </a:pPr>
            <a:r>
              <a:rPr lang="en-US" sz="1697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컨슈머 랙 자동 오토스케일링</a:t>
            </a:r>
            <a:endParaRPr lang="en-US" sz="1697" dirty="0"/>
          </a:p>
          <a:p>
            <a:pPr algn="l" indent="0" marL="0">
              <a:lnSpc>
                <a:spcPts val="2630"/>
              </a:lnSpc>
              <a:buNone/>
            </a:pPr>
            <a:r>
              <a:rPr lang="en-US" sz="1697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데드레터 큐(DLQ) 장애 격리</a:t>
            </a:r>
            <a:endParaRPr lang="en-US" sz="169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E9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42901" y="1012881"/>
            <a:ext cx="2706350" cy="418521"/>
          </a:xfrm>
          <a:prstGeom prst="roundRect">
            <a:avLst>
              <a:gd name="adj" fmla="val 50011"/>
            </a:avLst>
          </a:prstGeom>
          <a:solidFill>
            <a:srgbClr val="F87171">
              <a:alpha val="15000"/>
            </a:srgbClr>
          </a:solidFill>
          <a:ln w="9525">
            <a:solidFill>
              <a:srgbClr val="F87171">
                <a:alpha val="3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692152" y="1056132"/>
            <a:ext cx="2807848" cy="32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45"/>
              </a:lnSpc>
              <a:buNone/>
            </a:pPr>
            <a:r>
              <a:rPr lang="en-US" sz="1697" b="1" spc="34" kern="0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BOTTLENECK</a:t>
            </a:r>
            <a:endParaRPr lang="en-US" sz="1697" dirty="0"/>
          </a:p>
        </p:txBody>
      </p:sp>
      <p:sp>
        <p:nvSpPr>
          <p:cNvPr id="4" name="Text 2"/>
          <p:cNvSpPr txBox="1"/>
          <p:nvPr/>
        </p:nvSpPr>
        <p:spPr>
          <a:xfrm>
            <a:off x="-334488" y="1507480"/>
            <a:ext cx="12861036" cy="590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651"/>
              </a:lnSpc>
              <a:buNone/>
            </a:pPr>
            <a:r>
              <a:rPr lang="en-US" sz="3524" b="1" spc="-88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동기식 REST API 체인이 초래하는 3대 구조적 위험</a:t>
            </a:r>
            <a:endParaRPr lang="en-US" sz="3524" dirty="0"/>
          </a:p>
        </p:txBody>
      </p:sp>
      <p:sp>
        <p:nvSpPr>
          <p:cNvPr id="5" name="Text 3"/>
          <p:cNvSpPr txBox="1"/>
          <p:nvPr/>
        </p:nvSpPr>
        <p:spPr>
          <a:xfrm>
            <a:off x="-334488" y="2281337"/>
            <a:ext cx="12861036" cy="39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32"/>
              </a:lnSpc>
              <a:buNone/>
            </a:pPr>
            <a:r>
              <a:rPr lang="en-US" sz="2088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 폭증 시 단일 서비스 지연이 전체 마이크로서비스로 전파되어 연쇄 장애를 유발합니다.</a:t>
            </a:r>
            <a:endParaRPr lang="en-US" sz="2088" dirty="0"/>
          </a:p>
        </p:txBody>
      </p:sp>
      <p:sp>
        <p:nvSpPr>
          <p:cNvPr id="6" name="Shape 4"/>
          <p:cNvSpPr/>
          <p:nvPr/>
        </p:nvSpPr>
        <p:spPr>
          <a:xfrm>
            <a:off x="552480" y="2916204"/>
            <a:ext cx="3594049" cy="2948026"/>
          </a:xfrm>
          <a:prstGeom prst="roundRect">
            <a:avLst>
              <a:gd name="adj" fmla="val 4522"/>
            </a:avLst>
          </a:prstGeom>
          <a:solidFill>
            <a:srgbClr val="161E2E">
              <a:alpha val="8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2480" y="2916204"/>
            <a:ext cx="3594049" cy="28621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4137020" y="2916204"/>
            <a:ext cx="9510" cy="2948026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52480" y="5854629"/>
            <a:ext cx="3594049" cy="9510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52480" y="2916204"/>
            <a:ext cx="9510" cy="2948026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71571" y="3135295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F87171">
              <a:alpha val="15000"/>
            </a:srgbClr>
          </a:solidFill>
          <a:ln w="9525">
            <a:solidFill>
              <a:srgbClr val="F87171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1970" y="3100639"/>
            <a:ext cx="30477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31" dirty="0"/>
          </a:p>
        </p:txBody>
      </p:sp>
      <p:sp>
        <p:nvSpPr>
          <p:cNvPr id="13" name="Text 11"/>
          <p:cNvSpPr txBox="1"/>
          <p:nvPr/>
        </p:nvSpPr>
        <p:spPr>
          <a:xfrm>
            <a:off x="752460" y="3456066"/>
            <a:ext cx="3193999" cy="812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7"/>
              </a:lnSpc>
              <a:buNone/>
            </a:pPr>
            <a:r>
              <a:rPr lang="en-US" sz="2132" b="1" spc="-43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계단식 연쇄 장애 (Cascading)</a:t>
            </a:r>
            <a:endParaRPr lang="en-US" sz="2132" dirty="0"/>
          </a:p>
        </p:txBody>
      </p:sp>
      <p:sp>
        <p:nvSpPr>
          <p:cNvPr id="14" name="Text 12"/>
          <p:cNvSpPr txBox="1"/>
          <p:nvPr/>
        </p:nvSpPr>
        <p:spPr>
          <a:xfrm>
            <a:off x="752460" y="4327947"/>
            <a:ext cx="3193999" cy="1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0"/>
              </a:lnSpc>
              <a:buNone/>
            </a:pPr>
            <a:r>
              <a:rPr lang="en-US" sz="1697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다운스트림 서비스의 지연이 업스트림 스레드 풀을 고갈시켜</a:t>
            </a:r>
            <a:pPr algn="l" indent="0" marL="0">
              <a:lnSpc>
                <a:spcPts val="2630"/>
              </a:lnSpc>
              <a:buNone/>
            </a:pPr>
            <a:endParaRPr lang="en-US" sz="1697" dirty="0"/>
          </a:p>
          <a:p>
            <a:pPr algn="l" indent="0" marL="0">
              <a:lnSpc>
                <a:spcPts val="2630"/>
              </a:lnSpc>
              <a:buNone/>
            </a:pPr>
            <a:r>
              <a:rPr lang="en-US" sz="1697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97" dirty="0"/>
          </a:p>
          <a:p>
            <a:pPr algn="l" indent="0" marL="0">
              <a:lnSpc>
                <a:spcPts val="2630"/>
              </a:lnSpc>
              <a:buNone/>
            </a:pPr>
            <a:r>
              <a:rPr lang="en-US" sz="1697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인프라 타임아웃 셧다운</a:t>
            </a:r>
            <a:pPr algn="l" indent="0" marL="0">
              <a:lnSpc>
                <a:spcPts val="2630"/>
              </a:lnSpc>
              <a:buNone/>
            </a:pPr>
            <a:r>
              <a:rPr lang="en-US" sz="1697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유발합니다.</a:t>
            </a:r>
            <a:endParaRPr lang="en-US" sz="1697" dirty="0"/>
          </a:p>
        </p:txBody>
      </p:sp>
      <p:sp>
        <p:nvSpPr>
          <p:cNvPr id="15" name="Shape 13"/>
          <p:cNvSpPr/>
          <p:nvPr/>
        </p:nvSpPr>
        <p:spPr>
          <a:xfrm>
            <a:off x="4298960" y="2916204"/>
            <a:ext cx="3594049" cy="2948026"/>
          </a:xfrm>
          <a:prstGeom prst="roundRect">
            <a:avLst>
              <a:gd name="adj" fmla="val 4522"/>
            </a:avLst>
          </a:prstGeom>
          <a:solidFill>
            <a:srgbClr val="161E2E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298960" y="2916204"/>
            <a:ext cx="3594049" cy="28621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17" name="Shape 15"/>
          <p:cNvSpPr/>
          <p:nvPr/>
        </p:nvSpPr>
        <p:spPr>
          <a:xfrm>
            <a:off x="7883500" y="2916204"/>
            <a:ext cx="9510" cy="2948026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298960" y="5854629"/>
            <a:ext cx="3594049" cy="9510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298960" y="2916204"/>
            <a:ext cx="9510" cy="2948026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17959" y="3135295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FACC15">
              <a:alpha val="15000"/>
            </a:srgbClr>
          </a:solidFill>
          <a:ln w="9525">
            <a:solidFill>
              <a:srgbClr val="FACC15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08449" y="3100639"/>
            <a:ext cx="30477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FACC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31" dirty="0"/>
          </a:p>
        </p:txBody>
      </p:sp>
      <p:sp>
        <p:nvSpPr>
          <p:cNvPr id="22" name="Text 20"/>
          <p:cNvSpPr txBox="1"/>
          <p:nvPr/>
        </p:nvSpPr>
        <p:spPr>
          <a:xfrm>
            <a:off x="4498939" y="3456066"/>
            <a:ext cx="3427446" cy="406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97"/>
              </a:lnSpc>
              <a:buNone/>
            </a:pPr>
            <a:r>
              <a:rPr lang="en-US" sz="2132" b="1" spc="-43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2PC 분산 락 병목</a:t>
            </a:r>
            <a:endParaRPr lang="en-US" sz="2132" dirty="0"/>
          </a:p>
        </p:txBody>
      </p:sp>
      <p:sp>
        <p:nvSpPr>
          <p:cNvPr id="23" name="Text 21"/>
          <p:cNvSpPr txBox="1"/>
          <p:nvPr/>
        </p:nvSpPr>
        <p:spPr>
          <a:xfrm>
            <a:off x="4498939" y="3921953"/>
            <a:ext cx="3193999" cy="1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0"/>
              </a:lnSpc>
              <a:buNone/>
            </a:pPr>
            <a:r>
              <a:rPr lang="en-US" sz="1697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커밋(2PC)의 글로벌 락으로 인해</a:t>
            </a:r>
            <a:pPr algn="l" indent="0" marL="0">
              <a:lnSpc>
                <a:spcPts val="2630"/>
              </a:lnSpc>
              <a:buNone/>
            </a:pPr>
            <a:endParaRPr lang="en-US" sz="1697" dirty="0"/>
          </a:p>
          <a:p>
            <a:pPr algn="l" indent="0" marL="0">
              <a:lnSpc>
                <a:spcPts val="2630"/>
              </a:lnSpc>
              <a:buNone/>
            </a:pPr>
            <a:r>
              <a:rPr lang="en-US" sz="1697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97" dirty="0"/>
          </a:p>
          <a:p>
            <a:pPr algn="l" indent="0" marL="0">
              <a:lnSpc>
                <a:spcPts val="2630"/>
              </a:lnSpc>
              <a:buNone/>
            </a:pPr>
            <a:r>
              <a:rPr lang="en-US" sz="1697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트랜잭션 지연시간 8배 증가</a:t>
            </a:r>
            <a:pPr algn="l" indent="0" marL="0">
              <a:lnSpc>
                <a:spcPts val="2630"/>
              </a:lnSpc>
              <a:buNone/>
            </a:pPr>
            <a:r>
              <a:rPr lang="en-US" sz="1697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및 처리량 급락이 발생합니다.</a:t>
            </a:r>
            <a:endParaRPr lang="en-US" sz="1697" dirty="0"/>
          </a:p>
        </p:txBody>
      </p:sp>
      <p:sp>
        <p:nvSpPr>
          <p:cNvPr id="24" name="Shape 22"/>
          <p:cNvSpPr/>
          <p:nvPr/>
        </p:nvSpPr>
        <p:spPr>
          <a:xfrm>
            <a:off x="8045348" y="2916204"/>
            <a:ext cx="3594141" cy="2948026"/>
          </a:xfrm>
          <a:prstGeom prst="roundRect">
            <a:avLst>
              <a:gd name="adj" fmla="val 4522"/>
            </a:avLst>
          </a:prstGeom>
          <a:solidFill>
            <a:srgbClr val="161E2E">
              <a:alpha val="8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045348" y="2916204"/>
            <a:ext cx="3594141" cy="28621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6" name="Shape 24"/>
          <p:cNvSpPr/>
          <p:nvPr/>
        </p:nvSpPr>
        <p:spPr>
          <a:xfrm>
            <a:off x="11630071" y="2916204"/>
            <a:ext cx="9510" cy="2948026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045348" y="5854629"/>
            <a:ext cx="3594141" cy="9510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045348" y="2916204"/>
            <a:ext cx="9510" cy="2948026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264439" y="3135295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38BDF8">
              <a:alpha val="15000"/>
            </a:srgbClr>
          </a:solidFill>
          <a:ln w="9525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54929" y="3100639"/>
            <a:ext cx="30477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31" dirty="0"/>
          </a:p>
        </p:txBody>
      </p:sp>
      <p:sp>
        <p:nvSpPr>
          <p:cNvPr id="31" name="Text 29"/>
          <p:cNvSpPr txBox="1"/>
          <p:nvPr/>
        </p:nvSpPr>
        <p:spPr>
          <a:xfrm>
            <a:off x="8245419" y="3456066"/>
            <a:ext cx="3427537" cy="406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97"/>
              </a:lnSpc>
              <a:buNone/>
            </a:pPr>
            <a:r>
              <a:rPr lang="en-US" sz="2132" b="1" spc="-43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정합성 파편화</a:t>
            </a:r>
            <a:endParaRPr lang="en-US" sz="2132" dirty="0"/>
          </a:p>
        </p:txBody>
      </p:sp>
      <p:sp>
        <p:nvSpPr>
          <p:cNvPr id="32" name="Text 30"/>
          <p:cNvSpPr txBox="1"/>
          <p:nvPr/>
        </p:nvSpPr>
        <p:spPr>
          <a:xfrm>
            <a:off x="8245419" y="3921953"/>
            <a:ext cx="3194091" cy="1001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0"/>
              </a:lnSpc>
              <a:buNone/>
            </a:pPr>
            <a:r>
              <a:rPr lang="en-US" sz="1697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파티션 발생 시 롤백 실패로</a:t>
            </a:r>
            <a:pPr algn="l" indent="0" marL="0">
              <a:lnSpc>
                <a:spcPts val="2630"/>
              </a:lnSpc>
              <a:buNone/>
            </a:pPr>
            <a:endParaRPr lang="en-US" sz="1697" dirty="0"/>
          </a:p>
          <a:p>
            <a:pPr algn="l" indent="0" marL="0">
              <a:lnSpc>
                <a:spcPts val="2630"/>
              </a:lnSpc>
              <a:buNone/>
            </a:pPr>
            <a:r>
              <a:rPr lang="en-US" sz="1697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97" dirty="0"/>
          </a:p>
          <a:p>
            <a:pPr algn="l" indent="0" marL="0">
              <a:lnSpc>
                <a:spcPts val="2630"/>
              </a:lnSpc>
              <a:buNone/>
            </a:pPr>
            <a:r>
              <a:rPr lang="en-US" sz="1697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간 불일치 데이터 누적</a:t>
            </a:r>
            <a:pPr algn="l" indent="0" marL="0">
              <a:lnSpc>
                <a:spcPts val="2630"/>
              </a:lnSpc>
              <a:buNone/>
            </a:pPr>
            <a:r>
              <a:rPr lang="en-US" sz="1697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및 복구 비용이 발생합니다.</a:t>
            </a:r>
            <a:endParaRPr lang="en-US" sz="169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E9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2480" y="1571854"/>
            <a:ext cx="2997678" cy="418521"/>
          </a:xfrm>
          <a:prstGeom prst="roundRect">
            <a:avLst>
              <a:gd name="adj" fmla="val 50011"/>
            </a:avLst>
          </a:prstGeom>
          <a:solidFill>
            <a:srgbClr val="38BDF8">
              <a:alpha val="15000"/>
            </a:srgbClr>
          </a:solidFill>
          <a:ln w="9525">
            <a:solidFill>
              <a:srgbClr val="38BDF8">
                <a:alpha val="3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6290" y="1614922"/>
            <a:ext cx="2947934" cy="32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45"/>
              </a:lnSpc>
              <a:buNone/>
            </a:pPr>
            <a:r>
              <a:rPr lang="en-US" sz="1697" b="1" spc="34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 ARCHITECTURE</a:t>
            </a:r>
            <a:endParaRPr lang="en-US" sz="1697" dirty="0"/>
          </a:p>
        </p:txBody>
      </p:sp>
      <p:sp>
        <p:nvSpPr>
          <p:cNvPr id="4" name="Text 2"/>
          <p:cNvSpPr txBox="1"/>
          <p:nvPr/>
        </p:nvSpPr>
        <p:spPr>
          <a:xfrm>
            <a:off x="533370" y="2066453"/>
            <a:ext cx="11993088" cy="590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1"/>
              </a:lnSpc>
              <a:buNone/>
            </a:pPr>
            <a:r>
              <a:rPr lang="en-US" sz="3524" b="1" spc="-88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기반 비동기 스트리밍 및 Saga 오케스트레이션</a:t>
            </a:r>
            <a:endParaRPr lang="en-US" sz="3524" dirty="0"/>
          </a:p>
        </p:txBody>
      </p:sp>
      <p:sp>
        <p:nvSpPr>
          <p:cNvPr id="5" name="Text 3"/>
          <p:cNvSpPr txBox="1"/>
          <p:nvPr/>
        </p:nvSpPr>
        <p:spPr>
          <a:xfrm>
            <a:off x="533370" y="2840126"/>
            <a:ext cx="11993088" cy="39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32"/>
              </a:lnSpc>
              <a:buNone/>
            </a:pPr>
            <a:r>
              <a:rPr lang="en-US" sz="2088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이벤트를 불변 로그로 발행하고, 중앙 오케스트레이터를 통해 비동기 보상 트랜잭션을 제어합니다.</a:t>
            </a:r>
            <a:endParaRPr lang="en-US" sz="2088" dirty="0"/>
          </a:p>
        </p:txBody>
      </p:sp>
      <p:sp>
        <p:nvSpPr>
          <p:cNvPr id="6" name="Shape 4"/>
          <p:cNvSpPr/>
          <p:nvPr/>
        </p:nvSpPr>
        <p:spPr>
          <a:xfrm>
            <a:off x="552480" y="3474994"/>
            <a:ext cx="2372502" cy="912754"/>
          </a:xfrm>
          <a:prstGeom prst="roundRect">
            <a:avLst>
              <a:gd name="adj" fmla="val 12523"/>
            </a:avLst>
          </a:prstGeom>
          <a:solidFill>
            <a:srgbClr val="161E2E">
              <a:alpha val="82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6303" y="3636935"/>
            <a:ext cx="24648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spc="-54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PRODUCER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06303" y="3824752"/>
            <a:ext cx="2464857" cy="214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92"/>
              </a:lnSpc>
              <a:buNone/>
            </a:pPr>
            <a:r>
              <a:rPr lang="en-US" sz="1128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요청 접수</a:t>
            </a:r>
            <a:endParaRPr lang="en-US" sz="1128" dirty="0"/>
          </a:p>
        </p:txBody>
      </p:sp>
      <p:sp>
        <p:nvSpPr>
          <p:cNvPr id="9" name="Text 7"/>
          <p:cNvSpPr txBox="1"/>
          <p:nvPr/>
        </p:nvSpPr>
        <p:spPr>
          <a:xfrm>
            <a:off x="506303" y="4055273"/>
            <a:ext cx="24648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64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Outbox DB 적재</a:t>
            </a:r>
            <a:endParaRPr lang="en-US" sz="864" dirty="0"/>
          </a:p>
        </p:txBody>
      </p:sp>
      <p:sp>
        <p:nvSpPr>
          <p:cNvPr id="10" name="Text 8"/>
          <p:cNvSpPr txBox="1"/>
          <p:nvPr/>
        </p:nvSpPr>
        <p:spPr>
          <a:xfrm>
            <a:off x="3020172" y="3654674"/>
            <a:ext cx="379933" cy="53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41"/>
              </a:lnSpc>
              <a:buNone/>
            </a:pPr>
            <a:r>
              <a:rPr lang="en-US" sz="2828" b="1" spc="-54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➔</a:t>
            </a:r>
            <a:endParaRPr lang="en-US" sz="2828" dirty="0"/>
          </a:p>
        </p:txBody>
      </p:sp>
      <p:sp>
        <p:nvSpPr>
          <p:cNvPr id="11" name="Shape 9"/>
          <p:cNvSpPr/>
          <p:nvPr/>
        </p:nvSpPr>
        <p:spPr>
          <a:xfrm>
            <a:off x="3457255" y="3474994"/>
            <a:ext cx="2372594" cy="912754"/>
          </a:xfrm>
          <a:prstGeom prst="roundRect">
            <a:avLst>
              <a:gd name="adj" fmla="val 12523"/>
            </a:avLst>
          </a:prstGeom>
          <a:solidFill>
            <a:srgbClr val="161E2E">
              <a:alpha val="82000"/>
            </a:srgbClr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11078" y="3636935"/>
            <a:ext cx="246494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spc="-54" kern="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CDC RELAY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3411078" y="3824752"/>
            <a:ext cx="2464948" cy="214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92"/>
              </a:lnSpc>
              <a:buNone/>
            </a:pPr>
            <a:r>
              <a:rPr lang="en-US" sz="1128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Debezium 캡처</a:t>
            </a:r>
            <a:endParaRPr lang="en-US" sz="1128" dirty="0"/>
          </a:p>
        </p:txBody>
      </p:sp>
      <p:sp>
        <p:nvSpPr>
          <p:cNvPr id="14" name="Text 12"/>
          <p:cNvSpPr txBox="1"/>
          <p:nvPr/>
        </p:nvSpPr>
        <p:spPr>
          <a:xfrm>
            <a:off x="3411078" y="4055273"/>
            <a:ext cx="246494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64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토픽 발행</a:t>
            </a:r>
            <a:endParaRPr lang="en-US" sz="864" dirty="0"/>
          </a:p>
        </p:txBody>
      </p:sp>
      <p:sp>
        <p:nvSpPr>
          <p:cNvPr id="15" name="Text 13"/>
          <p:cNvSpPr txBox="1"/>
          <p:nvPr/>
        </p:nvSpPr>
        <p:spPr>
          <a:xfrm>
            <a:off x="5925129" y="3654674"/>
            <a:ext cx="379933" cy="53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41"/>
              </a:lnSpc>
              <a:buNone/>
            </a:pPr>
            <a:r>
              <a:rPr lang="en-US" sz="2828" b="1" spc="-54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➔</a:t>
            </a:r>
            <a:endParaRPr lang="en-US" sz="2828" dirty="0"/>
          </a:p>
        </p:txBody>
      </p:sp>
      <p:sp>
        <p:nvSpPr>
          <p:cNvPr id="16" name="Shape 14"/>
          <p:cNvSpPr/>
          <p:nvPr/>
        </p:nvSpPr>
        <p:spPr>
          <a:xfrm>
            <a:off x="6362212" y="3474994"/>
            <a:ext cx="2372502" cy="912754"/>
          </a:xfrm>
          <a:prstGeom prst="roundRect">
            <a:avLst>
              <a:gd name="adj" fmla="val 12523"/>
            </a:avLst>
          </a:prstGeom>
          <a:solidFill>
            <a:srgbClr val="1E1B4B">
              <a:alpha val="85000"/>
            </a:srgbClr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16035" y="3636935"/>
            <a:ext cx="24648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spc="-54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SAGA ENGINE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316035" y="3824752"/>
            <a:ext cx="2464857" cy="214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92"/>
              </a:lnSpc>
              <a:buNone/>
            </a:pPr>
            <a:r>
              <a:rPr lang="en-US" sz="1128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상태 전이</a:t>
            </a:r>
            <a:endParaRPr lang="en-US" sz="1128" dirty="0"/>
          </a:p>
        </p:txBody>
      </p:sp>
      <p:sp>
        <p:nvSpPr>
          <p:cNvPr id="19" name="Text 17"/>
          <p:cNvSpPr txBox="1"/>
          <p:nvPr/>
        </p:nvSpPr>
        <p:spPr>
          <a:xfrm>
            <a:off x="6316035" y="4055273"/>
            <a:ext cx="24648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64" spc="-54" kern="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결제/재고 이벤트</a:t>
            </a:r>
            <a:endParaRPr lang="en-US" sz="864" dirty="0"/>
          </a:p>
        </p:txBody>
      </p:sp>
      <p:sp>
        <p:nvSpPr>
          <p:cNvPr id="20" name="Text 18"/>
          <p:cNvSpPr txBox="1"/>
          <p:nvPr/>
        </p:nvSpPr>
        <p:spPr>
          <a:xfrm>
            <a:off x="8829995" y="3654674"/>
            <a:ext cx="379933" cy="53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41"/>
              </a:lnSpc>
              <a:buNone/>
            </a:pPr>
            <a:r>
              <a:rPr lang="en-US" sz="2828" b="1" spc="-54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➔</a:t>
            </a:r>
            <a:endParaRPr lang="en-US" sz="2828" dirty="0"/>
          </a:p>
        </p:txBody>
      </p:sp>
      <p:sp>
        <p:nvSpPr>
          <p:cNvPr id="21" name="Shape 19"/>
          <p:cNvSpPr/>
          <p:nvPr/>
        </p:nvSpPr>
        <p:spPr>
          <a:xfrm>
            <a:off x="9267078" y="3474994"/>
            <a:ext cx="2372502" cy="912754"/>
          </a:xfrm>
          <a:prstGeom prst="roundRect">
            <a:avLst>
              <a:gd name="adj" fmla="val 12523"/>
            </a:avLst>
          </a:prstGeom>
          <a:solidFill>
            <a:srgbClr val="161E2E">
              <a:alpha val="82000"/>
            </a:srgbClr>
          </a:solidFill>
          <a:ln w="9525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20901" y="3636935"/>
            <a:ext cx="24648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spc="-54" kern="0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CONSUMER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9220901" y="3824752"/>
            <a:ext cx="2464857" cy="214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92"/>
              </a:lnSpc>
              <a:buNone/>
            </a:pPr>
            <a:r>
              <a:rPr lang="en-US" sz="1128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Idempotent 처리</a:t>
            </a:r>
            <a:endParaRPr lang="en-US" sz="1128" dirty="0"/>
          </a:p>
        </p:txBody>
      </p:sp>
      <p:sp>
        <p:nvSpPr>
          <p:cNvPr id="24" name="Text 22"/>
          <p:cNvSpPr txBox="1"/>
          <p:nvPr/>
        </p:nvSpPr>
        <p:spPr>
          <a:xfrm>
            <a:off x="9220901" y="4055273"/>
            <a:ext cx="24648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64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일관성 달성</a:t>
            </a:r>
            <a:endParaRPr lang="en-US" sz="864" dirty="0"/>
          </a:p>
        </p:txBody>
      </p:sp>
      <p:sp>
        <p:nvSpPr>
          <p:cNvPr id="25" name="Shape 23"/>
          <p:cNvSpPr/>
          <p:nvPr/>
        </p:nvSpPr>
        <p:spPr>
          <a:xfrm>
            <a:off x="552480" y="4559198"/>
            <a:ext cx="5467380" cy="746059"/>
          </a:xfrm>
          <a:prstGeom prst="roundRect">
            <a:avLst>
              <a:gd name="adj" fmla="val 17870"/>
            </a:avLst>
          </a:prstGeom>
          <a:solidFill>
            <a:srgbClr val="161E2E">
              <a:alpha val="82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3440" y="4718304"/>
            <a:ext cx="549170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b="1" spc="-54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Transactional Outbox 패턴</a:t>
            </a:r>
            <a:endParaRPr lang="en-US" sz="1080" dirty="0"/>
          </a:p>
        </p:txBody>
      </p:sp>
      <p:sp>
        <p:nvSpPr>
          <p:cNvPr id="27" name="Text 25"/>
          <p:cNvSpPr txBox="1"/>
          <p:nvPr/>
        </p:nvSpPr>
        <p:spPr>
          <a:xfrm>
            <a:off x="733440" y="4956871"/>
            <a:ext cx="5491704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36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트랜잭션 내에서 비즈니스 데이터와 이벤트 테이블을 동시 커밋하여 메시지 유실 0% 달성</a:t>
            </a:r>
            <a:endParaRPr lang="en-US" sz="936" dirty="0"/>
          </a:p>
        </p:txBody>
      </p:sp>
      <p:sp>
        <p:nvSpPr>
          <p:cNvPr id="28" name="Shape 26"/>
          <p:cNvSpPr/>
          <p:nvPr/>
        </p:nvSpPr>
        <p:spPr>
          <a:xfrm>
            <a:off x="6172200" y="4559198"/>
            <a:ext cx="5467380" cy="746059"/>
          </a:xfrm>
          <a:prstGeom prst="roundRect">
            <a:avLst>
              <a:gd name="adj" fmla="val 17870"/>
            </a:avLst>
          </a:prstGeom>
          <a:solidFill>
            <a:srgbClr val="161E2E">
              <a:alpha val="82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53160" y="4718304"/>
            <a:ext cx="549170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b="1" spc="-54" kern="0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자동 보상 트랜잭션(Compensation)</a:t>
            </a:r>
            <a:endParaRPr lang="en-US" sz="1080" dirty="0"/>
          </a:p>
        </p:txBody>
      </p:sp>
      <p:sp>
        <p:nvSpPr>
          <p:cNvPr id="30" name="Text 28"/>
          <p:cNvSpPr txBox="1"/>
          <p:nvPr/>
        </p:nvSpPr>
        <p:spPr>
          <a:xfrm>
            <a:off x="6353160" y="4956871"/>
            <a:ext cx="5491704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36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단계 실패 시 역순으로 롤백 이벤트를 발행하여 글로벌 락 없이 완벽한 최종 일관성 보장</a:t>
            </a:r>
            <a:endParaRPr lang="en-US" sz="93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E9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41347" y="1124986"/>
            <a:ext cx="2709093" cy="418521"/>
          </a:xfrm>
          <a:prstGeom prst="roundRect">
            <a:avLst>
              <a:gd name="adj" fmla="val 50011"/>
            </a:avLst>
          </a:prstGeom>
          <a:solidFill>
            <a:srgbClr val="FACC15">
              <a:alpha val="15000"/>
            </a:srgbClr>
          </a:solidFill>
          <a:ln w="9525">
            <a:solidFill>
              <a:srgbClr val="FACC15">
                <a:alpha val="3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690323" y="1168146"/>
            <a:ext cx="2811048" cy="32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45"/>
              </a:lnSpc>
              <a:buNone/>
            </a:pPr>
            <a:r>
              <a:rPr lang="en-US" sz="1697" b="1" spc="34" kern="0" dirty="0">
                <a:solidFill>
                  <a:srgbClr val="FACC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BENCHMARK RESULTS</a:t>
            </a:r>
            <a:endParaRPr lang="en-US" sz="1697" dirty="0"/>
          </a:p>
        </p:txBody>
      </p:sp>
      <p:sp>
        <p:nvSpPr>
          <p:cNvPr id="4" name="Text 2"/>
          <p:cNvSpPr txBox="1"/>
          <p:nvPr/>
        </p:nvSpPr>
        <p:spPr>
          <a:xfrm>
            <a:off x="-334488" y="1619677"/>
            <a:ext cx="12861036" cy="590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651"/>
              </a:lnSpc>
              <a:buNone/>
            </a:pPr>
            <a:r>
              <a:rPr lang="en-US" sz="3524" b="1" spc="-88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전환 후 달성한 3대 엔지니어링 성과</a:t>
            </a:r>
            <a:endParaRPr lang="en-US" sz="3524" dirty="0"/>
          </a:p>
        </p:txBody>
      </p:sp>
      <p:sp>
        <p:nvSpPr>
          <p:cNvPr id="5" name="Text 3"/>
          <p:cNvSpPr txBox="1"/>
          <p:nvPr/>
        </p:nvSpPr>
        <p:spPr>
          <a:xfrm>
            <a:off x="-334488" y="2393442"/>
            <a:ext cx="12861036" cy="39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32"/>
              </a:lnSpc>
              <a:buNone/>
            </a:pPr>
            <a:r>
              <a:rPr lang="en-US" sz="2088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하드웨어 스펙에서 동기 호출 대비 처리량 10배 증가 및 P99 응답시간 85% 단축</a:t>
            </a:r>
            <a:endParaRPr lang="en-US" sz="2088" dirty="0"/>
          </a:p>
        </p:txBody>
      </p:sp>
      <p:sp>
        <p:nvSpPr>
          <p:cNvPr id="6" name="Shape 4"/>
          <p:cNvSpPr/>
          <p:nvPr/>
        </p:nvSpPr>
        <p:spPr>
          <a:xfrm>
            <a:off x="552480" y="3028218"/>
            <a:ext cx="3594049" cy="2723632"/>
          </a:xfrm>
          <a:prstGeom prst="roundRect">
            <a:avLst>
              <a:gd name="adj" fmla="val 4895"/>
            </a:avLst>
          </a:prstGeom>
          <a:solidFill>
            <a:srgbClr val="161E2E">
              <a:alpha val="8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2480" y="3028218"/>
            <a:ext cx="3594049" cy="28621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8" name="Shape 6"/>
          <p:cNvSpPr/>
          <p:nvPr/>
        </p:nvSpPr>
        <p:spPr>
          <a:xfrm>
            <a:off x="4137020" y="3028218"/>
            <a:ext cx="9510" cy="2723632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52480" y="5742341"/>
            <a:ext cx="3594049" cy="9510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52480" y="3028218"/>
            <a:ext cx="9510" cy="2723632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225650" y="3266328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FACC15">
              <a:alpha val="15000"/>
            </a:srgbClr>
          </a:solidFill>
          <a:ln w="9525">
            <a:solidFill>
              <a:srgbClr val="FACC15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78009" y="3231855"/>
            <a:ext cx="34290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FACC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31" dirty="0"/>
          </a:p>
        </p:txBody>
      </p:sp>
      <p:sp>
        <p:nvSpPr>
          <p:cNvPr id="13" name="Text 11"/>
          <p:cNvSpPr txBox="1"/>
          <p:nvPr/>
        </p:nvSpPr>
        <p:spPr>
          <a:xfrm>
            <a:off x="474848" y="3570183"/>
            <a:ext cx="3749223" cy="77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090"/>
              </a:lnSpc>
              <a:buNone/>
            </a:pPr>
            <a:r>
              <a:rPr lang="en-US" sz="6090" b="1" spc="-54" kern="0" dirty="0">
                <a:solidFill>
                  <a:srgbClr val="FACC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120K</a:t>
            </a:r>
            <a:endParaRPr lang="en-US" sz="6090" dirty="0"/>
          </a:p>
        </p:txBody>
      </p:sp>
      <p:sp>
        <p:nvSpPr>
          <p:cNvPr id="14" name="Text 12"/>
          <p:cNvSpPr txBox="1"/>
          <p:nvPr/>
        </p:nvSpPr>
        <p:spPr>
          <a:xfrm>
            <a:off x="474848" y="4398721"/>
            <a:ext cx="3749223" cy="406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97"/>
              </a:lnSpc>
              <a:buNone/>
            </a:pPr>
            <a:r>
              <a:rPr lang="en-US" sz="2132" b="1" spc="-43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초당 트랜잭션 (TPS)</a:t>
            </a:r>
            <a:endParaRPr lang="en-US" sz="2132" dirty="0"/>
          </a:p>
        </p:txBody>
      </p:sp>
      <p:sp>
        <p:nvSpPr>
          <p:cNvPr id="15" name="Text 13"/>
          <p:cNvSpPr txBox="1"/>
          <p:nvPr/>
        </p:nvSpPr>
        <p:spPr>
          <a:xfrm>
            <a:off x="714421" y="4864608"/>
            <a:ext cx="3270260" cy="66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30"/>
              </a:lnSpc>
              <a:buNone/>
            </a:pPr>
            <a:r>
              <a:rPr lang="en-US" sz="1697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12K TPS 대비 10배 처리량 확장 달성</a:t>
            </a:r>
            <a:endParaRPr lang="en-US" sz="1697" dirty="0"/>
          </a:p>
        </p:txBody>
      </p:sp>
      <p:sp>
        <p:nvSpPr>
          <p:cNvPr id="16" name="Shape 14"/>
          <p:cNvSpPr/>
          <p:nvPr/>
        </p:nvSpPr>
        <p:spPr>
          <a:xfrm>
            <a:off x="4298960" y="3028218"/>
            <a:ext cx="3594049" cy="2723632"/>
          </a:xfrm>
          <a:prstGeom prst="roundRect">
            <a:avLst>
              <a:gd name="adj" fmla="val 4895"/>
            </a:avLst>
          </a:prstGeom>
          <a:solidFill>
            <a:srgbClr val="161E2E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298960" y="3028218"/>
            <a:ext cx="3594049" cy="28621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Shape 16"/>
          <p:cNvSpPr/>
          <p:nvPr/>
        </p:nvSpPr>
        <p:spPr>
          <a:xfrm>
            <a:off x="7883500" y="3028218"/>
            <a:ext cx="9510" cy="2723632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298960" y="5742341"/>
            <a:ext cx="3594049" cy="9510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298960" y="3028218"/>
            <a:ext cx="9510" cy="2723632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971946" y="3266328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38BDF8">
              <a:alpha val="15000"/>
            </a:srgbClr>
          </a:solidFill>
          <a:ln w="9525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24398" y="3231855"/>
            <a:ext cx="34290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31" dirty="0"/>
          </a:p>
        </p:txBody>
      </p:sp>
      <p:sp>
        <p:nvSpPr>
          <p:cNvPr id="23" name="Text 21"/>
          <p:cNvSpPr txBox="1"/>
          <p:nvPr/>
        </p:nvSpPr>
        <p:spPr>
          <a:xfrm>
            <a:off x="4221328" y="3570183"/>
            <a:ext cx="3749223" cy="77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090"/>
              </a:lnSpc>
              <a:buNone/>
            </a:pPr>
            <a:r>
              <a:rPr lang="en-US" sz="6090" b="1" spc="-54" kern="0" dirty="0">
                <a:solidFill>
                  <a:srgbClr val="00F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ms</a:t>
            </a:r>
            <a:endParaRPr lang="en-US" sz="6090" dirty="0"/>
          </a:p>
        </p:txBody>
      </p:sp>
      <p:sp>
        <p:nvSpPr>
          <p:cNvPr id="24" name="Text 22"/>
          <p:cNvSpPr txBox="1"/>
          <p:nvPr/>
        </p:nvSpPr>
        <p:spPr>
          <a:xfrm>
            <a:off x="4221328" y="4398721"/>
            <a:ext cx="3749223" cy="406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97"/>
              </a:lnSpc>
              <a:buNone/>
            </a:pPr>
            <a:r>
              <a:rPr lang="en-US" sz="2132" b="1" spc="-43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P99 응답 지연시간</a:t>
            </a:r>
            <a:endParaRPr lang="en-US" sz="2132" dirty="0"/>
          </a:p>
        </p:txBody>
      </p:sp>
      <p:sp>
        <p:nvSpPr>
          <p:cNvPr id="25" name="Text 23"/>
          <p:cNvSpPr txBox="1"/>
          <p:nvPr/>
        </p:nvSpPr>
        <p:spPr>
          <a:xfrm>
            <a:off x="4460809" y="4864608"/>
            <a:ext cx="3270260" cy="66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30"/>
              </a:lnSpc>
              <a:buNone/>
            </a:pPr>
            <a:r>
              <a:rPr lang="en-US" sz="1697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비동기 큐잉을 통해 클라이언트 체감 85% 단축</a:t>
            </a:r>
            <a:endParaRPr lang="en-US" sz="1697" dirty="0"/>
          </a:p>
        </p:txBody>
      </p:sp>
      <p:sp>
        <p:nvSpPr>
          <p:cNvPr id="26" name="Shape 24"/>
          <p:cNvSpPr/>
          <p:nvPr/>
        </p:nvSpPr>
        <p:spPr>
          <a:xfrm>
            <a:off x="8045348" y="3028218"/>
            <a:ext cx="3594141" cy="2723632"/>
          </a:xfrm>
          <a:prstGeom prst="roundRect">
            <a:avLst>
              <a:gd name="adj" fmla="val 4895"/>
            </a:avLst>
          </a:prstGeom>
          <a:solidFill>
            <a:srgbClr val="161E2E">
              <a:alpha val="8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045348" y="3028218"/>
            <a:ext cx="3594141" cy="28621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8" name="Shape 26"/>
          <p:cNvSpPr/>
          <p:nvPr/>
        </p:nvSpPr>
        <p:spPr>
          <a:xfrm>
            <a:off x="11630071" y="3028218"/>
            <a:ext cx="9510" cy="2723632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045348" y="5742341"/>
            <a:ext cx="3594141" cy="9510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045348" y="3028218"/>
            <a:ext cx="9510" cy="2723632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718609" y="3266328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A78BFA">
              <a:alpha val="15000"/>
            </a:srgbClr>
          </a:solidFill>
          <a:ln w="9525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671060" y="3231855"/>
            <a:ext cx="34290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31" dirty="0"/>
          </a:p>
        </p:txBody>
      </p:sp>
      <p:sp>
        <p:nvSpPr>
          <p:cNvPr id="33" name="Text 31"/>
          <p:cNvSpPr txBox="1"/>
          <p:nvPr/>
        </p:nvSpPr>
        <p:spPr>
          <a:xfrm>
            <a:off x="7967807" y="3570183"/>
            <a:ext cx="3749406" cy="77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090"/>
              </a:lnSpc>
              <a:buNone/>
            </a:pPr>
            <a:r>
              <a:rPr lang="en-US" sz="6090" b="1" spc="-54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99.99%</a:t>
            </a:r>
            <a:endParaRPr lang="en-US" sz="6090" dirty="0"/>
          </a:p>
        </p:txBody>
      </p:sp>
      <p:sp>
        <p:nvSpPr>
          <p:cNvPr id="34" name="Text 32"/>
          <p:cNvSpPr txBox="1"/>
          <p:nvPr/>
        </p:nvSpPr>
        <p:spPr>
          <a:xfrm>
            <a:off x="7967807" y="4398721"/>
            <a:ext cx="3749406" cy="406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97"/>
              </a:lnSpc>
              <a:buNone/>
            </a:pPr>
            <a:r>
              <a:rPr lang="en-US" sz="2132" b="1" spc="-43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가용성 (SLA)</a:t>
            </a:r>
            <a:endParaRPr lang="en-US" sz="2132" dirty="0"/>
          </a:p>
        </p:txBody>
      </p:sp>
      <p:sp>
        <p:nvSpPr>
          <p:cNvPr id="35" name="Text 33"/>
          <p:cNvSpPr txBox="1"/>
          <p:nvPr/>
        </p:nvSpPr>
        <p:spPr>
          <a:xfrm>
            <a:off x="8207289" y="4864608"/>
            <a:ext cx="3270352" cy="66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30"/>
              </a:lnSpc>
              <a:buNone/>
            </a:pPr>
            <a:r>
              <a:rPr lang="en-US" sz="1697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서비스 장애 시에도 전체 중단 없는 격리 달성</a:t>
            </a:r>
            <a:endParaRPr lang="en-US" sz="169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E9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2480" y="955182"/>
            <a:ext cx="3032059" cy="418521"/>
          </a:xfrm>
          <a:prstGeom prst="roundRect">
            <a:avLst>
              <a:gd name="adj" fmla="val 50011"/>
            </a:avLst>
          </a:prstGeom>
          <a:solidFill>
            <a:srgbClr val="38BDF8">
              <a:alpha val="15000"/>
            </a:srgbClr>
          </a:solidFill>
          <a:ln w="9525">
            <a:solidFill>
              <a:srgbClr val="38BDF8">
                <a:alpha val="3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6290" y="998433"/>
            <a:ext cx="2985059" cy="32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45"/>
              </a:lnSpc>
              <a:buNone/>
            </a:pPr>
            <a:r>
              <a:rPr lang="en-US" sz="1697" b="1" spc="34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 &amp; NEXT STEPS</a:t>
            </a:r>
            <a:endParaRPr lang="en-US" sz="1697" dirty="0"/>
          </a:p>
        </p:txBody>
      </p:sp>
      <p:sp>
        <p:nvSpPr>
          <p:cNvPr id="4" name="Text 2"/>
          <p:cNvSpPr txBox="1"/>
          <p:nvPr/>
        </p:nvSpPr>
        <p:spPr>
          <a:xfrm>
            <a:off x="533370" y="1449781"/>
            <a:ext cx="11993088" cy="590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1"/>
              </a:lnSpc>
              <a:buNone/>
            </a:pPr>
            <a:r>
              <a:rPr lang="en-US" sz="3524" b="1" spc="-88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요약 및 질의응답 (Q&amp;A)</a:t>
            </a:r>
            <a:endParaRPr lang="en-US" sz="3524" dirty="0"/>
          </a:p>
        </p:txBody>
      </p:sp>
      <p:sp>
        <p:nvSpPr>
          <p:cNvPr id="5" name="Text 3"/>
          <p:cNvSpPr txBox="1"/>
          <p:nvPr/>
        </p:nvSpPr>
        <p:spPr>
          <a:xfrm>
            <a:off x="533370" y="2223638"/>
            <a:ext cx="11993088" cy="39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32"/>
              </a:lnSpc>
              <a:buNone/>
            </a:pPr>
            <a:r>
              <a:rPr lang="en-US" sz="2088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기반 분산 아키텍처로 고가용성 엔터프라이즈 시스템을 구축하세요.</a:t>
            </a:r>
            <a:endParaRPr lang="en-US" sz="2088" dirty="0"/>
          </a:p>
        </p:txBody>
      </p:sp>
      <p:sp>
        <p:nvSpPr>
          <p:cNvPr id="6" name="Shape 4"/>
          <p:cNvSpPr/>
          <p:nvPr/>
        </p:nvSpPr>
        <p:spPr>
          <a:xfrm>
            <a:off x="552480" y="2782153"/>
            <a:ext cx="6029919" cy="810981"/>
          </a:xfrm>
          <a:prstGeom prst="roundRect">
            <a:avLst>
              <a:gd name="adj" fmla="val 16439"/>
            </a:avLst>
          </a:prstGeom>
          <a:solidFill>
            <a:srgbClr val="161E2E">
              <a:alpha val="8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2480" y="2782153"/>
            <a:ext cx="6029919" cy="9510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572799" y="2782153"/>
            <a:ext cx="9510" cy="810981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52480" y="3583625"/>
            <a:ext cx="6029919" cy="9510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52480" y="2782153"/>
            <a:ext cx="28621" cy="810981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4421" y="2905597"/>
            <a:ext cx="616104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104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Transactional Outbox로 유실 방지</a:t>
            </a:r>
            <a:endParaRPr lang="en-US" sz="1104" dirty="0"/>
          </a:p>
        </p:txBody>
      </p:sp>
      <p:sp>
        <p:nvSpPr>
          <p:cNvPr id="12" name="Text 10"/>
          <p:cNvSpPr txBox="1"/>
          <p:nvPr/>
        </p:nvSpPr>
        <p:spPr>
          <a:xfrm>
            <a:off x="714421" y="3135020"/>
            <a:ext cx="6161044" cy="33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30"/>
              </a:lnSpc>
              <a:buNone/>
            </a:pPr>
            <a:r>
              <a:rPr lang="en-US" sz="1697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커밋과 메시지 발행을 원자적으로 묶어 100% 신뢰성 보장</a:t>
            </a:r>
            <a:endParaRPr lang="en-US" sz="1697" dirty="0"/>
          </a:p>
        </p:txBody>
      </p:sp>
      <p:sp>
        <p:nvSpPr>
          <p:cNvPr id="13" name="Shape 11"/>
          <p:cNvSpPr/>
          <p:nvPr/>
        </p:nvSpPr>
        <p:spPr>
          <a:xfrm>
            <a:off x="552480" y="3688324"/>
            <a:ext cx="6029919" cy="810981"/>
          </a:xfrm>
          <a:prstGeom prst="roundRect">
            <a:avLst>
              <a:gd name="adj" fmla="val 16439"/>
            </a:avLst>
          </a:prstGeom>
          <a:solidFill>
            <a:srgbClr val="161E2E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52480" y="3688324"/>
            <a:ext cx="6029919" cy="9510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72799" y="3688324"/>
            <a:ext cx="9510" cy="810981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52480" y="4489795"/>
            <a:ext cx="6029919" cy="9510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2480" y="3688324"/>
            <a:ext cx="28621" cy="810981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4421" y="3811768"/>
            <a:ext cx="616104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104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Saga 엔진 기반 분산 트랜잭션</a:t>
            </a:r>
            <a:endParaRPr lang="en-US" sz="1104" dirty="0"/>
          </a:p>
        </p:txBody>
      </p:sp>
      <p:sp>
        <p:nvSpPr>
          <p:cNvPr id="19" name="Text 17"/>
          <p:cNvSpPr txBox="1"/>
          <p:nvPr/>
        </p:nvSpPr>
        <p:spPr>
          <a:xfrm>
            <a:off x="714421" y="4041282"/>
            <a:ext cx="6161044" cy="33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30"/>
              </a:lnSpc>
              <a:buNone/>
            </a:pPr>
            <a:r>
              <a:rPr lang="en-US" sz="1697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락 없는 보상 트랜잭션으로 시스템 전체 처리량 극대화</a:t>
            </a:r>
            <a:endParaRPr lang="en-US" sz="1697" dirty="0"/>
          </a:p>
        </p:txBody>
      </p:sp>
      <p:sp>
        <p:nvSpPr>
          <p:cNvPr id="20" name="Shape 18"/>
          <p:cNvSpPr/>
          <p:nvPr/>
        </p:nvSpPr>
        <p:spPr>
          <a:xfrm>
            <a:off x="552480" y="4594677"/>
            <a:ext cx="6029919" cy="810981"/>
          </a:xfrm>
          <a:prstGeom prst="roundRect">
            <a:avLst>
              <a:gd name="adj" fmla="val 16439"/>
            </a:avLst>
          </a:prstGeom>
          <a:solidFill>
            <a:srgbClr val="161E2E">
              <a:alpha val="8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52480" y="4594677"/>
            <a:ext cx="6029919" cy="9510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572799" y="4594677"/>
            <a:ext cx="9510" cy="810981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52480" y="5396149"/>
            <a:ext cx="6029919" cy="9510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52480" y="4594677"/>
            <a:ext cx="28621" cy="810981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4421" y="4718121"/>
            <a:ext cx="616104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104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OpenTelemetry 기반 분산 가시성</a:t>
            </a:r>
            <a:endParaRPr lang="en-US" sz="1104" dirty="0"/>
          </a:p>
        </p:txBody>
      </p:sp>
      <p:sp>
        <p:nvSpPr>
          <p:cNvPr id="26" name="Text 24"/>
          <p:cNvSpPr txBox="1"/>
          <p:nvPr/>
        </p:nvSpPr>
        <p:spPr>
          <a:xfrm>
            <a:off x="714421" y="4947453"/>
            <a:ext cx="6161044" cy="33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30"/>
              </a:lnSpc>
              <a:buNone/>
            </a:pPr>
            <a:r>
              <a:rPr lang="en-US" sz="1697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체인 전 구간 추적으로 장애 원인 1분 내 격리 및 해결</a:t>
            </a:r>
            <a:endParaRPr lang="en-US" sz="1697" dirty="0"/>
          </a:p>
        </p:txBody>
      </p:sp>
      <p:sp>
        <p:nvSpPr>
          <p:cNvPr id="27" name="Shape 25"/>
          <p:cNvSpPr/>
          <p:nvPr/>
        </p:nvSpPr>
        <p:spPr>
          <a:xfrm>
            <a:off x="6772869" y="2782153"/>
            <a:ext cx="4866711" cy="3139684"/>
          </a:xfrm>
          <a:prstGeom prst="roundRect">
            <a:avLst>
              <a:gd name="adj" fmla="val 4246"/>
            </a:avLst>
          </a:prstGeom>
          <a:solidFill>
            <a:srgbClr val="172033">
              <a:alpha val="82000"/>
            </a:srgbClr>
          </a:solidFill>
          <a:ln w="9525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53829" y="2961650"/>
            <a:ext cx="4843028" cy="29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49"/>
              </a:lnSpc>
              <a:buNone/>
            </a:pPr>
            <a:r>
              <a:rPr lang="en-US" sz="1566" b="1" spc="125" kern="0" dirty="0">
                <a:solidFill>
                  <a:srgbClr val="00F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 FOR DISCUSSION</a:t>
            </a:r>
            <a:endParaRPr lang="en-US" sz="1566" dirty="0"/>
          </a:p>
        </p:txBody>
      </p:sp>
      <p:sp>
        <p:nvSpPr>
          <p:cNvPr id="29" name="Text 27"/>
          <p:cNvSpPr txBox="1"/>
          <p:nvPr/>
        </p:nvSpPr>
        <p:spPr>
          <a:xfrm>
            <a:off x="6953829" y="3278490"/>
            <a:ext cx="4843028" cy="546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7"/>
              </a:lnSpc>
              <a:buNone/>
            </a:pPr>
            <a:r>
              <a:rPr lang="en-US" sz="3915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3915" dirty="0"/>
          </a:p>
        </p:txBody>
      </p:sp>
      <p:sp>
        <p:nvSpPr>
          <p:cNvPr id="30" name="Text 28"/>
          <p:cNvSpPr txBox="1"/>
          <p:nvPr/>
        </p:nvSpPr>
        <p:spPr>
          <a:xfrm>
            <a:off x="6953829" y="3881354"/>
            <a:ext cx="4843028" cy="301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75"/>
              </a:lnSpc>
              <a:buNone/>
            </a:pPr>
            <a:r>
              <a:rPr lang="en-US" sz="1697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궁금하신 점이나 아키텍처 도입 논의를 환영합니다.</a:t>
            </a:r>
            <a:endParaRPr lang="en-US" sz="1697" dirty="0"/>
          </a:p>
        </p:txBody>
      </p:sp>
      <p:sp>
        <p:nvSpPr>
          <p:cNvPr id="31" name="Shape 29"/>
          <p:cNvSpPr/>
          <p:nvPr/>
        </p:nvSpPr>
        <p:spPr>
          <a:xfrm>
            <a:off x="6972849" y="4281495"/>
            <a:ext cx="4466661" cy="951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953829" y="4378696"/>
            <a:ext cx="4843028" cy="281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19"/>
              </a:lnSpc>
              <a:buNone/>
            </a:pPr>
            <a:r>
              <a:rPr lang="en-US" sz="1479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&amp; DOCS HUB</a:t>
            </a:r>
            <a:endParaRPr lang="en-US" sz="1479" dirty="0"/>
          </a:p>
        </p:txBody>
      </p:sp>
      <p:sp>
        <p:nvSpPr>
          <p:cNvPr id="33" name="Text 31"/>
          <p:cNvSpPr txBox="1"/>
          <p:nvPr/>
        </p:nvSpPr>
        <p:spPr>
          <a:xfrm>
            <a:off x="6953829" y="4679716"/>
            <a:ext cx="4843028" cy="34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41"/>
              </a:lnSpc>
              <a:buNone/>
            </a:pPr>
            <a:r>
              <a:rPr lang="en-US" sz="1827" b="1" spc="-54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github.com/company/architecture</a:t>
            </a:r>
            <a:endParaRPr lang="en-US" sz="1827" dirty="0"/>
          </a:p>
        </p:txBody>
      </p:sp>
      <p:sp>
        <p:nvSpPr>
          <p:cNvPr id="34" name="Text 32"/>
          <p:cNvSpPr txBox="1"/>
          <p:nvPr/>
        </p:nvSpPr>
        <p:spPr>
          <a:xfrm>
            <a:off x="6953829" y="5084613"/>
            <a:ext cx="4843028" cy="281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19"/>
              </a:lnSpc>
              <a:buNone/>
            </a:pPr>
            <a:r>
              <a:rPr lang="en-US" sz="1479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</a:t>
            </a:r>
            <a:endParaRPr lang="en-US" sz="1479" dirty="0"/>
          </a:p>
        </p:txBody>
      </p:sp>
      <p:sp>
        <p:nvSpPr>
          <p:cNvPr id="35" name="Text 33"/>
          <p:cNvSpPr txBox="1"/>
          <p:nvPr/>
        </p:nvSpPr>
        <p:spPr>
          <a:xfrm>
            <a:off x="6953829" y="5385633"/>
            <a:ext cx="4843028" cy="34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41"/>
              </a:lnSpc>
              <a:buNone/>
            </a:pPr>
            <a:r>
              <a:rPr lang="en-US" sz="1827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platform-lead@company.com</a:t>
            </a:r>
            <a:endParaRPr lang="en-US" sz="18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Template_Tech_Dark_Glass</dc:title>
  <dc:subject>Generated from an audited HTML preview</dc:subject>
  <dc:creator>korean-presentation-skill</dc:creator>
  <cp:lastModifiedBy>korean-presentation-skill</cp:lastModifiedBy>
  <cp:revision>1</cp:revision>
  <dcterms:created xsi:type="dcterms:W3CDTF">2026-09-06T09:53:46Z</dcterms:created>
  <dcterms:modified xsi:type="dcterms:W3CDTF">2026-09-06T09:53:46Z</dcterms:modified>
</cp:coreProperties>
</file>