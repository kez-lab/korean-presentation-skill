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[전략 보고 오프닝] 2026년 글로벌 B2B 시장 확대를 위한 사업화 전략과 실행 계획을 보고드립니다.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[목차 보고] 시장 기회 분석부터 재무적 실행 계획까지 4개 핵심 파트로 나누어 보고드립니다.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지표] ARR 1,250만 달러, NRR 142%, 영업이익률 28.4% 달성을 핵심 목표로 설정하였습니다.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[GTM 전략] 3단계 퍼널을 통해 PoC 전환율 65%와 계정 확장을 가속화합니다.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[유닛 이코노믹스] CAC 회수 기간 6.5개월과 LTV/CAC 4.8배 달성으로 높은 수익성을 확보했습니다.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[마무리 보고] 3대 핵심 실행 과제를 요약하며 보고를 마칩니다. 질문해 주시면 답변드리겠습니다. 경청해 주셔서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438180"/>
            <a:ext cx="3345424" cy="418521"/>
          </a:xfrm>
          <a:prstGeom prst="roundRect">
            <a:avLst>
              <a:gd name="adj" fmla="val 5001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481432"/>
            <a:ext cx="3323570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STRATEGIC INITIATIVE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040679"/>
            <a:ext cx="11125230" cy="1682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엔터프라이즈 B2B 시장 확대를 위한</a:t>
            </a:r>
            <a:pPr algn="l" indent="0" marL="0">
              <a:lnSpc>
                <a:spcPts val="6626"/>
              </a:lnSpc>
              <a:buNone/>
            </a:pPr>
            <a:endParaRPr lang="en-US" sz="5177" dirty="0"/>
          </a:p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5177" dirty="0"/>
          </a:p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솔루션 사업화 및 성장 전략</a:t>
            </a:r>
            <a:endParaRPr lang="en-US" sz="5177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3032425"/>
            <a:ext cx="119930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344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 극대화와 리텐션 강화를 위한 3대 핵심 로드맵 및 재무적 실행 계획</a:t>
            </a:r>
            <a:endParaRPr lang="en-US" sz="1344" dirty="0"/>
          </a:p>
        </p:txBody>
      </p:sp>
      <p:sp>
        <p:nvSpPr>
          <p:cNvPr id="6" name="Shape 4"/>
          <p:cNvSpPr/>
          <p:nvPr/>
        </p:nvSpPr>
        <p:spPr>
          <a:xfrm>
            <a:off x="552480" y="5153284"/>
            <a:ext cx="3818992" cy="1285555"/>
          </a:xfrm>
          <a:prstGeom prst="roundRect">
            <a:avLst>
              <a:gd name="adj" fmla="val 8891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4421" y="5457139"/>
            <a:ext cx="3752606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 &amp; OWNER</a:t>
            </a:r>
            <a:endParaRPr lang="en-US" sz="1523" dirty="0"/>
          </a:p>
        </p:txBody>
      </p:sp>
      <p:sp>
        <p:nvSpPr>
          <p:cNvPr id="8" name="Text 6"/>
          <p:cNvSpPr txBox="1"/>
          <p:nvPr/>
        </p:nvSpPr>
        <p:spPr>
          <a:xfrm>
            <a:off x="714421" y="5766938"/>
            <a:ext cx="3752606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 / 전략기획실</a:t>
            </a:r>
            <a:endParaRPr lang="en-US" sz="1914" dirty="0"/>
          </a:p>
        </p:txBody>
      </p:sp>
      <p:sp>
        <p:nvSpPr>
          <p:cNvPr id="9" name="Shape 7"/>
          <p:cNvSpPr/>
          <p:nvPr/>
        </p:nvSpPr>
        <p:spPr>
          <a:xfrm>
            <a:off x="4504792" y="5153284"/>
            <a:ext cx="3182386" cy="1285555"/>
          </a:xfrm>
          <a:prstGeom prst="roundRect">
            <a:avLst>
              <a:gd name="adj" fmla="val 8891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6640" y="5275082"/>
            <a:ext cx="3065160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DATE</a:t>
            </a:r>
            <a:endParaRPr lang="en-US" sz="1523" dirty="0"/>
          </a:p>
        </p:txBody>
      </p:sp>
      <p:sp>
        <p:nvSpPr>
          <p:cNvPr id="11" name="Text 9"/>
          <p:cNvSpPr txBox="1"/>
          <p:nvPr/>
        </p:nvSpPr>
        <p:spPr>
          <a:xfrm>
            <a:off x="4666640" y="5584698"/>
            <a:ext cx="2858506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 • Q3 Executive Review</a:t>
            </a:r>
            <a:endParaRPr lang="en-US" sz="1914" dirty="0"/>
          </a:p>
        </p:txBody>
      </p:sp>
      <p:sp>
        <p:nvSpPr>
          <p:cNvPr id="12" name="Shape 10"/>
          <p:cNvSpPr/>
          <p:nvPr/>
        </p:nvSpPr>
        <p:spPr>
          <a:xfrm>
            <a:off x="7820497" y="5153284"/>
            <a:ext cx="3819083" cy="1285555"/>
          </a:xfrm>
          <a:prstGeom prst="roundRect">
            <a:avLst>
              <a:gd name="adj" fmla="val 8891"/>
            </a:avLst>
          </a:prstGeom>
          <a:solidFill>
            <a:srgbClr val="111A2E"/>
          </a:solidFill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82438" y="5457139"/>
            <a:ext cx="3752698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CONFIDENTIALITY</a:t>
            </a:r>
            <a:endParaRPr lang="en-US" sz="1523" dirty="0"/>
          </a:p>
        </p:txBody>
      </p:sp>
      <p:sp>
        <p:nvSpPr>
          <p:cNvPr id="14" name="Text 12"/>
          <p:cNvSpPr txBox="1"/>
          <p:nvPr/>
        </p:nvSpPr>
        <p:spPr>
          <a:xfrm>
            <a:off x="7982438" y="5766938"/>
            <a:ext cx="3752698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(Confidential)</a:t>
            </a:r>
            <a:endParaRPr lang="en-US" sz="191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1638330"/>
            <a:ext cx="2428555" cy="418521"/>
          </a:xfrm>
          <a:prstGeom prst="roundRect">
            <a:avLst>
              <a:gd name="adj" fmla="val 5001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1681490"/>
            <a:ext cx="2333274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STRATEGY AGENDA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2188982"/>
            <a:ext cx="2693640" cy="62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94"/>
              </a:lnSpc>
              <a:buNone/>
            </a:pPr>
            <a:r>
              <a:rPr lang="en-US" sz="3263" b="1" spc="261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3263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882463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진입부터</a:t>
            </a:r>
            <a:endParaRPr lang="en-US" sz="1056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 가속화까지 4단계</a:t>
            </a:r>
            <a:endParaRPr lang="en-US" sz="1056" dirty="0"/>
          </a:p>
        </p:txBody>
      </p:sp>
      <p:sp>
        <p:nvSpPr>
          <p:cNvPr id="6" name="Shape 4"/>
          <p:cNvSpPr/>
          <p:nvPr/>
        </p:nvSpPr>
        <p:spPr>
          <a:xfrm>
            <a:off x="552480" y="46863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61970" y="4724430"/>
            <a:ext cx="571500" cy="1902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2480" y="49149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761970" y="4953030"/>
            <a:ext cx="952530" cy="19020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51435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761970" y="5181630"/>
            <a:ext cx="428671" cy="1902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86150" y="764347"/>
            <a:ext cx="4000500" cy="2795595"/>
          </a:xfrm>
          <a:prstGeom prst="roundRect">
            <a:avLst>
              <a:gd name="adj" fmla="val 4769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5240" y="964418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5730" y="929945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5" name="Text 13"/>
          <p:cNvSpPr txBox="1"/>
          <p:nvPr/>
        </p:nvSpPr>
        <p:spPr>
          <a:xfrm>
            <a:off x="3686221" y="1285921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기회 및 목표 KPI</a:t>
            </a:r>
            <a:endParaRPr lang="en-US" sz="2175" dirty="0"/>
          </a:p>
        </p:txBody>
      </p:sp>
      <p:sp>
        <p:nvSpPr>
          <p:cNvPr id="16" name="Text 14"/>
          <p:cNvSpPr txBox="1"/>
          <p:nvPr/>
        </p:nvSpPr>
        <p:spPr>
          <a:xfrm>
            <a:off x="3686221" y="1700235"/>
            <a:ext cx="360045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글로벌 AI 솔루션 시장 동향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2026 연간 반복 매출(ARR) 목표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고객 유지율(NRR) 극대화 모델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7639080" y="764347"/>
            <a:ext cx="4000500" cy="2795595"/>
          </a:xfrm>
          <a:prstGeom prst="roundRect">
            <a:avLst>
              <a:gd name="adj" fmla="val 4769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58171" y="964418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48570" y="929945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0" name="Text 18"/>
          <p:cNvSpPr txBox="1"/>
          <p:nvPr/>
        </p:nvSpPr>
        <p:spPr>
          <a:xfrm>
            <a:off x="7839060" y="1285921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GTM 및 파트너십 전략</a:t>
            </a:r>
            <a:endParaRPr lang="en-US" sz="2175" dirty="0"/>
          </a:p>
        </p:txBody>
      </p:sp>
      <p:sp>
        <p:nvSpPr>
          <p:cNvPr id="21" name="Text 19"/>
          <p:cNvSpPr txBox="1"/>
          <p:nvPr/>
        </p:nvSpPr>
        <p:spPr>
          <a:xfrm>
            <a:off x="7839060" y="1700235"/>
            <a:ext cx="360045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북미/일본 거점 엔터프라이즈 침투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탑티어 클라우드 MSP 협력 체계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PoC 전환율 65% 달성 방안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3486150" y="3712373"/>
            <a:ext cx="4000500" cy="2381280"/>
          </a:xfrm>
          <a:prstGeom prst="roundRect">
            <a:avLst>
              <a:gd name="adj" fmla="val 5599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5240" y="391235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95730" y="3877879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25" name="Text 23"/>
          <p:cNvSpPr txBox="1"/>
          <p:nvPr/>
        </p:nvSpPr>
        <p:spPr>
          <a:xfrm>
            <a:off x="3686221" y="4233855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이코노믹스 최적화</a:t>
            </a:r>
            <a:endParaRPr lang="en-US" sz="2175" dirty="0"/>
          </a:p>
        </p:txBody>
      </p:sp>
      <p:sp>
        <p:nvSpPr>
          <p:cNvPr id="26" name="Text 24"/>
          <p:cNvSpPr txBox="1"/>
          <p:nvPr/>
        </p:nvSpPr>
        <p:spPr>
          <a:xfrm>
            <a:off x="3686221" y="4648170"/>
            <a:ext cx="3600450" cy="124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고객 획득 비용(CAC) 45% 절감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LTV/CAC 비율 4.5x 달성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세일즈 사이클 90일 단축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7639080" y="3712373"/>
            <a:ext cx="4000500" cy="2381280"/>
          </a:xfrm>
          <a:prstGeom prst="roundRect">
            <a:avLst>
              <a:gd name="adj" fmla="val 5599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58171" y="391235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48570" y="3877879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31" dirty="0"/>
          </a:p>
        </p:txBody>
      </p:sp>
      <p:sp>
        <p:nvSpPr>
          <p:cNvPr id="30" name="Text 28"/>
          <p:cNvSpPr txBox="1"/>
          <p:nvPr/>
        </p:nvSpPr>
        <p:spPr>
          <a:xfrm>
            <a:off x="7839060" y="4233855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계획 및 실행 과제</a:t>
            </a:r>
            <a:endParaRPr lang="en-US" sz="2175" dirty="0"/>
          </a:p>
        </p:txBody>
      </p:sp>
      <p:sp>
        <p:nvSpPr>
          <p:cNvPr id="31" name="Text 29"/>
          <p:cNvSpPr txBox="1"/>
          <p:nvPr/>
        </p:nvSpPr>
        <p:spPr>
          <a:xfrm>
            <a:off x="7839060" y="4648170"/>
            <a:ext cx="3600450" cy="124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분기별 R&amp;D 투자 배분 계획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흑자 전환(BEP) 시점 가속화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확장 및 핵심 인재 영입</a:t>
            </a:r>
            <a:endParaRPr lang="en-US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0728" y="1473098"/>
            <a:ext cx="3830604" cy="418521"/>
          </a:xfrm>
          <a:prstGeom prst="roundRect">
            <a:avLst>
              <a:gd name="adj" fmla="val 5001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40002" y="1516258"/>
            <a:ext cx="4111965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PERFORMANCE INDICATORS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1967789"/>
            <a:ext cx="12861036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목표 재무 성과 및 핵심 마일스톤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2741463"/>
            <a:ext cx="12861036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 3.2배 성장과 고객 획득 비용(CAC) 45% 절감을 통한 영업이익률 28.4% 달성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376331"/>
            <a:ext cx="3594049" cy="2027499"/>
          </a:xfrm>
          <a:prstGeom prst="roundRect">
            <a:avLst>
              <a:gd name="adj" fmla="val 6576"/>
            </a:avLst>
          </a:prstGeom>
          <a:solidFill>
            <a:srgbClr val="111A2E"/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3376331"/>
            <a:ext cx="3594049" cy="2862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4137020" y="3376331"/>
            <a:ext cx="9510" cy="202749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5394320"/>
            <a:ext cx="359404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3376331"/>
            <a:ext cx="9510" cy="202749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25650" y="3595421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78009" y="3560856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519013" y="3899276"/>
            <a:ext cx="3660892" cy="77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90"/>
              </a:lnSpc>
              <a:buNone/>
            </a:pPr>
            <a:r>
              <a:rPr lang="en-US" sz="6090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$12.5M</a:t>
            </a:r>
            <a:endParaRPr lang="en-US" sz="6090" dirty="0"/>
          </a:p>
        </p:txBody>
      </p:sp>
      <p:sp>
        <p:nvSpPr>
          <p:cNvPr id="14" name="Text 12"/>
          <p:cNvSpPr txBox="1"/>
          <p:nvPr/>
        </p:nvSpPr>
        <p:spPr>
          <a:xfrm>
            <a:off x="519013" y="4728454"/>
            <a:ext cx="366089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36"/>
              </a:lnSpc>
              <a:buNone/>
            </a:pPr>
            <a:r>
              <a:rPr lang="en-US" sz="12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반복 매출 (ARR)</a:t>
            </a:r>
            <a:endParaRPr lang="en-US" sz="1224" dirty="0"/>
          </a:p>
        </p:txBody>
      </p:sp>
      <p:sp>
        <p:nvSpPr>
          <p:cNvPr id="15" name="Text 13"/>
          <p:cNvSpPr txBox="1"/>
          <p:nvPr/>
        </p:nvSpPr>
        <p:spPr>
          <a:xfrm>
            <a:off x="519013" y="5020056"/>
            <a:ext cx="366089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북미 및 일본 엔터프라이즈 고객사 120개사 확보 목표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298960" y="3376331"/>
            <a:ext cx="3594049" cy="2027499"/>
          </a:xfrm>
          <a:prstGeom prst="roundRect">
            <a:avLst>
              <a:gd name="adj" fmla="val 6576"/>
            </a:avLst>
          </a:prstGeom>
          <a:solidFill>
            <a:srgbClr val="11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8960" y="3376331"/>
            <a:ext cx="3594049" cy="2862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883500" y="3376331"/>
            <a:ext cx="9510" cy="202749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98960" y="5394320"/>
            <a:ext cx="359404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98960" y="3376331"/>
            <a:ext cx="9510" cy="202749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71946" y="3595421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24398" y="3560856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3" name="Text 21"/>
          <p:cNvSpPr txBox="1"/>
          <p:nvPr/>
        </p:nvSpPr>
        <p:spPr>
          <a:xfrm>
            <a:off x="4265493" y="3899276"/>
            <a:ext cx="3660892" cy="77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90"/>
              </a:lnSpc>
              <a:buNone/>
            </a:pPr>
            <a:r>
              <a:rPr lang="en-US" sz="6090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142%</a:t>
            </a:r>
            <a:endParaRPr lang="en-US" sz="6090" dirty="0"/>
          </a:p>
        </p:txBody>
      </p:sp>
      <p:sp>
        <p:nvSpPr>
          <p:cNvPr id="24" name="Text 22"/>
          <p:cNvSpPr txBox="1"/>
          <p:nvPr/>
        </p:nvSpPr>
        <p:spPr>
          <a:xfrm>
            <a:off x="4265493" y="4728454"/>
            <a:ext cx="366089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36"/>
              </a:lnSpc>
              <a:buNone/>
            </a:pPr>
            <a:r>
              <a:rPr lang="en-US" sz="12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 유지율 (NRR)</a:t>
            </a:r>
            <a:endParaRPr lang="en-US" sz="1224" dirty="0"/>
          </a:p>
        </p:txBody>
      </p:sp>
      <p:sp>
        <p:nvSpPr>
          <p:cNvPr id="25" name="Text 23"/>
          <p:cNvSpPr txBox="1"/>
          <p:nvPr/>
        </p:nvSpPr>
        <p:spPr>
          <a:xfrm>
            <a:off x="4265493" y="5020056"/>
            <a:ext cx="366089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확장(Upsell) 및 크로스셀을 통한 LTV 극대화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045348" y="3376331"/>
            <a:ext cx="3594141" cy="2027499"/>
          </a:xfrm>
          <a:prstGeom prst="roundRect">
            <a:avLst>
              <a:gd name="adj" fmla="val 6576"/>
            </a:avLst>
          </a:prstGeom>
          <a:solidFill>
            <a:srgbClr val="11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5348" y="3376331"/>
            <a:ext cx="3594141" cy="2862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30071" y="3376331"/>
            <a:ext cx="9510" cy="202749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45348" y="5394320"/>
            <a:ext cx="3594141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45348" y="3376331"/>
            <a:ext cx="9510" cy="202749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18609" y="3595421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71060" y="3560856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33" name="Text 31"/>
          <p:cNvSpPr txBox="1"/>
          <p:nvPr/>
        </p:nvSpPr>
        <p:spPr>
          <a:xfrm>
            <a:off x="8011973" y="3899276"/>
            <a:ext cx="3660983" cy="77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90"/>
              </a:lnSpc>
              <a:buNone/>
            </a:pPr>
            <a:r>
              <a:rPr lang="en-US" sz="6090" b="1" spc="-54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28.4%</a:t>
            </a:r>
            <a:endParaRPr lang="en-US" sz="6090" dirty="0"/>
          </a:p>
        </p:txBody>
      </p:sp>
      <p:sp>
        <p:nvSpPr>
          <p:cNvPr id="34" name="Text 32"/>
          <p:cNvSpPr txBox="1"/>
          <p:nvPr/>
        </p:nvSpPr>
        <p:spPr>
          <a:xfrm>
            <a:off x="8011973" y="4728454"/>
            <a:ext cx="366098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36"/>
              </a:lnSpc>
              <a:buNone/>
            </a:pPr>
            <a:r>
              <a:rPr lang="en-US" sz="12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영업이익률</a:t>
            </a:r>
            <a:endParaRPr lang="en-US" sz="1224" dirty="0"/>
          </a:p>
        </p:txBody>
      </p:sp>
      <p:sp>
        <p:nvSpPr>
          <p:cNvPr id="35" name="Text 33"/>
          <p:cNvSpPr txBox="1"/>
          <p:nvPr/>
        </p:nvSpPr>
        <p:spPr>
          <a:xfrm>
            <a:off x="8011973" y="5020056"/>
            <a:ext cx="36609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자동화 파이프라인 도입을 통한 마진 구조 개선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1353769"/>
            <a:ext cx="1687982" cy="418521"/>
          </a:xfrm>
          <a:prstGeom prst="roundRect">
            <a:avLst>
              <a:gd name="adj" fmla="val 5001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1396929"/>
            <a:ext cx="1533540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GTM FUNNEL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848460"/>
            <a:ext cx="11993088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시장 공략을 위한 3단계 세일즈 퍼널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622133"/>
            <a:ext cx="11993088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발굴부터 유료 전환, 계정 확장까지 체계화된 B2B 파이프라인을 가동합니다.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257001"/>
            <a:ext cx="3594049" cy="2266158"/>
          </a:xfrm>
          <a:prstGeom prst="roundRect">
            <a:avLst>
              <a:gd name="adj" fmla="val 5883"/>
            </a:avLst>
          </a:prstGeom>
          <a:solidFill>
            <a:srgbClr val="111A2E"/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3257001"/>
            <a:ext cx="3594049" cy="2862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4137020" y="3257001"/>
            <a:ext cx="9510" cy="226615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5513649"/>
            <a:ext cx="359404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3257001"/>
            <a:ext cx="9510" cy="226615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1571" y="347609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1970" y="3441436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752460" y="3797595"/>
            <a:ext cx="3427446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1: Inbound Lead</a:t>
            </a:r>
            <a:endParaRPr lang="en-US" sz="1224" dirty="0"/>
          </a:p>
        </p:txBody>
      </p:sp>
      <p:sp>
        <p:nvSpPr>
          <p:cNvPr id="14" name="Text 12"/>
          <p:cNvSpPr txBox="1"/>
          <p:nvPr/>
        </p:nvSpPr>
        <p:spPr>
          <a:xfrm>
            <a:off x="904890" y="4137934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백서 및 솔루션 데모 배포</a:t>
            </a:r>
            <a:endParaRPr lang="en-US" sz="1740" dirty="0"/>
          </a:p>
        </p:txBody>
      </p:sp>
      <p:sp>
        <p:nvSpPr>
          <p:cNvPr id="15" name="Text 13"/>
          <p:cNvSpPr txBox="1"/>
          <p:nvPr/>
        </p:nvSpPr>
        <p:spPr>
          <a:xfrm>
            <a:off x="904890" y="4535607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컨퍼런스 스폰서십 참여</a:t>
            </a:r>
            <a:endParaRPr lang="en-US" sz="1740" dirty="0"/>
          </a:p>
        </p:txBody>
      </p:sp>
      <p:sp>
        <p:nvSpPr>
          <p:cNvPr id="16" name="Text 14"/>
          <p:cNvSpPr txBox="1"/>
          <p:nvPr/>
        </p:nvSpPr>
        <p:spPr>
          <a:xfrm>
            <a:off x="904890" y="4933279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450+ 검증된 리드(MQL) 확보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4298960" y="3257001"/>
            <a:ext cx="3594049" cy="2266158"/>
          </a:xfrm>
          <a:prstGeom prst="roundRect">
            <a:avLst>
              <a:gd name="adj" fmla="val 5883"/>
            </a:avLst>
          </a:prstGeom>
          <a:solidFill>
            <a:srgbClr val="11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8960" y="3257001"/>
            <a:ext cx="3594049" cy="2862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883500" y="3257001"/>
            <a:ext cx="9510" cy="226615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98960" y="5513649"/>
            <a:ext cx="359404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98960" y="3257001"/>
            <a:ext cx="9510" cy="226615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17959" y="347609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08449" y="3441436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4" name="Text 22"/>
          <p:cNvSpPr txBox="1"/>
          <p:nvPr/>
        </p:nvSpPr>
        <p:spPr>
          <a:xfrm>
            <a:off x="4498939" y="3797595"/>
            <a:ext cx="3427446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2: Fast-Track PoC</a:t>
            </a:r>
            <a:endParaRPr lang="en-US" sz="1224" dirty="0"/>
          </a:p>
        </p:txBody>
      </p:sp>
      <p:sp>
        <p:nvSpPr>
          <p:cNvPr id="25" name="Text 23"/>
          <p:cNvSpPr txBox="1"/>
          <p:nvPr/>
        </p:nvSpPr>
        <p:spPr>
          <a:xfrm>
            <a:off x="4651370" y="4137934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완성 맞춤형 프로토타입 검증</a:t>
            </a:r>
            <a:endParaRPr lang="en-US" sz="1740" dirty="0"/>
          </a:p>
        </p:txBody>
      </p:sp>
      <p:sp>
        <p:nvSpPr>
          <p:cNvPr id="26" name="Text 24"/>
          <p:cNvSpPr txBox="1"/>
          <p:nvPr/>
        </p:nvSpPr>
        <p:spPr>
          <a:xfrm>
            <a:off x="4651370" y="4535607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전담 솔루션 아키텍트 밀착 기술지원</a:t>
            </a:r>
            <a:endParaRPr lang="en-US" sz="1740" dirty="0"/>
          </a:p>
        </p:txBody>
      </p:sp>
      <p:sp>
        <p:nvSpPr>
          <p:cNvPr id="27" name="Text 25"/>
          <p:cNvSpPr txBox="1"/>
          <p:nvPr/>
        </p:nvSpPr>
        <p:spPr>
          <a:xfrm>
            <a:off x="4651370" y="4933279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완료 후 본 계약 전환율 65%</a:t>
            </a:r>
            <a:endParaRPr lang="en-US" sz="1740" dirty="0"/>
          </a:p>
        </p:txBody>
      </p:sp>
      <p:sp>
        <p:nvSpPr>
          <p:cNvPr id="28" name="Shape 26"/>
          <p:cNvSpPr/>
          <p:nvPr/>
        </p:nvSpPr>
        <p:spPr>
          <a:xfrm>
            <a:off x="8045348" y="3257001"/>
            <a:ext cx="3594141" cy="2266158"/>
          </a:xfrm>
          <a:prstGeom prst="roundRect">
            <a:avLst>
              <a:gd name="adj" fmla="val 5883"/>
            </a:avLst>
          </a:prstGeom>
          <a:solidFill>
            <a:srgbClr val="11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5348" y="3257001"/>
            <a:ext cx="3594141" cy="2862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30071" y="3257001"/>
            <a:ext cx="9510" cy="226615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45348" y="5513649"/>
            <a:ext cx="3594141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45348" y="3257001"/>
            <a:ext cx="9510" cy="226615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64439" y="347609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54929" y="3441436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35" name="Text 33"/>
          <p:cNvSpPr txBox="1"/>
          <p:nvPr/>
        </p:nvSpPr>
        <p:spPr>
          <a:xfrm>
            <a:off x="8245419" y="3797595"/>
            <a:ext cx="3427537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3: Land &amp; Expand</a:t>
            </a:r>
            <a:endParaRPr lang="en-US" sz="1224" dirty="0"/>
          </a:p>
        </p:txBody>
      </p:sp>
      <p:sp>
        <p:nvSpPr>
          <p:cNvPr id="36" name="Text 34"/>
          <p:cNvSpPr txBox="1"/>
          <p:nvPr/>
        </p:nvSpPr>
        <p:spPr>
          <a:xfrm>
            <a:off x="8397850" y="4137934"/>
            <a:ext cx="3262945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부서 단위 라이선스 확장</a:t>
            </a:r>
            <a:endParaRPr lang="en-US" sz="1740" dirty="0"/>
          </a:p>
        </p:txBody>
      </p:sp>
      <p:sp>
        <p:nvSpPr>
          <p:cNvPr id="37" name="Text 35"/>
          <p:cNvSpPr txBox="1"/>
          <p:nvPr/>
        </p:nvSpPr>
        <p:spPr>
          <a:xfrm>
            <a:off x="8397850" y="4535607"/>
            <a:ext cx="3262945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계약 전환 시 다년 할인 제공</a:t>
            </a:r>
            <a:endParaRPr lang="en-US" sz="1740" dirty="0"/>
          </a:p>
        </p:txBody>
      </p:sp>
      <p:sp>
        <p:nvSpPr>
          <p:cNvPr id="38" name="Text 36"/>
          <p:cNvSpPr txBox="1"/>
          <p:nvPr/>
        </p:nvSpPr>
        <p:spPr>
          <a:xfrm>
            <a:off x="8397850" y="4933279"/>
            <a:ext cx="3262945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계약 규모(ACV) 2.4배 증대</a:t>
            </a:r>
            <a:endParaRPr lang="en-US" sz="1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0064" y="1787561"/>
            <a:ext cx="2211934" cy="418521"/>
          </a:xfrm>
          <a:prstGeom prst="roundRect">
            <a:avLst>
              <a:gd name="adj" fmla="val 5001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78817" y="1830812"/>
            <a:ext cx="2234336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ECONOMICS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2282160"/>
            <a:ext cx="12861036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 지표 개선 및 투자 대비 성과 (ROI)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3056016"/>
            <a:ext cx="12861036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자동화 및 고객 성공(CS) 프로세스 내재화로 고수익성 비즈니스 모델 완성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690793"/>
            <a:ext cx="5467380" cy="1398575"/>
          </a:xfrm>
          <a:prstGeom prst="roundRect">
            <a:avLst>
              <a:gd name="adj" fmla="val 9533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2460" y="3886932"/>
            <a:ext cx="545055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고객 획득 및 회수 기간 (Payback)</a:t>
            </a:r>
            <a:endParaRPr lang="en-US" sz="1140" dirty="0"/>
          </a:p>
        </p:txBody>
      </p:sp>
      <p:sp>
        <p:nvSpPr>
          <p:cNvPr id="8" name="Text 6"/>
          <p:cNvSpPr txBox="1"/>
          <p:nvPr/>
        </p:nvSpPr>
        <p:spPr>
          <a:xfrm>
            <a:off x="904890" y="4220596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획득 비용(CAC):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$14.5K ➔ $7.9K (45% 절감)</a:t>
            </a:r>
            <a:endParaRPr lang="en-US" sz="936" dirty="0"/>
          </a:p>
        </p:txBody>
      </p:sp>
      <p:sp>
        <p:nvSpPr>
          <p:cNvPr id="9" name="Text 7"/>
          <p:cNvSpPr txBox="1"/>
          <p:nvPr/>
        </p:nvSpPr>
        <p:spPr>
          <a:xfrm>
            <a:off x="904890" y="4442978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 투자금 회수 기간: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14개월 ➔ 6.5개월 단축</a:t>
            </a:r>
            <a:endParaRPr lang="en-US" sz="936" dirty="0"/>
          </a:p>
        </p:txBody>
      </p:sp>
      <p:sp>
        <p:nvSpPr>
          <p:cNvPr id="10" name="Text 8"/>
          <p:cNvSpPr txBox="1"/>
          <p:nvPr/>
        </p:nvSpPr>
        <p:spPr>
          <a:xfrm>
            <a:off x="904890" y="4665360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리드 타임: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45일 내 본 계약 체결</a:t>
            </a:r>
            <a:endParaRPr lang="en-US" sz="936" dirty="0"/>
          </a:p>
        </p:txBody>
      </p:sp>
      <p:sp>
        <p:nvSpPr>
          <p:cNvPr id="11" name="Shape 9"/>
          <p:cNvSpPr/>
          <p:nvPr/>
        </p:nvSpPr>
        <p:spPr>
          <a:xfrm>
            <a:off x="6172200" y="3690793"/>
            <a:ext cx="5467380" cy="1398575"/>
          </a:xfrm>
          <a:prstGeom prst="roundRect">
            <a:avLst>
              <a:gd name="adj" fmla="val 9533"/>
            </a:avLst>
          </a:prstGeom>
          <a:solidFill>
            <a:srgbClr val="111A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2271" y="3886932"/>
            <a:ext cx="545055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고객 생애 가치 (LTV / CAC Ratio)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524610" y="4220596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생애 가치(LTV):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$38,000 달성</a:t>
            </a:r>
            <a:endParaRPr lang="en-US" sz="936" dirty="0"/>
          </a:p>
        </p:txBody>
      </p:sp>
      <p:sp>
        <p:nvSpPr>
          <p:cNvPr id="14" name="Text 12"/>
          <p:cNvSpPr txBox="1"/>
          <p:nvPr/>
        </p:nvSpPr>
        <p:spPr>
          <a:xfrm>
            <a:off x="6524610" y="4442978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LTV / CAC 비율: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4.8x (SaaS 벤치마크 3.0x 상회)</a:t>
            </a:r>
            <a:endParaRPr lang="en-US" sz="936" dirty="0"/>
          </a:p>
        </p:txBody>
      </p:sp>
      <p:sp>
        <p:nvSpPr>
          <p:cNvPr id="15" name="Text 13"/>
          <p:cNvSpPr txBox="1"/>
          <p:nvPr/>
        </p:nvSpPr>
        <p:spPr>
          <a:xfrm>
            <a:off x="6524610" y="4665360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로고 이탈률(Churn):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1.8% 미만 극저치 유지</a:t>
            </a:r>
            <a:endParaRPr lang="en-US" sz="93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804306"/>
            <a:ext cx="2733690" cy="418521"/>
          </a:xfrm>
          <a:prstGeom prst="roundRect">
            <a:avLst>
              <a:gd name="adj" fmla="val 5001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847466"/>
            <a:ext cx="2662824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298905"/>
            <a:ext cx="11993088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및 질의응답 (Q&amp;A)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072670"/>
            <a:ext cx="11993088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차별화된 제품 경쟁력과 실행력을 바탕으로 2026년 목표 ARR $12.5M을 달성하겠습니다.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2631277"/>
            <a:ext cx="6029919" cy="669707"/>
          </a:xfrm>
          <a:prstGeom prst="roundRect">
            <a:avLst>
              <a:gd name="adj" fmla="val 19907"/>
            </a:avLst>
          </a:prstGeom>
          <a:solidFill>
            <a:srgbClr val="111A2E"/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2631277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72799" y="2631277"/>
            <a:ext cx="9510" cy="66970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3291474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2631277"/>
            <a:ext cx="28621" cy="66970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421" y="2754721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글로벌 엔터프라이즈 GTM 선점</a:t>
            </a:r>
            <a:endParaRPr lang="en-US" sz="1104" dirty="0"/>
          </a:p>
        </p:txBody>
      </p:sp>
      <p:sp>
        <p:nvSpPr>
          <p:cNvPr id="12" name="Text 10"/>
          <p:cNvSpPr txBox="1"/>
          <p:nvPr/>
        </p:nvSpPr>
        <p:spPr>
          <a:xfrm>
            <a:off x="714421" y="2997586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북미 및 일본 거점 120개 고객사 확보로 ARR 3.2배 견인</a:t>
            </a:r>
            <a:endParaRPr lang="en-US" sz="912" dirty="0"/>
          </a:p>
        </p:txBody>
      </p:sp>
      <p:sp>
        <p:nvSpPr>
          <p:cNvPr id="13" name="Shape 11"/>
          <p:cNvSpPr/>
          <p:nvPr/>
        </p:nvSpPr>
        <p:spPr>
          <a:xfrm>
            <a:off x="552480" y="3396264"/>
            <a:ext cx="6029919" cy="669707"/>
          </a:xfrm>
          <a:prstGeom prst="roundRect">
            <a:avLst>
              <a:gd name="adj" fmla="val 19907"/>
            </a:avLst>
          </a:prstGeom>
          <a:solidFill>
            <a:srgbClr val="11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480" y="3396264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72799" y="3396264"/>
            <a:ext cx="9510" cy="66970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2480" y="4056370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2480" y="3396264"/>
            <a:ext cx="28621" cy="66970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4421" y="3519708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유닛 이코노믹스 고도화</a:t>
            </a:r>
            <a:endParaRPr lang="en-US" sz="1104" dirty="0"/>
          </a:p>
        </p:txBody>
      </p:sp>
      <p:sp>
        <p:nvSpPr>
          <p:cNvPr id="19" name="Text 17"/>
          <p:cNvSpPr txBox="1"/>
          <p:nvPr/>
        </p:nvSpPr>
        <p:spPr>
          <a:xfrm>
            <a:off x="714421" y="3762573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 45% 절감 및 LTV/CAC 4.8x 달성으로 영업이익률 28.4% 확보</a:t>
            </a:r>
            <a:endParaRPr lang="en-US" sz="912" dirty="0"/>
          </a:p>
        </p:txBody>
      </p:sp>
      <p:sp>
        <p:nvSpPr>
          <p:cNvPr id="20" name="Shape 18"/>
          <p:cNvSpPr/>
          <p:nvPr/>
        </p:nvSpPr>
        <p:spPr>
          <a:xfrm>
            <a:off x="552480" y="4161252"/>
            <a:ext cx="6029919" cy="669707"/>
          </a:xfrm>
          <a:prstGeom prst="roundRect">
            <a:avLst>
              <a:gd name="adj" fmla="val 19907"/>
            </a:avLst>
          </a:prstGeom>
          <a:solidFill>
            <a:srgbClr val="11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480" y="4161252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72799" y="4161252"/>
            <a:ext cx="9510" cy="66970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52480" y="4821448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2480" y="4161252"/>
            <a:ext cx="28621" cy="66970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421" y="4284696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지속 가능한 NRR 142% 달성</a:t>
            </a:r>
            <a:endParaRPr lang="en-US" sz="1104" dirty="0"/>
          </a:p>
        </p:txBody>
      </p:sp>
      <p:sp>
        <p:nvSpPr>
          <p:cNvPr id="26" name="Text 24"/>
          <p:cNvSpPr txBox="1"/>
          <p:nvPr/>
        </p:nvSpPr>
        <p:spPr>
          <a:xfrm>
            <a:off x="714421" y="4527560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단위 확장 및 크로스셀 파이프라인으로 장기 락인 효과 극대화</a:t>
            </a:r>
            <a:endParaRPr lang="en-US" sz="912" dirty="0"/>
          </a:p>
        </p:txBody>
      </p:sp>
      <p:sp>
        <p:nvSpPr>
          <p:cNvPr id="27" name="Shape 25"/>
          <p:cNvSpPr/>
          <p:nvPr/>
        </p:nvSpPr>
        <p:spPr>
          <a:xfrm>
            <a:off x="6772869" y="2631277"/>
            <a:ext cx="4866711" cy="3441344"/>
          </a:xfrm>
          <a:prstGeom prst="roundRect">
            <a:avLst>
              <a:gd name="adj" fmla="val 3874"/>
            </a:avLst>
          </a:prstGeom>
          <a:solidFill>
            <a:srgbClr val="111A2E"/>
          </a:solidFill>
          <a:ln w="9525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53829" y="2810774"/>
            <a:ext cx="4843028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125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DISCUSSION</a:t>
            </a:r>
            <a:endParaRPr lang="en-US" sz="1566" dirty="0"/>
          </a:p>
        </p:txBody>
      </p:sp>
      <p:sp>
        <p:nvSpPr>
          <p:cNvPr id="29" name="Text 27"/>
          <p:cNvSpPr txBox="1"/>
          <p:nvPr/>
        </p:nvSpPr>
        <p:spPr>
          <a:xfrm>
            <a:off x="6953829" y="3127522"/>
            <a:ext cx="4843028" cy="546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7"/>
              </a:lnSpc>
              <a:buNone/>
            </a:pPr>
            <a:r>
              <a:rPr lang="en-US" sz="3915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915" dirty="0"/>
          </a:p>
        </p:txBody>
      </p:sp>
      <p:sp>
        <p:nvSpPr>
          <p:cNvPr id="30" name="Text 28"/>
          <p:cNvSpPr txBox="1"/>
          <p:nvPr/>
        </p:nvSpPr>
        <p:spPr>
          <a:xfrm>
            <a:off x="6953829" y="3730478"/>
            <a:ext cx="4504792" cy="603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사업화 전략 및 재무 실행 계획에 대한 질의응답을 진행합니다.</a:t>
            </a:r>
            <a:endParaRPr lang="en-US" sz="1697" dirty="0"/>
          </a:p>
        </p:txBody>
      </p:sp>
      <p:sp>
        <p:nvSpPr>
          <p:cNvPr id="31" name="Shape 29"/>
          <p:cNvSpPr/>
          <p:nvPr/>
        </p:nvSpPr>
        <p:spPr>
          <a:xfrm>
            <a:off x="6972849" y="4432280"/>
            <a:ext cx="4466661" cy="951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53829" y="4529480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STRATEGY DIVISION</a:t>
            </a:r>
            <a:endParaRPr lang="en-US" sz="1479" dirty="0"/>
          </a:p>
        </p:txBody>
      </p:sp>
      <p:sp>
        <p:nvSpPr>
          <p:cNvPr id="33" name="Text 31"/>
          <p:cNvSpPr txBox="1"/>
          <p:nvPr/>
        </p:nvSpPr>
        <p:spPr>
          <a:xfrm>
            <a:off x="6953829" y="4830501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b="1" spc="-54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 / 전략기획실</a:t>
            </a:r>
            <a:endParaRPr lang="en-US" sz="1827" dirty="0"/>
          </a:p>
        </p:txBody>
      </p:sp>
      <p:sp>
        <p:nvSpPr>
          <p:cNvPr id="34" name="Text 32"/>
          <p:cNvSpPr txBox="1"/>
          <p:nvPr/>
        </p:nvSpPr>
        <p:spPr>
          <a:xfrm>
            <a:off x="6953829" y="5235397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CONTACT</a:t>
            </a:r>
            <a:endParaRPr lang="en-US" sz="1479" dirty="0"/>
          </a:p>
        </p:txBody>
      </p:sp>
      <p:sp>
        <p:nvSpPr>
          <p:cNvPr id="35" name="Text 33"/>
          <p:cNvSpPr txBox="1"/>
          <p:nvPr/>
        </p:nvSpPr>
        <p:spPr>
          <a:xfrm>
            <a:off x="6953829" y="5536418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strategy@enterprise.com</a:t>
            </a:r>
            <a:endParaRPr lang="en-US" sz="18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Template_Business_Clean_Navy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2026-09-06T13:28:56Z</dcterms:created>
  <dcterms:modified xsi:type="dcterms:W3CDTF">2026-09-06T13:28:56Z</dcterms:modified>
</cp:coreProperties>
</file>