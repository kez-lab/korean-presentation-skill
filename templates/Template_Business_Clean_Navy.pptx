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[전략 보고 오프닝] 2026년 글로벌 B2B 시장 확대를 위한 사업화 전략과 실행 계획을 보고드립니다.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[목차 보고] 시장 기회 분석부터 재무적 실행 계획까지 4개 핵심 파트로 나누어 보고드립니다.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[핵심 지표] ARR 1,250만 달러, NRR 142%, 영업이익률 28.4% 달성을 핵심 목표로 설정하였습니다.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[GTM 전략] 3단계 퍼널을 통해 PoC 전환율 65%와 계정 확장을 가속화합니다.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[유닛 이코노믹스] CAC 회수 기간 6.5개월과 LTV/CAC 4.8배 달성으로 높은 수익성을 확보했습니다.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[마무리 보고] 3대 핵심 실행 과제를 요약하며 보고를 마칩니다. 질문해 주시면 답변드리겠습니다. 경청해 주셔서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8B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2480" y="438180"/>
            <a:ext cx="3345424" cy="418521"/>
          </a:xfrm>
          <a:prstGeom prst="roundRect">
            <a:avLst>
              <a:gd name="adj" fmla="val 50011"/>
            </a:avLst>
          </a:prstGeom>
          <a:solidFill>
            <a:srgbClr val="F59E0B">
              <a:alpha val="15000"/>
            </a:srgbClr>
          </a:solidFill>
          <a:ln w="9525">
            <a:solidFill>
              <a:srgbClr val="F59E0B">
                <a:alpha val="3500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76290" y="481432"/>
            <a:ext cx="3323570" cy="323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45"/>
              </a:lnSpc>
              <a:buNone/>
            </a:pPr>
            <a:r>
              <a:rPr lang="en-US" sz="1697" b="1" spc="34" kern="0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STRATEGIC INITIATIVE</a:t>
            </a:r>
            <a:endParaRPr lang="en-US" sz="1697" dirty="0"/>
          </a:p>
        </p:txBody>
      </p:sp>
      <p:sp>
        <p:nvSpPr>
          <p:cNvPr id="4" name="Text 2"/>
          <p:cNvSpPr txBox="1"/>
          <p:nvPr/>
        </p:nvSpPr>
        <p:spPr>
          <a:xfrm>
            <a:off x="533370" y="1040679"/>
            <a:ext cx="11125230" cy="1682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626"/>
              </a:lnSpc>
              <a:buNone/>
            </a:pPr>
            <a:r>
              <a:rPr lang="en-US" sz="5177" b="1" spc="-155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글로벌 엔터프라이즈 B2B 시장 확대를 위한</a:t>
            </a:r>
            <a:pPr algn="l" indent="0" marL="0">
              <a:lnSpc>
                <a:spcPts val="6626"/>
              </a:lnSpc>
              <a:buNone/>
            </a:pPr>
            <a:endParaRPr lang="en-US" sz="5177" dirty="0"/>
          </a:p>
          <a:p>
            <a:pPr algn="l" indent="0" marL="0">
              <a:lnSpc>
                <a:spcPts val="6626"/>
              </a:lnSpc>
              <a:buNone/>
            </a:pPr>
            <a:r>
              <a:rPr lang="en-US" sz="5177" b="1" spc="-155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5177" dirty="0"/>
          </a:p>
          <a:p>
            <a:pPr algn="l" indent="0" marL="0">
              <a:lnSpc>
                <a:spcPts val="6626"/>
              </a:lnSpc>
              <a:buNone/>
            </a:pPr>
            <a:r>
              <a:rPr lang="en-US" sz="5177" b="1" spc="-155" kern="0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솔루션 사업화 및 성장 전략</a:t>
            </a:r>
            <a:endParaRPr lang="en-US" sz="5177" dirty="0"/>
          </a:p>
        </p:txBody>
      </p:sp>
      <p:sp>
        <p:nvSpPr>
          <p:cNvPr id="5" name="Text 3"/>
          <p:cNvSpPr txBox="1"/>
          <p:nvPr/>
        </p:nvSpPr>
        <p:spPr>
          <a:xfrm>
            <a:off x="533370" y="3032425"/>
            <a:ext cx="11993088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16"/>
              </a:lnSpc>
              <a:buNone/>
            </a:pPr>
            <a:r>
              <a:rPr lang="en-US" sz="1344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수익성 극대화와 리텐션 강화를 위한 3대 핵심 로드맵 및 재무적 실행 계획</a:t>
            </a:r>
            <a:endParaRPr lang="en-US" sz="1344" dirty="0"/>
          </a:p>
        </p:txBody>
      </p:sp>
      <p:sp>
        <p:nvSpPr>
          <p:cNvPr id="6" name="Shape 4"/>
          <p:cNvSpPr/>
          <p:nvPr/>
        </p:nvSpPr>
        <p:spPr>
          <a:xfrm>
            <a:off x="552480" y="5153284"/>
            <a:ext cx="3818992" cy="1285555"/>
          </a:xfrm>
          <a:prstGeom prst="roundRect">
            <a:avLst>
              <a:gd name="adj" fmla="val 8891"/>
            </a:avLst>
          </a:prstGeom>
          <a:solidFill>
            <a:srgbClr val="111A2E"/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4421" y="5457139"/>
            <a:ext cx="3752606" cy="2900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23" b="1" spc="76" kern="0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DIVISION &amp; OWNER</a:t>
            </a:r>
            <a:endParaRPr lang="en-US" sz="1523" dirty="0"/>
          </a:p>
        </p:txBody>
      </p:sp>
      <p:sp>
        <p:nvSpPr>
          <p:cNvPr id="8" name="Text 6"/>
          <p:cNvSpPr txBox="1"/>
          <p:nvPr/>
        </p:nvSpPr>
        <p:spPr>
          <a:xfrm>
            <a:off x="714421" y="5766938"/>
            <a:ext cx="3752606" cy="3646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71"/>
              </a:lnSpc>
              <a:buNone/>
            </a:pPr>
            <a:r>
              <a:rPr lang="en-US" sz="1914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경영전략본부 / 전략기획실</a:t>
            </a:r>
            <a:endParaRPr lang="en-US" sz="1914" dirty="0"/>
          </a:p>
        </p:txBody>
      </p:sp>
      <p:sp>
        <p:nvSpPr>
          <p:cNvPr id="9" name="Shape 7"/>
          <p:cNvSpPr/>
          <p:nvPr/>
        </p:nvSpPr>
        <p:spPr>
          <a:xfrm>
            <a:off x="4504792" y="5153284"/>
            <a:ext cx="3182386" cy="1285555"/>
          </a:xfrm>
          <a:prstGeom prst="roundRect">
            <a:avLst>
              <a:gd name="adj" fmla="val 8891"/>
            </a:avLst>
          </a:prstGeom>
          <a:solidFill>
            <a:srgbClr val="111A2E"/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6640" y="5275082"/>
            <a:ext cx="3065160" cy="2900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23" b="1" spc="76" kern="0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REPORT DATE</a:t>
            </a:r>
            <a:endParaRPr lang="en-US" sz="1523" dirty="0"/>
          </a:p>
        </p:txBody>
      </p:sp>
      <p:sp>
        <p:nvSpPr>
          <p:cNvPr id="11" name="Text 9"/>
          <p:cNvSpPr txBox="1"/>
          <p:nvPr/>
        </p:nvSpPr>
        <p:spPr>
          <a:xfrm>
            <a:off x="4666640" y="5584698"/>
            <a:ext cx="2858506" cy="7292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71"/>
              </a:lnSpc>
              <a:buNone/>
            </a:pPr>
            <a:r>
              <a:rPr lang="en-US" sz="1914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2026.08 • Q3 Executive Review</a:t>
            </a:r>
            <a:endParaRPr lang="en-US" sz="1914" dirty="0"/>
          </a:p>
        </p:txBody>
      </p:sp>
      <p:sp>
        <p:nvSpPr>
          <p:cNvPr id="12" name="Shape 10"/>
          <p:cNvSpPr/>
          <p:nvPr/>
        </p:nvSpPr>
        <p:spPr>
          <a:xfrm>
            <a:off x="7820497" y="5153284"/>
            <a:ext cx="3819083" cy="1285555"/>
          </a:xfrm>
          <a:prstGeom prst="roundRect">
            <a:avLst>
              <a:gd name="adj" fmla="val 8891"/>
            </a:avLst>
          </a:prstGeom>
          <a:solidFill>
            <a:srgbClr val="111A2E"/>
          </a:solidFill>
          <a:ln w="9525">
            <a:solidFill>
              <a:srgbClr val="F59E0B">
                <a:alpha val="3500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982438" y="5457139"/>
            <a:ext cx="3752698" cy="2900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23" b="1" spc="76" kern="0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CONFIDENTIALITY</a:t>
            </a:r>
            <a:endParaRPr lang="en-US" sz="1523" dirty="0"/>
          </a:p>
        </p:txBody>
      </p:sp>
      <p:sp>
        <p:nvSpPr>
          <p:cNvPr id="14" name="Text 12"/>
          <p:cNvSpPr txBox="1"/>
          <p:nvPr/>
        </p:nvSpPr>
        <p:spPr>
          <a:xfrm>
            <a:off x="7982438" y="5766938"/>
            <a:ext cx="3752698" cy="3646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71"/>
              </a:lnSpc>
              <a:buNone/>
            </a:pPr>
            <a:r>
              <a:rPr lang="en-US" sz="1914" b="1" spc="-54" kern="0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대외비 (Confidential)</a:t>
            </a:r>
            <a:endParaRPr lang="en-US" sz="1914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8B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2480" y="1638330"/>
            <a:ext cx="2428555" cy="418521"/>
          </a:xfrm>
          <a:prstGeom prst="roundRect">
            <a:avLst>
              <a:gd name="adj" fmla="val 50011"/>
            </a:avLst>
          </a:prstGeom>
          <a:solidFill>
            <a:srgbClr val="F59E0B">
              <a:alpha val="15000"/>
            </a:srgbClr>
          </a:solidFill>
          <a:ln w="9525">
            <a:solidFill>
              <a:srgbClr val="F59E0B">
                <a:alpha val="3500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76290" y="1681490"/>
            <a:ext cx="2333274" cy="323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45"/>
              </a:lnSpc>
              <a:buNone/>
            </a:pPr>
            <a:r>
              <a:rPr lang="en-US" sz="1697" b="1" spc="34" kern="0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STRATEGY AGENDA</a:t>
            </a:r>
            <a:endParaRPr lang="en-US" sz="1697" dirty="0"/>
          </a:p>
        </p:txBody>
      </p:sp>
      <p:sp>
        <p:nvSpPr>
          <p:cNvPr id="4" name="Text 2"/>
          <p:cNvSpPr txBox="1"/>
          <p:nvPr/>
        </p:nvSpPr>
        <p:spPr>
          <a:xfrm>
            <a:off x="533370" y="2188982"/>
            <a:ext cx="2693640" cy="6215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94"/>
              </a:lnSpc>
              <a:buNone/>
            </a:pPr>
            <a:r>
              <a:rPr lang="en-US" sz="3263" b="1" spc="261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ROADMAP</a:t>
            </a:r>
            <a:endParaRPr lang="en-US" sz="3263" dirty="0"/>
          </a:p>
        </p:txBody>
      </p:sp>
      <p:sp>
        <p:nvSpPr>
          <p:cNvPr id="5" name="Text 3"/>
          <p:cNvSpPr txBox="1"/>
          <p:nvPr/>
        </p:nvSpPr>
        <p:spPr>
          <a:xfrm>
            <a:off x="533370" y="2882463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4"/>
              </a:lnSpc>
              <a:buNone/>
            </a:pPr>
            <a:r>
              <a:rPr lang="en-US" sz="1056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시장 진입부터</a:t>
            </a:r>
            <a:endParaRPr lang="en-US" sz="1056" dirty="0"/>
          </a:p>
          <a:p>
            <a:pPr algn="l" indent="0" marL="0">
              <a:lnSpc>
                <a:spcPts val="1584"/>
              </a:lnSpc>
              <a:buNone/>
            </a:pPr>
            <a:r>
              <a:rPr lang="en-US" sz="1056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수익성 가속화까지 4단계</a:t>
            </a:r>
            <a:endParaRPr lang="en-US" sz="1056" dirty="0"/>
          </a:p>
        </p:txBody>
      </p:sp>
      <p:sp>
        <p:nvSpPr>
          <p:cNvPr id="6" name="Shape 4"/>
          <p:cNvSpPr/>
          <p:nvPr/>
        </p:nvSpPr>
        <p:spPr>
          <a:xfrm>
            <a:off x="552480" y="4686300"/>
            <a:ext cx="95280" cy="9528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7" name="Shape 5"/>
          <p:cNvSpPr/>
          <p:nvPr/>
        </p:nvSpPr>
        <p:spPr>
          <a:xfrm>
            <a:off x="761970" y="4724430"/>
            <a:ext cx="571500" cy="19020"/>
          </a:xfrm>
          <a:prstGeom prst="rect">
            <a:avLst/>
          </a:prstGeom>
          <a:solidFill>
            <a:srgbClr val="F59E0B">
              <a:alpha val="5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2480" y="4914900"/>
            <a:ext cx="95280" cy="9528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/>
        </p:spPr>
      </p:sp>
      <p:sp>
        <p:nvSpPr>
          <p:cNvPr id="9" name="Shape 7"/>
          <p:cNvSpPr/>
          <p:nvPr/>
        </p:nvSpPr>
        <p:spPr>
          <a:xfrm>
            <a:off x="761970" y="4953030"/>
            <a:ext cx="952530" cy="19020"/>
          </a:xfrm>
          <a:prstGeom prst="rect">
            <a:avLst/>
          </a:prstGeom>
          <a:solidFill>
            <a:srgbClr val="38BDF8">
              <a:alpha val="6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552480" y="5143500"/>
            <a:ext cx="95280" cy="9528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11" name="Shape 9"/>
          <p:cNvSpPr/>
          <p:nvPr/>
        </p:nvSpPr>
        <p:spPr>
          <a:xfrm>
            <a:off x="761970" y="5181630"/>
            <a:ext cx="428671" cy="19020"/>
          </a:xfrm>
          <a:prstGeom prst="rect">
            <a:avLst/>
          </a:prstGeom>
          <a:solidFill>
            <a:srgbClr val="F59E0B">
              <a:alpha val="5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3486150" y="764347"/>
            <a:ext cx="4000500" cy="2795595"/>
          </a:xfrm>
          <a:prstGeom prst="roundRect">
            <a:avLst>
              <a:gd name="adj" fmla="val 4769"/>
            </a:avLst>
          </a:prstGeom>
          <a:solidFill>
            <a:srgbClr val="111A2E"/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705240" y="964418"/>
            <a:ext cx="247620" cy="247620"/>
          </a:xfrm>
          <a:prstGeom prst="roundRect">
            <a:avLst>
              <a:gd name="adj" fmla="val 50000"/>
            </a:avLst>
          </a:prstGeom>
          <a:solidFill>
            <a:srgbClr val="F59E0B">
              <a:alpha val="15000"/>
            </a:srgbClr>
          </a:solidFill>
          <a:ln w="9525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695730" y="929945"/>
            <a:ext cx="304770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b="1" spc="-54" kern="0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631" dirty="0"/>
          </a:p>
        </p:txBody>
      </p:sp>
      <p:sp>
        <p:nvSpPr>
          <p:cNvPr id="15" name="Text 13"/>
          <p:cNvSpPr txBox="1"/>
          <p:nvPr/>
        </p:nvSpPr>
        <p:spPr>
          <a:xfrm>
            <a:off x="3686221" y="1285921"/>
            <a:ext cx="3866358" cy="4143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63"/>
              </a:lnSpc>
              <a:buNone/>
            </a:pPr>
            <a:r>
              <a:rPr lang="en-US" sz="2175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시장 기회 및 목표 KPI</a:t>
            </a:r>
            <a:endParaRPr lang="en-US" sz="2175" dirty="0"/>
          </a:p>
        </p:txBody>
      </p:sp>
      <p:sp>
        <p:nvSpPr>
          <p:cNvPr id="16" name="Text 14"/>
          <p:cNvSpPr txBox="1"/>
          <p:nvPr/>
        </p:nvSpPr>
        <p:spPr>
          <a:xfrm>
            <a:off x="3686221" y="1700235"/>
            <a:ext cx="3600450" cy="165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63"/>
              </a:lnSpc>
              <a:buNone/>
            </a:pPr>
            <a:r>
              <a:rPr lang="en-US" sz="2175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글로벌 AI 솔루션 시장 동향</a:t>
            </a:r>
            <a:endParaRPr lang="en-US" sz="2175" dirty="0"/>
          </a:p>
          <a:p>
            <a:pPr algn="l" indent="0" marL="0">
              <a:lnSpc>
                <a:spcPts val="3263"/>
              </a:lnSpc>
              <a:buNone/>
            </a:pPr>
            <a:r>
              <a:rPr lang="en-US" sz="2175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2026 연간 반복 매출(ARR) 목표</a:t>
            </a:r>
            <a:endParaRPr lang="en-US" sz="2175" dirty="0"/>
          </a:p>
          <a:p>
            <a:pPr algn="l" indent="0" marL="0">
              <a:lnSpc>
                <a:spcPts val="3263"/>
              </a:lnSpc>
              <a:buNone/>
            </a:pPr>
            <a:r>
              <a:rPr lang="en-US" sz="2175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고객 유지율(NRR) 극대화 모델</a:t>
            </a:r>
            <a:endParaRPr lang="en-US" sz="2175" dirty="0"/>
          </a:p>
        </p:txBody>
      </p:sp>
      <p:sp>
        <p:nvSpPr>
          <p:cNvPr id="17" name="Shape 15"/>
          <p:cNvSpPr/>
          <p:nvPr/>
        </p:nvSpPr>
        <p:spPr>
          <a:xfrm>
            <a:off x="7639080" y="764347"/>
            <a:ext cx="4000500" cy="2795595"/>
          </a:xfrm>
          <a:prstGeom prst="roundRect">
            <a:avLst>
              <a:gd name="adj" fmla="val 4769"/>
            </a:avLst>
          </a:prstGeom>
          <a:solidFill>
            <a:srgbClr val="111A2E"/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58171" y="964418"/>
            <a:ext cx="247620" cy="247620"/>
          </a:xfrm>
          <a:prstGeom prst="roundRect">
            <a:avLst>
              <a:gd name="adj" fmla="val 50000"/>
            </a:avLst>
          </a:prstGeom>
          <a:solidFill>
            <a:srgbClr val="38BDF8">
              <a:alpha val="15000"/>
            </a:srgbClr>
          </a:solidFill>
          <a:ln w="9525">
            <a:solidFill>
              <a:srgbClr val="38BDF8">
                <a:alpha val="4000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48570" y="929945"/>
            <a:ext cx="304770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b="1" spc="-54" kern="0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31" dirty="0"/>
          </a:p>
        </p:txBody>
      </p:sp>
      <p:sp>
        <p:nvSpPr>
          <p:cNvPr id="20" name="Text 18"/>
          <p:cNvSpPr txBox="1"/>
          <p:nvPr/>
        </p:nvSpPr>
        <p:spPr>
          <a:xfrm>
            <a:off x="7839060" y="1285921"/>
            <a:ext cx="3866358" cy="4143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63"/>
              </a:lnSpc>
              <a:buNone/>
            </a:pPr>
            <a:r>
              <a:rPr lang="en-US" sz="2175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GTM 및 파트너십 전략</a:t>
            </a:r>
            <a:endParaRPr lang="en-US" sz="2175" dirty="0"/>
          </a:p>
        </p:txBody>
      </p:sp>
      <p:sp>
        <p:nvSpPr>
          <p:cNvPr id="21" name="Text 19"/>
          <p:cNvSpPr txBox="1"/>
          <p:nvPr/>
        </p:nvSpPr>
        <p:spPr>
          <a:xfrm>
            <a:off x="7839060" y="1700235"/>
            <a:ext cx="3600450" cy="165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63"/>
              </a:lnSpc>
              <a:buNone/>
            </a:pPr>
            <a:r>
              <a:rPr lang="en-US" sz="2175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북미/일본 거점 엔터프라이즈 침투</a:t>
            </a:r>
            <a:endParaRPr lang="en-US" sz="2175" dirty="0"/>
          </a:p>
          <a:p>
            <a:pPr algn="l" indent="0" marL="0">
              <a:lnSpc>
                <a:spcPts val="3263"/>
              </a:lnSpc>
              <a:buNone/>
            </a:pPr>
            <a:r>
              <a:rPr lang="en-US" sz="2175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탑티어 클라우드 MSP 협력 체계</a:t>
            </a:r>
            <a:endParaRPr lang="en-US" sz="2175" dirty="0"/>
          </a:p>
          <a:p>
            <a:pPr algn="l" indent="0" marL="0">
              <a:lnSpc>
                <a:spcPts val="3263"/>
              </a:lnSpc>
              <a:buNone/>
            </a:pPr>
            <a:r>
              <a:rPr lang="en-US" sz="2175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PoC 전환율 65% 달성 방안</a:t>
            </a:r>
            <a:endParaRPr lang="en-US" sz="2175" dirty="0"/>
          </a:p>
        </p:txBody>
      </p:sp>
      <p:sp>
        <p:nvSpPr>
          <p:cNvPr id="22" name="Shape 20"/>
          <p:cNvSpPr/>
          <p:nvPr/>
        </p:nvSpPr>
        <p:spPr>
          <a:xfrm>
            <a:off x="3486150" y="3712373"/>
            <a:ext cx="4000500" cy="2381280"/>
          </a:xfrm>
          <a:prstGeom prst="roundRect">
            <a:avLst>
              <a:gd name="adj" fmla="val 5599"/>
            </a:avLst>
          </a:prstGeom>
          <a:solidFill>
            <a:srgbClr val="111A2E"/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05240" y="3912352"/>
            <a:ext cx="247620" cy="247620"/>
          </a:xfrm>
          <a:prstGeom prst="roundRect">
            <a:avLst>
              <a:gd name="adj" fmla="val 50000"/>
            </a:avLst>
          </a:prstGeom>
          <a:solidFill>
            <a:srgbClr val="10B981">
              <a:alpha val="15000"/>
            </a:srgbClr>
          </a:solidFill>
          <a:ln w="9525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695730" y="3877879"/>
            <a:ext cx="304770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b="1" spc="-54" kern="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31" dirty="0"/>
          </a:p>
        </p:txBody>
      </p:sp>
      <p:sp>
        <p:nvSpPr>
          <p:cNvPr id="25" name="Text 23"/>
          <p:cNvSpPr txBox="1"/>
          <p:nvPr/>
        </p:nvSpPr>
        <p:spPr>
          <a:xfrm>
            <a:off x="3686221" y="4233855"/>
            <a:ext cx="3866358" cy="4143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63"/>
              </a:lnSpc>
              <a:buNone/>
            </a:pPr>
            <a:r>
              <a:rPr lang="en-US" sz="2175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유닛 이코노믹스 최적화</a:t>
            </a:r>
            <a:endParaRPr lang="en-US" sz="2175" dirty="0"/>
          </a:p>
        </p:txBody>
      </p:sp>
      <p:sp>
        <p:nvSpPr>
          <p:cNvPr id="26" name="Text 24"/>
          <p:cNvSpPr txBox="1"/>
          <p:nvPr/>
        </p:nvSpPr>
        <p:spPr>
          <a:xfrm>
            <a:off x="3686221" y="4648170"/>
            <a:ext cx="3600450" cy="1243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63"/>
              </a:lnSpc>
              <a:buNone/>
            </a:pPr>
            <a:r>
              <a:rPr lang="en-US" sz="2175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고객 획득 비용(CAC) 45% 절감</a:t>
            </a:r>
            <a:endParaRPr lang="en-US" sz="2175" dirty="0"/>
          </a:p>
          <a:p>
            <a:pPr algn="l" indent="0" marL="0">
              <a:lnSpc>
                <a:spcPts val="3263"/>
              </a:lnSpc>
              <a:buNone/>
            </a:pPr>
            <a:r>
              <a:rPr lang="en-US" sz="2175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LTV/CAC 비율 4.5x 달성</a:t>
            </a:r>
            <a:endParaRPr lang="en-US" sz="2175" dirty="0"/>
          </a:p>
          <a:p>
            <a:pPr algn="l" indent="0" marL="0">
              <a:lnSpc>
                <a:spcPts val="3263"/>
              </a:lnSpc>
              <a:buNone/>
            </a:pPr>
            <a:r>
              <a:rPr lang="en-US" sz="2175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세일즈 사이클 90일 단축</a:t>
            </a:r>
            <a:endParaRPr lang="en-US" sz="2175" dirty="0"/>
          </a:p>
        </p:txBody>
      </p:sp>
      <p:sp>
        <p:nvSpPr>
          <p:cNvPr id="27" name="Shape 25"/>
          <p:cNvSpPr/>
          <p:nvPr/>
        </p:nvSpPr>
        <p:spPr>
          <a:xfrm>
            <a:off x="7639080" y="3712373"/>
            <a:ext cx="4000500" cy="2381280"/>
          </a:xfrm>
          <a:prstGeom prst="roundRect">
            <a:avLst>
              <a:gd name="adj" fmla="val 5599"/>
            </a:avLst>
          </a:prstGeom>
          <a:solidFill>
            <a:srgbClr val="111A2E"/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858171" y="3912352"/>
            <a:ext cx="247620" cy="247620"/>
          </a:xfrm>
          <a:prstGeom prst="roundRect">
            <a:avLst>
              <a:gd name="adj" fmla="val 50000"/>
            </a:avLst>
          </a:prstGeom>
          <a:solidFill>
            <a:srgbClr val="F59E0B">
              <a:alpha val="15000"/>
            </a:srgbClr>
          </a:solidFill>
          <a:ln w="9525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848570" y="3877879"/>
            <a:ext cx="304770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b="1" spc="-54" kern="0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631" dirty="0"/>
          </a:p>
        </p:txBody>
      </p:sp>
      <p:sp>
        <p:nvSpPr>
          <p:cNvPr id="30" name="Text 28"/>
          <p:cNvSpPr txBox="1"/>
          <p:nvPr/>
        </p:nvSpPr>
        <p:spPr>
          <a:xfrm>
            <a:off x="7839060" y="4233855"/>
            <a:ext cx="3866358" cy="4143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63"/>
              </a:lnSpc>
              <a:buNone/>
            </a:pPr>
            <a:r>
              <a:rPr lang="en-US" sz="2175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재무 계획 및 실행 과제</a:t>
            </a:r>
            <a:endParaRPr lang="en-US" sz="2175" dirty="0"/>
          </a:p>
        </p:txBody>
      </p:sp>
      <p:sp>
        <p:nvSpPr>
          <p:cNvPr id="31" name="Text 29"/>
          <p:cNvSpPr txBox="1"/>
          <p:nvPr/>
        </p:nvSpPr>
        <p:spPr>
          <a:xfrm>
            <a:off x="7839060" y="4648170"/>
            <a:ext cx="3600450" cy="1243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63"/>
              </a:lnSpc>
              <a:buNone/>
            </a:pPr>
            <a:r>
              <a:rPr lang="en-US" sz="2175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분기별 R&amp;D 투자 배분 계획</a:t>
            </a:r>
            <a:endParaRPr lang="en-US" sz="2175" dirty="0"/>
          </a:p>
          <a:p>
            <a:pPr algn="l" indent="0" marL="0">
              <a:lnSpc>
                <a:spcPts val="3263"/>
              </a:lnSpc>
              <a:buNone/>
            </a:pPr>
            <a:r>
              <a:rPr lang="en-US" sz="2175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흑자 전환(BEP) 시점 가속화</a:t>
            </a:r>
            <a:endParaRPr lang="en-US" sz="2175" dirty="0"/>
          </a:p>
          <a:p>
            <a:pPr algn="l" indent="0" marL="0">
              <a:lnSpc>
                <a:spcPts val="3263"/>
              </a:lnSpc>
              <a:buNone/>
            </a:pPr>
            <a:r>
              <a:rPr lang="en-US" sz="2175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조직 확장 및 핵심 인재 영입</a:t>
            </a:r>
            <a:endParaRPr lang="en-US" sz="217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8B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80728" y="1473098"/>
            <a:ext cx="3830604" cy="418521"/>
          </a:xfrm>
          <a:prstGeom prst="roundRect">
            <a:avLst>
              <a:gd name="adj" fmla="val 50011"/>
            </a:avLst>
          </a:prstGeom>
          <a:solidFill>
            <a:srgbClr val="F59E0B">
              <a:alpha val="15000"/>
            </a:srgbClr>
          </a:solidFill>
          <a:ln w="9525">
            <a:solidFill>
              <a:srgbClr val="F59E0B">
                <a:alpha val="3500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040002" y="1516258"/>
            <a:ext cx="4111965" cy="323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45"/>
              </a:lnSpc>
              <a:buNone/>
            </a:pPr>
            <a:r>
              <a:rPr lang="en-US" sz="1697" b="1" spc="34" kern="0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KEY PERFORMANCE INDICATORS</a:t>
            </a:r>
            <a:endParaRPr lang="en-US" sz="1697" dirty="0"/>
          </a:p>
        </p:txBody>
      </p:sp>
      <p:sp>
        <p:nvSpPr>
          <p:cNvPr id="4" name="Text 2"/>
          <p:cNvSpPr txBox="1"/>
          <p:nvPr/>
        </p:nvSpPr>
        <p:spPr>
          <a:xfrm>
            <a:off x="-334488" y="1967789"/>
            <a:ext cx="12861036" cy="5906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651"/>
              </a:lnSpc>
              <a:buNone/>
            </a:pPr>
            <a:r>
              <a:rPr lang="en-US" sz="3524" b="1" spc="-88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목표 재무 성과 및 핵심 마일스톤</a:t>
            </a:r>
            <a:endParaRPr lang="en-US" sz="3524" dirty="0"/>
          </a:p>
        </p:txBody>
      </p:sp>
      <p:sp>
        <p:nvSpPr>
          <p:cNvPr id="5" name="Text 3"/>
          <p:cNvSpPr txBox="1"/>
          <p:nvPr/>
        </p:nvSpPr>
        <p:spPr>
          <a:xfrm>
            <a:off x="-334488" y="2741463"/>
            <a:ext cx="12861036" cy="3977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132"/>
              </a:lnSpc>
              <a:buNone/>
            </a:pPr>
            <a:r>
              <a:rPr lang="en-US" sz="2088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ARR 3.2배 성장과 고객 획득 비용(CAC) 45% 절감을 통한 영업이익률 28.4% 달성</a:t>
            </a:r>
            <a:endParaRPr lang="en-US" sz="2088" dirty="0"/>
          </a:p>
        </p:txBody>
      </p:sp>
      <p:sp>
        <p:nvSpPr>
          <p:cNvPr id="6" name="Shape 4"/>
          <p:cNvSpPr/>
          <p:nvPr/>
        </p:nvSpPr>
        <p:spPr>
          <a:xfrm>
            <a:off x="552480" y="3376331"/>
            <a:ext cx="3594049" cy="2027499"/>
          </a:xfrm>
          <a:prstGeom prst="roundRect">
            <a:avLst>
              <a:gd name="adj" fmla="val 6576"/>
            </a:avLst>
          </a:prstGeom>
          <a:solidFill>
            <a:srgbClr val="111A2E"/>
          </a:solidFill>
          <a:ln/>
        </p:spPr>
      </p:sp>
      <p:sp>
        <p:nvSpPr>
          <p:cNvPr id="7" name="Shape 5"/>
          <p:cNvSpPr/>
          <p:nvPr/>
        </p:nvSpPr>
        <p:spPr>
          <a:xfrm>
            <a:off x="552480" y="3376331"/>
            <a:ext cx="3594049" cy="28621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Shape 6"/>
          <p:cNvSpPr/>
          <p:nvPr/>
        </p:nvSpPr>
        <p:spPr>
          <a:xfrm>
            <a:off x="4137020" y="3376331"/>
            <a:ext cx="9510" cy="2027499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2480" y="5394320"/>
            <a:ext cx="3594049" cy="951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552480" y="3376331"/>
            <a:ext cx="9510" cy="2027499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225650" y="3595421"/>
            <a:ext cx="247620" cy="247620"/>
          </a:xfrm>
          <a:prstGeom prst="roundRect">
            <a:avLst>
              <a:gd name="adj" fmla="val 50000"/>
            </a:avLst>
          </a:prstGeom>
          <a:solidFill>
            <a:srgbClr val="F59E0B">
              <a:alpha val="15000"/>
            </a:srgbClr>
          </a:solidFill>
          <a:ln w="9525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178009" y="3560856"/>
            <a:ext cx="342900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47"/>
              </a:lnSpc>
              <a:buNone/>
            </a:pPr>
            <a:r>
              <a:rPr lang="en-US" sz="1631" b="1" spc="-54" kern="0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631" dirty="0"/>
          </a:p>
        </p:txBody>
      </p:sp>
      <p:sp>
        <p:nvSpPr>
          <p:cNvPr id="13" name="Text 11"/>
          <p:cNvSpPr txBox="1"/>
          <p:nvPr/>
        </p:nvSpPr>
        <p:spPr>
          <a:xfrm>
            <a:off x="519013" y="3899276"/>
            <a:ext cx="3660892" cy="773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090"/>
              </a:lnSpc>
              <a:buNone/>
            </a:pPr>
            <a:r>
              <a:rPr lang="en-US" sz="6090" b="1" spc="-54" kern="0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$12.5M</a:t>
            </a:r>
            <a:endParaRPr lang="en-US" sz="6090" dirty="0"/>
          </a:p>
        </p:txBody>
      </p:sp>
      <p:sp>
        <p:nvSpPr>
          <p:cNvPr id="14" name="Text 12"/>
          <p:cNvSpPr txBox="1"/>
          <p:nvPr/>
        </p:nvSpPr>
        <p:spPr>
          <a:xfrm>
            <a:off x="519013" y="4728454"/>
            <a:ext cx="3660892" cy="2331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36"/>
              </a:lnSpc>
              <a:buNone/>
            </a:pPr>
            <a:r>
              <a:rPr lang="en-US" sz="1224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연간 반복 매출 (ARR)</a:t>
            </a:r>
            <a:endParaRPr lang="en-US" sz="1224" dirty="0"/>
          </a:p>
        </p:txBody>
      </p:sp>
      <p:sp>
        <p:nvSpPr>
          <p:cNvPr id="15" name="Text 13"/>
          <p:cNvSpPr txBox="1"/>
          <p:nvPr/>
        </p:nvSpPr>
        <p:spPr>
          <a:xfrm>
            <a:off x="519013" y="5020056"/>
            <a:ext cx="366089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40"/>
              </a:lnSpc>
              <a:buNone/>
            </a:pPr>
            <a:r>
              <a:rPr lang="en-US" sz="960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북미 및 일본 엔터프라이즈 고객사 120개사 확보 목표</a:t>
            </a:r>
            <a:endParaRPr lang="en-US" sz="960" dirty="0"/>
          </a:p>
        </p:txBody>
      </p:sp>
      <p:sp>
        <p:nvSpPr>
          <p:cNvPr id="16" name="Shape 14"/>
          <p:cNvSpPr/>
          <p:nvPr/>
        </p:nvSpPr>
        <p:spPr>
          <a:xfrm>
            <a:off x="4298960" y="3376331"/>
            <a:ext cx="3594049" cy="2027499"/>
          </a:xfrm>
          <a:prstGeom prst="roundRect">
            <a:avLst>
              <a:gd name="adj" fmla="val 6576"/>
            </a:avLst>
          </a:prstGeom>
          <a:solidFill>
            <a:srgbClr val="111A2E"/>
          </a:solidFill>
          <a:ln/>
        </p:spPr>
      </p:sp>
      <p:sp>
        <p:nvSpPr>
          <p:cNvPr id="17" name="Shape 15"/>
          <p:cNvSpPr/>
          <p:nvPr/>
        </p:nvSpPr>
        <p:spPr>
          <a:xfrm>
            <a:off x="4298960" y="3376331"/>
            <a:ext cx="3594049" cy="28621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883500" y="3376331"/>
            <a:ext cx="9510" cy="2027499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4298960" y="5394320"/>
            <a:ext cx="3594049" cy="951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298960" y="3376331"/>
            <a:ext cx="9510" cy="2027499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5971946" y="3595421"/>
            <a:ext cx="247620" cy="247620"/>
          </a:xfrm>
          <a:prstGeom prst="roundRect">
            <a:avLst>
              <a:gd name="adj" fmla="val 50000"/>
            </a:avLst>
          </a:prstGeom>
          <a:solidFill>
            <a:srgbClr val="38BDF8">
              <a:alpha val="15000"/>
            </a:srgbClr>
          </a:solidFill>
          <a:ln w="9525">
            <a:solidFill>
              <a:srgbClr val="38BDF8">
                <a:alpha val="4000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24398" y="3560856"/>
            <a:ext cx="342900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47"/>
              </a:lnSpc>
              <a:buNone/>
            </a:pPr>
            <a:r>
              <a:rPr lang="en-US" sz="1631" b="1" spc="-54" kern="0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31" dirty="0"/>
          </a:p>
        </p:txBody>
      </p:sp>
      <p:sp>
        <p:nvSpPr>
          <p:cNvPr id="23" name="Text 21"/>
          <p:cNvSpPr txBox="1"/>
          <p:nvPr/>
        </p:nvSpPr>
        <p:spPr>
          <a:xfrm>
            <a:off x="4265493" y="3899276"/>
            <a:ext cx="3660892" cy="773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090"/>
              </a:lnSpc>
              <a:buNone/>
            </a:pPr>
            <a:r>
              <a:rPr lang="en-US" sz="6090" b="1" spc="-54" kern="0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142%</a:t>
            </a:r>
            <a:endParaRPr lang="en-US" sz="6090" dirty="0"/>
          </a:p>
        </p:txBody>
      </p:sp>
      <p:sp>
        <p:nvSpPr>
          <p:cNvPr id="24" name="Text 22"/>
          <p:cNvSpPr txBox="1"/>
          <p:nvPr/>
        </p:nvSpPr>
        <p:spPr>
          <a:xfrm>
            <a:off x="4265493" y="4728454"/>
            <a:ext cx="3660892" cy="2331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36"/>
              </a:lnSpc>
              <a:buNone/>
            </a:pPr>
            <a:r>
              <a:rPr lang="en-US" sz="1224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순매출 유지율 (NRR)</a:t>
            </a:r>
            <a:endParaRPr lang="en-US" sz="1224" dirty="0"/>
          </a:p>
        </p:txBody>
      </p:sp>
      <p:sp>
        <p:nvSpPr>
          <p:cNvPr id="25" name="Text 23"/>
          <p:cNvSpPr txBox="1"/>
          <p:nvPr/>
        </p:nvSpPr>
        <p:spPr>
          <a:xfrm>
            <a:off x="4265493" y="5020056"/>
            <a:ext cx="366089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40"/>
              </a:lnSpc>
              <a:buNone/>
            </a:pPr>
            <a:r>
              <a:rPr lang="en-US" sz="960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 확장(Upsell) 및 크로스셀을 통한 LTV 극대화</a:t>
            </a:r>
            <a:endParaRPr lang="en-US" sz="960" dirty="0"/>
          </a:p>
        </p:txBody>
      </p:sp>
      <p:sp>
        <p:nvSpPr>
          <p:cNvPr id="26" name="Shape 24"/>
          <p:cNvSpPr/>
          <p:nvPr/>
        </p:nvSpPr>
        <p:spPr>
          <a:xfrm>
            <a:off x="8045348" y="3376331"/>
            <a:ext cx="3594141" cy="2027499"/>
          </a:xfrm>
          <a:prstGeom prst="roundRect">
            <a:avLst>
              <a:gd name="adj" fmla="val 6576"/>
            </a:avLst>
          </a:prstGeom>
          <a:solidFill>
            <a:srgbClr val="111A2E"/>
          </a:solidFill>
          <a:ln/>
        </p:spPr>
      </p:sp>
      <p:sp>
        <p:nvSpPr>
          <p:cNvPr id="27" name="Shape 25"/>
          <p:cNvSpPr/>
          <p:nvPr/>
        </p:nvSpPr>
        <p:spPr>
          <a:xfrm>
            <a:off x="8045348" y="3376331"/>
            <a:ext cx="3594141" cy="28621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Shape 26"/>
          <p:cNvSpPr/>
          <p:nvPr/>
        </p:nvSpPr>
        <p:spPr>
          <a:xfrm>
            <a:off x="11630071" y="3376331"/>
            <a:ext cx="9510" cy="2027499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8045348" y="5394320"/>
            <a:ext cx="3594141" cy="951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8045348" y="3376331"/>
            <a:ext cx="9510" cy="2027499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9718609" y="3595421"/>
            <a:ext cx="247620" cy="247620"/>
          </a:xfrm>
          <a:prstGeom prst="roundRect">
            <a:avLst>
              <a:gd name="adj" fmla="val 50000"/>
            </a:avLst>
          </a:prstGeom>
          <a:solidFill>
            <a:srgbClr val="10B981">
              <a:alpha val="15000"/>
            </a:srgbClr>
          </a:solidFill>
          <a:ln w="9525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671060" y="3560856"/>
            <a:ext cx="342900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47"/>
              </a:lnSpc>
              <a:buNone/>
            </a:pPr>
            <a:r>
              <a:rPr lang="en-US" sz="1631" b="1" spc="-54" kern="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31" dirty="0"/>
          </a:p>
        </p:txBody>
      </p:sp>
      <p:sp>
        <p:nvSpPr>
          <p:cNvPr id="33" name="Text 31"/>
          <p:cNvSpPr txBox="1"/>
          <p:nvPr/>
        </p:nvSpPr>
        <p:spPr>
          <a:xfrm>
            <a:off x="8011973" y="3899276"/>
            <a:ext cx="3660983" cy="773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090"/>
              </a:lnSpc>
              <a:buNone/>
            </a:pPr>
            <a:r>
              <a:rPr lang="en-US" sz="6090" b="1" spc="-54" kern="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28.4%</a:t>
            </a:r>
            <a:endParaRPr lang="en-US" sz="6090" dirty="0"/>
          </a:p>
        </p:txBody>
      </p:sp>
      <p:sp>
        <p:nvSpPr>
          <p:cNvPr id="34" name="Text 32"/>
          <p:cNvSpPr txBox="1"/>
          <p:nvPr/>
        </p:nvSpPr>
        <p:spPr>
          <a:xfrm>
            <a:off x="8011973" y="4728454"/>
            <a:ext cx="3660983" cy="2331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36"/>
              </a:lnSpc>
              <a:buNone/>
            </a:pPr>
            <a:r>
              <a:rPr lang="en-US" sz="1224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영업이익률</a:t>
            </a:r>
            <a:endParaRPr lang="en-US" sz="1224" dirty="0"/>
          </a:p>
        </p:txBody>
      </p:sp>
      <p:sp>
        <p:nvSpPr>
          <p:cNvPr id="35" name="Text 33"/>
          <p:cNvSpPr txBox="1"/>
          <p:nvPr/>
        </p:nvSpPr>
        <p:spPr>
          <a:xfrm>
            <a:off x="8011973" y="5020056"/>
            <a:ext cx="366098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40"/>
              </a:lnSpc>
              <a:buNone/>
            </a:pPr>
            <a:r>
              <a:rPr lang="en-US" sz="960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자동화 파이프라인 도입을 통한 마진 구조 개선</a:t>
            </a:r>
            <a:endParaRPr lang="en-US" sz="9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8B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2480" y="1353769"/>
            <a:ext cx="1687982" cy="418521"/>
          </a:xfrm>
          <a:prstGeom prst="roundRect">
            <a:avLst>
              <a:gd name="adj" fmla="val 50011"/>
            </a:avLst>
          </a:prstGeom>
          <a:solidFill>
            <a:srgbClr val="F59E0B">
              <a:alpha val="15000"/>
            </a:srgbClr>
          </a:solidFill>
          <a:ln w="9525">
            <a:solidFill>
              <a:srgbClr val="F59E0B">
                <a:alpha val="3500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76290" y="1396929"/>
            <a:ext cx="1533540" cy="323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45"/>
              </a:lnSpc>
              <a:buNone/>
            </a:pPr>
            <a:r>
              <a:rPr lang="en-US" sz="1697" b="1" spc="34" kern="0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GTM FUNNEL</a:t>
            </a:r>
            <a:endParaRPr lang="en-US" sz="1697" dirty="0"/>
          </a:p>
        </p:txBody>
      </p:sp>
      <p:sp>
        <p:nvSpPr>
          <p:cNvPr id="4" name="Text 2"/>
          <p:cNvSpPr txBox="1"/>
          <p:nvPr/>
        </p:nvSpPr>
        <p:spPr>
          <a:xfrm>
            <a:off x="533370" y="1848460"/>
            <a:ext cx="11993088" cy="5906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651"/>
              </a:lnSpc>
              <a:buNone/>
            </a:pPr>
            <a:r>
              <a:rPr lang="en-US" sz="3524" b="1" spc="-88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엔터프라이즈 시장 공략을 위한 3단계 세일즈 퍼널</a:t>
            </a:r>
            <a:endParaRPr lang="en-US" sz="3524" dirty="0"/>
          </a:p>
        </p:txBody>
      </p:sp>
      <p:sp>
        <p:nvSpPr>
          <p:cNvPr id="5" name="Text 3"/>
          <p:cNvSpPr txBox="1"/>
          <p:nvPr/>
        </p:nvSpPr>
        <p:spPr>
          <a:xfrm>
            <a:off x="533370" y="2622133"/>
            <a:ext cx="11993088" cy="3977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32"/>
              </a:lnSpc>
              <a:buNone/>
            </a:pPr>
            <a:r>
              <a:rPr lang="en-US" sz="2088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리드 발굴부터 유료 전환, 계정 확장까지 체계화된 B2B 파이프라인을 가동합니다.</a:t>
            </a:r>
            <a:endParaRPr lang="en-US" sz="2088" dirty="0"/>
          </a:p>
        </p:txBody>
      </p:sp>
      <p:sp>
        <p:nvSpPr>
          <p:cNvPr id="6" name="Shape 4"/>
          <p:cNvSpPr/>
          <p:nvPr/>
        </p:nvSpPr>
        <p:spPr>
          <a:xfrm>
            <a:off x="552480" y="3257001"/>
            <a:ext cx="3594049" cy="2266158"/>
          </a:xfrm>
          <a:prstGeom prst="roundRect">
            <a:avLst>
              <a:gd name="adj" fmla="val 5883"/>
            </a:avLst>
          </a:prstGeom>
          <a:solidFill>
            <a:srgbClr val="111A2E"/>
          </a:solidFill>
          <a:ln/>
        </p:spPr>
      </p:sp>
      <p:sp>
        <p:nvSpPr>
          <p:cNvPr id="7" name="Shape 5"/>
          <p:cNvSpPr/>
          <p:nvPr/>
        </p:nvSpPr>
        <p:spPr>
          <a:xfrm>
            <a:off x="552480" y="3257001"/>
            <a:ext cx="3594049" cy="28621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Shape 6"/>
          <p:cNvSpPr/>
          <p:nvPr/>
        </p:nvSpPr>
        <p:spPr>
          <a:xfrm>
            <a:off x="4137020" y="3257001"/>
            <a:ext cx="9510" cy="2266158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2480" y="5513649"/>
            <a:ext cx="3594049" cy="951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552480" y="3257001"/>
            <a:ext cx="9510" cy="2266158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771571" y="3476092"/>
            <a:ext cx="247620" cy="247620"/>
          </a:xfrm>
          <a:prstGeom prst="roundRect">
            <a:avLst>
              <a:gd name="adj" fmla="val 50000"/>
            </a:avLst>
          </a:prstGeom>
          <a:solidFill>
            <a:srgbClr val="F59E0B">
              <a:alpha val="15000"/>
            </a:srgbClr>
          </a:solidFill>
          <a:ln w="9525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61970" y="3441436"/>
            <a:ext cx="304770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b="1" spc="-54" kern="0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631" dirty="0"/>
          </a:p>
        </p:txBody>
      </p:sp>
      <p:sp>
        <p:nvSpPr>
          <p:cNvPr id="13" name="Text 11"/>
          <p:cNvSpPr txBox="1"/>
          <p:nvPr/>
        </p:nvSpPr>
        <p:spPr>
          <a:xfrm>
            <a:off x="752460" y="3797595"/>
            <a:ext cx="3427446" cy="2331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36"/>
              </a:lnSpc>
              <a:buNone/>
            </a:pPr>
            <a:r>
              <a:rPr lang="en-US" sz="1224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STAGE 1: Inbound Lead</a:t>
            </a:r>
            <a:endParaRPr lang="en-US" sz="1224" dirty="0"/>
          </a:p>
        </p:txBody>
      </p:sp>
      <p:sp>
        <p:nvSpPr>
          <p:cNvPr id="14" name="Text 12"/>
          <p:cNvSpPr txBox="1"/>
          <p:nvPr/>
        </p:nvSpPr>
        <p:spPr>
          <a:xfrm>
            <a:off x="904890" y="4137934"/>
            <a:ext cx="3262854" cy="3425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697"/>
              </a:lnSpc>
              <a:buSzPct val="100000"/>
              <a:buChar char="•"/>
            </a:pPr>
            <a:r>
              <a:rPr lang="en-US" sz="1740" spc="-54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백서 및 솔루션 데모 배포</a:t>
            </a:r>
            <a:endParaRPr lang="en-US" sz="1740" dirty="0"/>
          </a:p>
        </p:txBody>
      </p:sp>
      <p:sp>
        <p:nvSpPr>
          <p:cNvPr id="15" name="Text 13"/>
          <p:cNvSpPr txBox="1"/>
          <p:nvPr/>
        </p:nvSpPr>
        <p:spPr>
          <a:xfrm>
            <a:off x="904890" y="4535607"/>
            <a:ext cx="3262854" cy="3425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697"/>
              </a:lnSpc>
              <a:buSzPct val="100000"/>
              <a:buChar char="•"/>
            </a:pPr>
            <a:r>
              <a:rPr lang="en-US" sz="1740" spc="-54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빅테크 컨퍼런스 스폰서십 참여</a:t>
            </a:r>
            <a:endParaRPr lang="en-US" sz="1740" dirty="0"/>
          </a:p>
        </p:txBody>
      </p:sp>
      <p:sp>
        <p:nvSpPr>
          <p:cNvPr id="16" name="Text 14"/>
          <p:cNvSpPr txBox="1"/>
          <p:nvPr/>
        </p:nvSpPr>
        <p:spPr>
          <a:xfrm>
            <a:off x="904890" y="4933279"/>
            <a:ext cx="3262854" cy="3425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697"/>
              </a:lnSpc>
              <a:buSzPct val="100000"/>
              <a:buChar char="•"/>
            </a:pPr>
            <a:r>
              <a:rPr lang="en-US" sz="1740" spc="-54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450+ 검증된 리드(MQL) 확보</a:t>
            </a:r>
            <a:endParaRPr lang="en-US" sz="1740" dirty="0"/>
          </a:p>
        </p:txBody>
      </p:sp>
      <p:sp>
        <p:nvSpPr>
          <p:cNvPr id="17" name="Shape 15"/>
          <p:cNvSpPr/>
          <p:nvPr/>
        </p:nvSpPr>
        <p:spPr>
          <a:xfrm>
            <a:off x="4298960" y="3257001"/>
            <a:ext cx="3594049" cy="2266158"/>
          </a:xfrm>
          <a:prstGeom prst="roundRect">
            <a:avLst>
              <a:gd name="adj" fmla="val 5883"/>
            </a:avLst>
          </a:prstGeom>
          <a:solidFill>
            <a:srgbClr val="111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4298960" y="3257001"/>
            <a:ext cx="3594049" cy="28621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9" name="Shape 17"/>
          <p:cNvSpPr/>
          <p:nvPr/>
        </p:nvSpPr>
        <p:spPr>
          <a:xfrm>
            <a:off x="7883500" y="3257001"/>
            <a:ext cx="9510" cy="2266158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298960" y="5513649"/>
            <a:ext cx="3594049" cy="951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298960" y="3257001"/>
            <a:ext cx="9510" cy="2266158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517959" y="3476092"/>
            <a:ext cx="247620" cy="247620"/>
          </a:xfrm>
          <a:prstGeom prst="roundRect">
            <a:avLst>
              <a:gd name="adj" fmla="val 50000"/>
            </a:avLst>
          </a:prstGeom>
          <a:solidFill>
            <a:srgbClr val="38BDF8">
              <a:alpha val="15000"/>
            </a:srgbClr>
          </a:solidFill>
          <a:ln w="9525">
            <a:solidFill>
              <a:srgbClr val="38BDF8">
                <a:alpha val="4000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08449" y="3441436"/>
            <a:ext cx="304770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b="1" spc="-54" kern="0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31" dirty="0"/>
          </a:p>
        </p:txBody>
      </p:sp>
      <p:sp>
        <p:nvSpPr>
          <p:cNvPr id="24" name="Text 22"/>
          <p:cNvSpPr txBox="1"/>
          <p:nvPr/>
        </p:nvSpPr>
        <p:spPr>
          <a:xfrm>
            <a:off x="4498939" y="3797595"/>
            <a:ext cx="3427446" cy="2331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36"/>
              </a:lnSpc>
              <a:buNone/>
            </a:pPr>
            <a:r>
              <a:rPr lang="en-US" sz="1224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STAGE 2: Fast-Track PoC</a:t>
            </a:r>
            <a:endParaRPr lang="en-US" sz="1224" dirty="0"/>
          </a:p>
        </p:txBody>
      </p:sp>
      <p:sp>
        <p:nvSpPr>
          <p:cNvPr id="25" name="Text 23"/>
          <p:cNvSpPr txBox="1"/>
          <p:nvPr/>
        </p:nvSpPr>
        <p:spPr>
          <a:xfrm>
            <a:off x="4651370" y="4137934"/>
            <a:ext cx="3262854" cy="3425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697"/>
              </a:lnSpc>
              <a:buSzPct val="100000"/>
              <a:buChar char="•"/>
            </a:pPr>
            <a:r>
              <a:rPr lang="en-US" sz="1740" spc="-54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 완성 맞춤형 프로토타입 검증</a:t>
            </a:r>
            <a:endParaRPr lang="en-US" sz="1740" dirty="0"/>
          </a:p>
        </p:txBody>
      </p:sp>
      <p:sp>
        <p:nvSpPr>
          <p:cNvPr id="26" name="Text 24"/>
          <p:cNvSpPr txBox="1"/>
          <p:nvPr/>
        </p:nvSpPr>
        <p:spPr>
          <a:xfrm>
            <a:off x="4651370" y="4535607"/>
            <a:ext cx="3262854" cy="3425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697"/>
              </a:lnSpc>
              <a:buSzPct val="100000"/>
              <a:buChar char="•"/>
            </a:pPr>
            <a:r>
              <a:rPr lang="en-US" sz="1740" spc="-54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전담 솔루션 아키텍트 밀착 기술지원</a:t>
            </a:r>
            <a:endParaRPr lang="en-US" sz="1740" dirty="0"/>
          </a:p>
        </p:txBody>
      </p:sp>
      <p:sp>
        <p:nvSpPr>
          <p:cNvPr id="27" name="Text 25"/>
          <p:cNvSpPr txBox="1"/>
          <p:nvPr/>
        </p:nvSpPr>
        <p:spPr>
          <a:xfrm>
            <a:off x="4651370" y="4933279"/>
            <a:ext cx="3262854" cy="3425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697"/>
              </a:lnSpc>
              <a:buSzPct val="100000"/>
              <a:buChar char="•"/>
            </a:pPr>
            <a:r>
              <a:rPr lang="en-US" sz="1740" spc="-54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PoC 완료 후 본 계약 전환율 65%</a:t>
            </a:r>
            <a:endParaRPr lang="en-US" sz="1740" dirty="0"/>
          </a:p>
        </p:txBody>
      </p:sp>
      <p:sp>
        <p:nvSpPr>
          <p:cNvPr id="28" name="Shape 26"/>
          <p:cNvSpPr/>
          <p:nvPr/>
        </p:nvSpPr>
        <p:spPr>
          <a:xfrm>
            <a:off x="8045348" y="3257001"/>
            <a:ext cx="3594141" cy="2266158"/>
          </a:xfrm>
          <a:prstGeom prst="roundRect">
            <a:avLst>
              <a:gd name="adj" fmla="val 5883"/>
            </a:avLst>
          </a:prstGeom>
          <a:solidFill>
            <a:srgbClr val="111A2E"/>
          </a:solidFill>
          <a:ln/>
        </p:spPr>
      </p:sp>
      <p:sp>
        <p:nvSpPr>
          <p:cNvPr id="29" name="Shape 27"/>
          <p:cNvSpPr/>
          <p:nvPr/>
        </p:nvSpPr>
        <p:spPr>
          <a:xfrm>
            <a:off x="8045348" y="3257001"/>
            <a:ext cx="3594141" cy="28621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0" name="Shape 28"/>
          <p:cNvSpPr/>
          <p:nvPr/>
        </p:nvSpPr>
        <p:spPr>
          <a:xfrm>
            <a:off x="11630071" y="3257001"/>
            <a:ext cx="9510" cy="2266158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8045348" y="5513649"/>
            <a:ext cx="3594141" cy="951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8045348" y="3257001"/>
            <a:ext cx="9510" cy="2266158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8264439" y="3476092"/>
            <a:ext cx="247620" cy="247620"/>
          </a:xfrm>
          <a:prstGeom prst="roundRect">
            <a:avLst>
              <a:gd name="adj" fmla="val 50000"/>
            </a:avLst>
          </a:prstGeom>
          <a:solidFill>
            <a:srgbClr val="10B981">
              <a:alpha val="15000"/>
            </a:srgbClr>
          </a:solidFill>
          <a:ln w="9525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54929" y="3441436"/>
            <a:ext cx="304770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b="1" spc="-54" kern="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31" dirty="0"/>
          </a:p>
        </p:txBody>
      </p:sp>
      <p:sp>
        <p:nvSpPr>
          <p:cNvPr id="35" name="Text 33"/>
          <p:cNvSpPr txBox="1"/>
          <p:nvPr/>
        </p:nvSpPr>
        <p:spPr>
          <a:xfrm>
            <a:off x="8245419" y="3797595"/>
            <a:ext cx="3427537" cy="2331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36"/>
              </a:lnSpc>
              <a:buNone/>
            </a:pPr>
            <a:r>
              <a:rPr lang="en-US" sz="1224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STAGE 3: Land &amp; Expand</a:t>
            </a:r>
            <a:endParaRPr lang="en-US" sz="1224" dirty="0"/>
          </a:p>
        </p:txBody>
      </p:sp>
      <p:sp>
        <p:nvSpPr>
          <p:cNvPr id="36" name="Text 34"/>
          <p:cNvSpPr txBox="1"/>
          <p:nvPr/>
        </p:nvSpPr>
        <p:spPr>
          <a:xfrm>
            <a:off x="8397850" y="4137934"/>
            <a:ext cx="3262945" cy="3425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697"/>
              </a:lnSpc>
              <a:buSzPct val="100000"/>
              <a:buChar char="•"/>
            </a:pPr>
            <a:r>
              <a:rPr lang="en-US" sz="1740" spc="-54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전사 부서 단위 라이선스 확장</a:t>
            </a:r>
            <a:endParaRPr lang="en-US" sz="1740" dirty="0"/>
          </a:p>
        </p:txBody>
      </p:sp>
      <p:sp>
        <p:nvSpPr>
          <p:cNvPr id="37" name="Text 35"/>
          <p:cNvSpPr txBox="1"/>
          <p:nvPr/>
        </p:nvSpPr>
        <p:spPr>
          <a:xfrm>
            <a:off x="8397850" y="4535607"/>
            <a:ext cx="3262945" cy="3425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697"/>
              </a:lnSpc>
              <a:buSzPct val="100000"/>
              <a:buChar char="•"/>
            </a:pPr>
            <a:r>
              <a:rPr lang="en-US" sz="1740" spc="-54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연간 계약 전환 시 다년 할인 제공</a:t>
            </a:r>
            <a:endParaRPr lang="en-US" sz="1740" dirty="0"/>
          </a:p>
        </p:txBody>
      </p:sp>
      <p:sp>
        <p:nvSpPr>
          <p:cNvPr id="38" name="Text 36"/>
          <p:cNvSpPr txBox="1"/>
          <p:nvPr/>
        </p:nvSpPr>
        <p:spPr>
          <a:xfrm>
            <a:off x="8397850" y="4933279"/>
            <a:ext cx="3262945" cy="3425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697"/>
              </a:lnSpc>
              <a:buSzPct val="100000"/>
              <a:buChar char="•"/>
            </a:pPr>
            <a:r>
              <a:rPr lang="en-US" sz="1740" spc="-54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계약 규모(ACV) 2.4배 증대</a:t>
            </a:r>
            <a:endParaRPr lang="en-US" sz="17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38B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90064" y="1787561"/>
            <a:ext cx="2211934" cy="418521"/>
          </a:xfrm>
          <a:prstGeom prst="roundRect">
            <a:avLst>
              <a:gd name="adj" fmla="val 50011"/>
            </a:avLst>
          </a:prstGeom>
          <a:solidFill>
            <a:srgbClr val="F59E0B">
              <a:alpha val="15000"/>
            </a:srgbClr>
          </a:solidFill>
          <a:ln w="9525">
            <a:solidFill>
              <a:srgbClr val="F59E0B">
                <a:alpha val="3500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978817" y="1830812"/>
            <a:ext cx="2234336" cy="323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45"/>
              </a:lnSpc>
              <a:buNone/>
            </a:pPr>
            <a:r>
              <a:rPr lang="en-US" sz="1697" b="1" spc="34" kern="0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 ECONOMICS</a:t>
            </a:r>
            <a:endParaRPr lang="en-US" sz="1697" dirty="0"/>
          </a:p>
        </p:txBody>
      </p:sp>
      <p:sp>
        <p:nvSpPr>
          <p:cNvPr id="4" name="Text 2"/>
          <p:cNvSpPr txBox="1"/>
          <p:nvPr/>
        </p:nvSpPr>
        <p:spPr>
          <a:xfrm>
            <a:off x="-334488" y="2282160"/>
            <a:ext cx="12861036" cy="5906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651"/>
              </a:lnSpc>
              <a:buNone/>
            </a:pPr>
            <a:r>
              <a:rPr lang="en-US" sz="3524" b="1" spc="-88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수익성 지표 개선 및 투자 대비 성과 (ROI)</a:t>
            </a:r>
            <a:endParaRPr lang="en-US" sz="3524" dirty="0"/>
          </a:p>
        </p:txBody>
      </p:sp>
      <p:sp>
        <p:nvSpPr>
          <p:cNvPr id="5" name="Text 3"/>
          <p:cNvSpPr txBox="1"/>
          <p:nvPr/>
        </p:nvSpPr>
        <p:spPr>
          <a:xfrm>
            <a:off x="-334488" y="3056016"/>
            <a:ext cx="12861036" cy="3977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132"/>
              </a:lnSpc>
              <a:buNone/>
            </a:pPr>
            <a:r>
              <a:rPr lang="en-US" sz="2088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세일즈 자동화 및 고객 성공(CS) 프로세스 내재화로 고수익성 비즈니스 모델 완성</a:t>
            </a:r>
            <a:endParaRPr lang="en-US" sz="2088" dirty="0"/>
          </a:p>
        </p:txBody>
      </p:sp>
      <p:sp>
        <p:nvSpPr>
          <p:cNvPr id="6" name="Shape 4"/>
          <p:cNvSpPr/>
          <p:nvPr/>
        </p:nvSpPr>
        <p:spPr>
          <a:xfrm>
            <a:off x="552480" y="3690793"/>
            <a:ext cx="5467380" cy="1398575"/>
          </a:xfrm>
          <a:prstGeom prst="roundRect">
            <a:avLst>
              <a:gd name="adj" fmla="val 9533"/>
            </a:avLst>
          </a:prstGeom>
          <a:solidFill>
            <a:srgbClr val="111A2E"/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52460" y="3886932"/>
            <a:ext cx="5450556" cy="217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140" b="1" spc="-54" kern="0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고객 획득 및 회수 기간 (Payback)</a:t>
            </a:r>
            <a:endParaRPr lang="en-US" sz="1140" dirty="0"/>
          </a:p>
        </p:txBody>
      </p:sp>
      <p:sp>
        <p:nvSpPr>
          <p:cNvPr id="8" name="Text 6"/>
          <p:cNvSpPr txBox="1"/>
          <p:nvPr/>
        </p:nvSpPr>
        <p:spPr>
          <a:xfrm>
            <a:off x="904890" y="4220596"/>
            <a:ext cx="5285964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451"/>
              </a:lnSpc>
              <a:buSzPct val="100000"/>
              <a:buChar char="•"/>
            </a:pPr>
            <a:r>
              <a:rPr lang="en-US" sz="936" spc="-54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획득 비용(CAC): </a:t>
            </a:r>
            <a:pPr algn="l" indent="0" marL="0">
              <a:lnSpc>
                <a:spcPts val="1451"/>
              </a:lnSpc>
              <a:buNone/>
            </a:pPr>
            <a:r>
              <a:rPr lang="en-US" sz="936" b="1" spc="-54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$14.5K ➔ $7.9K (45% 절감)</a:t>
            </a:r>
            <a:endParaRPr lang="en-US" sz="936" dirty="0"/>
          </a:p>
        </p:txBody>
      </p:sp>
      <p:sp>
        <p:nvSpPr>
          <p:cNvPr id="9" name="Text 7"/>
          <p:cNvSpPr txBox="1"/>
          <p:nvPr/>
        </p:nvSpPr>
        <p:spPr>
          <a:xfrm>
            <a:off x="904890" y="4442978"/>
            <a:ext cx="5285964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451"/>
              </a:lnSpc>
              <a:buSzPct val="100000"/>
              <a:buChar char="•"/>
            </a:pPr>
            <a:r>
              <a:rPr lang="en-US" sz="936" spc="-54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CAC 투자금 회수 기간: </a:t>
            </a:r>
            <a:pPr algn="l" indent="0" marL="0">
              <a:lnSpc>
                <a:spcPts val="1451"/>
              </a:lnSpc>
              <a:buNone/>
            </a:pPr>
            <a:r>
              <a:rPr lang="en-US" sz="936" b="1" spc="-54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14개월 ➔ 6.5개월 단축</a:t>
            </a:r>
            <a:endParaRPr lang="en-US" sz="936" dirty="0"/>
          </a:p>
        </p:txBody>
      </p:sp>
      <p:sp>
        <p:nvSpPr>
          <p:cNvPr id="10" name="Text 8"/>
          <p:cNvSpPr txBox="1"/>
          <p:nvPr/>
        </p:nvSpPr>
        <p:spPr>
          <a:xfrm>
            <a:off x="904890" y="4665360"/>
            <a:ext cx="5285964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451"/>
              </a:lnSpc>
              <a:buSzPct val="100000"/>
              <a:buChar char="•"/>
            </a:pPr>
            <a:r>
              <a:rPr lang="en-US" sz="936" spc="-54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세일즈 리드 타임: </a:t>
            </a:r>
            <a:pPr algn="l" indent="0" marL="0">
              <a:lnSpc>
                <a:spcPts val="1451"/>
              </a:lnSpc>
              <a:buNone/>
            </a:pPr>
            <a:r>
              <a:rPr lang="en-US" sz="936" b="1" spc="-54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45일 내 본 계약 체결</a:t>
            </a:r>
            <a:endParaRPr lang="en-US" sz="936" dirty="0"/>
          </a:p>
        </p:txBody>
      </p:sp>
      <p:sp>
        <p:nvSpPr>
          <p:cNvPr id="11" name="Shape 9"/>
          <p:cNvSpPr/>
          <p:nvPr/>
        </p:nvSpPr>
        <p:spPr>
          <a:xfrm>
            <a:off x="6172200" y="3690793"/>
            <a:ext cx="5467380" cy="1398575"/>
          </a:xfrm>
          <a:prstGeom prst="roundRect">
            <a:avLst>
              <a:gd name="adj" fmla="val 9533"/>
            </a:avLst>
          </a:prstGeom>
          <a:solidFill>
            <a:srgbClr val="111A2E"/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72271" y="3886932"/>
            <a:ext cx="5450556" cy="217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140" b="1" spc="-54" kern="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고객 생애 가치 (LTV / CAC Ratio)</a:t>
            </a:r>
            <a:endParaRPr lang="en-US" sz="1140" dirty="0"/>
          </a:p>
        </p:txBody>
      </p:sp>
      <p:sp>
        <p:nvSpPr>
          <p:cNvPr id="13" name="Text 11"/>
          <p:cNvSpPr txBox="1"/>
          <p:nvPr/>
        </p:nvSpPr>
        <p:spPr>
          <a:xfrm>
            <a:off x="6524610" y="4220596"/>
            <a:ext cx="5285964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451"/>
              </a:lnSpc>
              <a:buSzPct val="100000"/>
              <a:buChar char="•"/>
            </a:pPr>
            <a:r>
              <a:rPr lang="en-US" sz="936" spc="-54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생애 가치(LTV): </a:t>
            </a:r>
            <a:pPr algn="l" indent="0" marL="0">
              <a:lnSpc>
                <a:spcPts val="1451"/>
              </a:lnSpc>
              <a:buNone/>
            </a:pPr>
            <a:r>
              <a:rPr lang="en-US" sz="936" b="1" spc="-54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$38,000 달성</a:t>
            </a:r>
            <a:endParaRPr lang="en-US" sz="936" dirty="0"/>
          </a:p>
        </p:txBody>
      </p:sp>
      <p:sp>
        <p:nvSpPr>
          <p:cNvPr id="14" name="Text 12"/>
          <p:cNvSpPr txBox="1"/>
          <p:nvPr/>
        </p:nvSpPr>
        <p:spPr>
          <a:xfrm>
            <a:off x="6524610" y="4442978"/>
            <a:ext cx="5285964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451"/>
              </a:lnSpc>
              <a:buSzPct val="100000"/>
              <a:buChar char="•"/>
            </a:pPr>
            <a:r>
              <a:rPr lang="en-US" sz="936" spc="-54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LTV / CAC 비율: </a:t>
            </a:r>
            <a:pPr algn="l" indent="0" marL="0">
              <a:lnSpc>
                <a:spcPts val="1451"/>
              </a:lnSpc>
              <a:buNone/>
            </a:pPr>
            <a:r>
              <a:rPr lang="en-US" sz="936" b="1" spc="-54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4.8x (SaaS 벤치마크 3.0x 상회)</a:t>
            </a:r>
            <a:endParaRPr lang="en-US" sz="936" dirty="0"/>
          </a:p>
        </p:txBody>
      </p:sp>
      <p:sp>
        <p:nvSpPr>
          <p:cNvPr id="15" name="Text 13"/>
          <p:cNvSpPr txBox="1"/>
          <p:nvPr/>
        </p:nvSpPr>
        <p:spPr>
          <a:xfrm>
            <a:off x="6524610" y="4665360"/>
            <a:ext cx="5285964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451"/>
              </a:lnSpc>
              <a:buSzPct val="100000"/>
              <a:buChar char="•"/>
            </a:pPr>
            <a:r>
              <a:rPr lang="en-US" sz="936" spc="-54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연간 로고 이탈률(Churn): </a:t>
            </a:r>
            <a:pPr algn="l" indent="0" marL="0">
              <a:lnSpc>
                <a:spcPts val="1451"/>
              </a:lnSpc>
              <a:buNone/>
            </a:pPr>
            <a:r>
              <a:rPr lang="en-US" sz="936" b="1" spc="-54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1.8% 미만 극저치 유지</a:t>
            </a:r>
            <a:endParaRPr lang="en-US" sz="936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8B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2480" y="804306"/>
            <a:ext cx="2733690" cy="418521"/>
          </a:xfrm>
          <a:prstGeom prst="roundRect">
            <a:avLst>
              <a:gd name="adj" fmla="val 50011"/>
            </a:avLst>
          </a:prstGeom>
          <a:solidFill>
            <a:srgbClr val="F59E0B">
              <a:alpha val="15000"/>
            </a:srgbClr>
          </a:solidFill>
          <a:ln w="9525">
            <a:solidFill>
              <a:srgbClr val="F59E0B">
                <a:alpha val="3500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76290" y="847466"/>
            <a:ext cx="2662824" cy="323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45"/>
              </a:lnSpc>
              <a:buNone/>
            </a:pPr>
            <a:r>
              <a:rPr lang="en-US" sz="1697" b="1" spc="34" kern="0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EXECUTIVE SUMMARY</a:t>
            </a:r>
            <a:endParaRPr lang="en-US" sz="1697" dirty="0"/>
          </a:p>
        </p:txBody>
      </p:sp>
      <p:sp>
        <p:nvSpPr>
          <p:cNvPr id="4" name="Text 2"/>
          <p:cNvSpPr txBox="1"/>
          <p:nvPr/>
        </p:nvSpPr>
        <p:spPr>
          <a:xfrm>
            <a:off x="533370" y="1298905"/>
            <a:ext cx="11993088" cy="5906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651"/>
              </a:lnSpc>
              <a:buNone/>
            </a:pPr>
            <a:r>
              <a:rPr lang="en-US" sz="3524" b="1" spc="-88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결론 및 질의응답 (Q&amp;A)</a:t>
            </a:r>
            <a:endParaRPr lang="en-US" sz="3524" dirty="0"/>
          </a:p>
        </p:txBody>
      </p:sp>
      <p:sp>
        <p:nvSpPr>
          <p:cNvPr id="5" name="Text 3"/>
          <p:cNvSpPr txBox="1"/>
          <p:nvPr/>
        </p:nvSpPr>
        <p:spPr>
          <a:xfrm>
            <a:off x="533370" y="2072670"/>
            <a:ext cx="11993088" cy="3977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32"/>
              </a:lnSpc>
              <a:buNone/>
            </a:pPr>
            <a:r>
              <a:rPr lang="en-US" sz="2088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차별화된 제품 경쟁력과 실행력을 바탕으로 2026년 목표 ARR $12.5M을 달성하겠습니다.</a:t>
            </a:r>
            <a:endParaRPr lang="en-US" sz="2088" dirty="0"/>
          </a:p>
        </p:txBody>
      </p:sp>
      <p:sp>
        <p:nvSpPr>
          <p:cNvPr id="6" name="Shape 4"/>
          <p:cNvSpPr/>
          <p:nvPr/>
        </p:nvSpPr>
        <p:spPr>
          <a:xfrm>
            <a:off x="552480" y="2631277"/>
            <a:ext cx="6029919" cy="669707"/>
          </a:xfrm>
          <a:prstGeom prst="roundRect">
            <a:avLst>
              <a:gd name="adj" fmla="val 19907"/>
            </a:avLst>
          </a:prstGeom>
          <a:solidFill>
            <a:srgbClr val="111A2E"/>
          </a:solidFill>
          <a:ln/>
        </p:spPr>
      </p:sp>
      <p:sp>
        <p:nvSpPr>
          <p:cNvPr id="7" name="Shape 5"/>
          <p:cNvSpPr/>
          <p:nvPr/>
        </p:nvSpPr>
        <p:spPr>
          <a:xfrm>
            <a:off x="552480" y="2631277"/>
            <a:ext cx="6029919" cy="951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572799" y="2631277"/>
            <a:ext cx="9510" cy="669707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2480" y="3291474"/>
            <a:ext cx="6029919" cy="951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552480" y="2631277"/>
            <a:ext cx="28621" cy="669707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4421" y="2754721"/>
            <a:ext cx="6161044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56"/>
              </a:lnSpc>
              <a:buNone/>
            </a:pPr>
            <a:r>
              <a:rPr lang="en-US" sz="1104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01. 글로벌 엔터프라이즈 GTM 선점</a:t>
            </a:r>
            <a:endParaRPr lang="en-US" sz="1104" dirty="0"/>
          </a:p>
        </p:txBody>
      </p:sp>
      <p:sp>
        <p:nvSpPr>
          <p:cNvPr id="12" name="Text 10"/>
          <p:cNvSpPr txBox="1"/>
          <p:nvPr/>
        </p:nvSpPr>
        <p:spPr>
          <a:xfrm>
            <a:off x="714421" y="2997586"/>
            <a:ext cx="6161044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68"/>
              </a:lnSpc>
              <a:buNone/>
            </a:pPr>
            <a:r>
              <a:rPr lang="en-US" sz="912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북미 및 일본 거점 120개 고객사 확보로 ARR 3.2배 견인</a:t>
            </a:r>
            <a:endParaRPr lang="en-US" sz="912" dirty="0"/>
          </a:p>
        </p:txBody>
      </p:sp>
      <p:sp>
        <p:nvSpPr>
          <p:cNvPr id="13" name="Shape 11"/>
          <p:cNvSpPr/>
          <p:nvPr/>
        </p:nvSpPr>
        <p:spPr>
          <a:xfrm>
            <a:off x="552480" y="3396264"/>
            <a:ext cx="6029919" cy="669707"/>
          </a:xfrm>
          <a:prstGeom prst="roundRect">
            <a:avLst>
              <a:gd name="adj" fmla="val 19907"/>
            </a:avLst>
          </a:prstGeom>
          <a:solidFill>
            <a:srgbClr val="111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52480" y="3396264"/>
            <a:ext cx="6029919" cy="951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6572799" y="3396264"/>
            <a:ext cx="9510" cy="669707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552480" y="4056370"/>
            <a:ext cx="6029919" cy="951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552480" y="3396264"/>
            <a:ext cx="28621" cy="669707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4421" y="3519708"/>
            <a:ext cx="6161044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56"/>
              </a:lnSpc>
              <a:buNone/>
            </a:pPr>
            <a:r>
              <a:rPr lang="en-US" sz="1104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02. 유닛 이코노믹스 고도화</a:t>
            </a:r>
            <a:endParaRPr lang="en-US" sz="1104" dirty="0"/>
          </a:p>
        </p:txBody>
      </p:sp>
      <p:sp>
        <p:nvSpPr>
          <p:cNvPr id="19" name="Text 17"/>
          <p:cNvSpPr txBox="1"/>
          <p:nvPr/>
        </p:nvSpPr>
        <p:spPr>
          <a:xfrm>
            <a:off x="714421" y="3762573"/>
            <a:ext cx="6161044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68"/>
              </a:lnSpc>
              <a:buNone/>
            </a:pPr>
            <a:r>
              <a:rPr lang="en-US" sz="912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CAC 45% 절감 및 LTV/CAC 4.8x 달성으로 영업이익률 28.4% 확보</a:t>
            </a:r>
            <a:endParaRPr lang="en-US" sz="912" dirty="0"/>
          </a:p>
        </p:txBody>
      </p:sp>
      <p:sp>
        <p:nvSpPr>
          <p:cNvPr id="20" name="Shape 18"/>
          <p:cNvSpPr/>
          <p:nvPr/>
        </p:nvSpPr>
        <p:spPr>
          <a:xfrm>
            <a:off x="552480" y="4161252"/>
            <a:ext cx="6029919" cy="669707"/>
          </a:xfrm>
          <a:prstGeom prst="roundRect">
            <a:avLst>
              <a:gd name="adj" fmla="val 19907"/>
            </a:avLst>
          </a:prstGeom>
          <a:solidFill>
            <a:srgbClr val="111A2E"/>
          </a:solidFill>
          <a:ln/>
        </p:spPr>
      </p:sp>
      <p:sp>
        <p:nvSpPr>
          <p:cNvPr id="21" name="Shape 19"/>
          <p:cNvSpPr/>
          <p:nvPr/>
        </p:nvSpPr>
        <p:spPr>
          <a:xfrm>
            <a:off x="552480" y="4161252"/>
            <a:ext cx="6029919" cy="951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572799" y="4161252"/>
            <a:ext cx="9510" cy="669707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552480" y="4821448"/>
            <a:ext cx="6029919" cy="951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52480" y="4161252"/>
            <a:ext cx="28621" cy="669707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14421" y="4284696"/>
            <a:ext cx="6161044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56"/>
              </a:lnSpc>
              <a:buNone/>
            </a:pPr>
            <a:r>
              <a:rPr lang="en-US" sz="1104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03. 지속 가능한 NRR 142% 달성</a:t>
            </a:r>
            <a:endParaRPr lang="en-US" sz="1104" dirty="0"/>
          </a:p>
        </p:txBody>
      </p:sp>
      <p:sp>
        <p:nvSpPr>
          <p:cNvPr id="26" name="Text 24"/>
          <p:cNvSpPr txBox="1"/>
          <p:nvPr/>
        </p:nvSpPr>
        <p:spPr>
          <a:xfrm>
            <a:off x="714421" y="4527560"/>
            <a:ext cx="6161044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68"/>
              </a:lnSpc>
              <a:buNone/>
            </a:pPr>
            <a:r>
              <a:rPr lang="en-US" sz="912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 단위 확장 및 크로스셀 파이프라인으로 장기 락인 효과 극대화</a:t>
            </a:r>
            <a:endParaRPr lang="en-US" sz="912" dirty="0"/>
          </a:p>
        </p:txBody>
      </p:sp>
      <p:sp>
        <p:nvSpPr>
          <p:cNvPr id="27" name="Shape 25"/>
          <p:cNvSpPr/>
          <p:nvPr/>
        </p:nvSpPr>
        <p:spPr>
          <a:xfrm>
            <a:off x="6772869" y="2631277"/>
            <a:ext cx="4866711" cy="3441344"/>
          </a:xfrm>
          <a:prstGeom prst="roundRect">
            <a:avLst>
              <a:gd name="adj" fmla="val 3874"/>
            </a:avLst>
          </a:prstGeom>
          <a:solidFill>
            <a:srgbClr val="111A2E"/>
          </a:solidFill>
          <a:ln w="9525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953829" y="2810774"/>
            <a:ext cx="4843028" cy="2983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49"/>
              </a:lnSpc>
              <a:buNone/>
            </a:pPr>
            <a:r>
              <a:rPr lang="en-US" sz="1566" b="1" spc="125" kern="0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EXECUTIVE DISCUSSION</a:t>
            </a:r>
            <a:endParaRPr lang="en-US" sz="1566" dirty="0"/>
          </a:p>
        </p:txBody>
      </p:sp>
      <p:sp>
        <p:nvSpPr>
          <p:cNvPr id="29" name="Text 27"/>
          <p:cNvSpPr txBox="1"/>
          <p:nvPr/>
        </p:nvSpPr>
        <p:spPr>
          <a:xfrm>
            <a:off x="6953829" y="3127522"/>
            <a:ext cx="4843028" cy="546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307"/>
              </a:lnSpc>
              <a:buNone/>
            </a:pPr>
            <a:r>
              <a:rPr lang="en-US" sz="3915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&amp; A</a:t>
            </a:r>
            <a:endParaRPr lang="en-US" sz="3915" dirty="0"/>
          </a:p>
        </p:txBody>
      </p:sp>
      <p:sp>
        <p:nvSpPr>
          <p:cNvPr id="30" name="Text 28"/>
          <p:cNvSpPr txBox="1"/>
          <p:nvPr/>
        </p:nvSpPr>
        <p:spPr>
          <a:xfrm>
            <a:off x="6953829" y="3730478"/>
            <a:ext cx="4504792" cy="603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5"/>
              </a:lnSpc>
              <a:buNone/>
            </a:pPr>
            <a:r>
              <a:rPr lang="en-US" sz="1697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사업화 전략 및 재무 실행 계획에 대한 질의응답을 진행합니다.</a:t>
            </a:r>
            <a:endParaRPr lang="en-US" sz="1697" dirty="0"/>
          </a:p>
        </p:txBody>
      </p:sp>
      <p:sp>
        <p:nvSpPr>
          <p:cNvPr id="31" name="Shape 29"/>
          <p:cNvSpPr/>
          <p:nvPr/>
        </p:nvSpPr>
        <p:spPr>
          <a:xfrm>
            <a:off x="6972849" y="4432280"/>
            <a:ext cx="4466661" cy="951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953829" y="4529480"/>
            <a:ext cx="4843028" cy="281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9"/>
              </a:lnSpc>
              <a:buNone/>
            </a:pPr>
            <a:r>
              <a:rPr lang="en-US" sz="1479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STRATEGY DIVISION</a:t>
            </a:r>
            <a:endParaRPr lang="en-US" sz="1479" dirty="0"/>
          </a:p>
        </p:txBody>
      </p:sp>
      <p:sp>
        <p:nvSpPr>
          <p:cNvPr id="33" name="Text 31"/>
          <p:cNvSpPr txBox="1"/>
          <p:nvPr/>
        </p:nvSpPr>
        <p:spPr>
          <a:xfrm>
            <a:off x="6953829" y="4830501"/>
            <a:ext cx="4843028" cy="34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41"/>
              </a:lnSpc>
              <a:buNone/>
            </a:pPr>
            <a:r>
              <a:rPr lang="en-US" sz="1827" b="1" spc="-54" kern="0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경영전략본부 / 전략기획실</a:t>
            </a:r>
            <a:endParaRPr lang="en-US" sz="1827" dirty="0"/>
          </a:p>
        </p:txBody>
      </p:sp>
      <p:sp>
        <p:nvSpPr>
          <p:cNvPr id="34" name="Text 32"/>
          <p:cNvSpPr txBox="1"/>
          <p:nvPr/>
        </p:nvSpPr>
        <p:spPr>
          <a:xfrm>
            <a:off x="6953829" y="5235397"/>
            <a:ext cx="4843028" cy="281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9"/>
              </a:lnSpc>
              <a:buNone/>
            </a:pPr>
            <a:r>
              <a:rPr lang="en-US" sz="1479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EXECUTIVE CONTACT</a:t>
            </a:r>
            <a:endParaRPr lang="en-US" sz="1479" dirty="0"/>
          </a:p>
        </p:txBody>
      </p:sp>
      <p:sp>
        <p:nvSpPr>
          <p:cNvPr id="35" name="Text 33"/>
          <p:cNvSpPr txBox="1"/>
          <p:nvPr/>
        </p:nvSpPr>
        <p:spPr>
          <a:xfrm>
            <a:off x="6953829" y="5536418"/>
            <a:ext cx="4843028" cy="34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41"/>
              </a:lnSpc>
              <a:buNone/>
            </a:pPr>
            <a:r>
              <a:rPr lang="en-US" sz="1827" spc="-54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strategy@enterprise.com</a:t>
            </a:r>
            <a:endParaRPr lang="en-US" sz="1827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Template_Business_Clean_Navy</dc:title>
  <dc:subject>Generated from an audited HTML preview</dc:subject>
  <dc:creator>korean-presentation-skill</dc:creator>
  <cp:lastModifiedBy>korean-presentation-skill</cp:lastModifiedBy>
  <cp:revision>1</cp:revision>
  <dcterms:created xsi:type="dcterms:W3CDTF">2026-09-06T09:53:50Z</dcterms:created>
  <dcterms:modified xsi:type="dcterms:W3CDTF">2026-09-06T09:53:50Z</dcterms:modified>
</cp:coreProperties>
</file>