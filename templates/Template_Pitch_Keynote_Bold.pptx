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[피치 오프닝] 개발자의 업무 생산성을 10배 이상 끌어올리는 차세대 AI 에이전트 플랫폼을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[아젠다 피치] 문제 정의부터 제품 솔루션, 폭발적 성장 트랙션, 투자 제안까지 설명하겠습니다.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[트랙션 피치] 현재 350개 이상의 B2B 고객사와 월 45만 달러 MRR을 달성하며 폭발적으로 성장하고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[제품 비전] 단순 자동 완성을 넘어 기획부터 배포까지 스스로 수행하는 자율형 엔지니어링 군단입니다.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[비즈니스 모델] 시트당 구독과 토큰 종량제의 결합으로 155% NRR을 기록하고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[피치 마무리] 500만 달러 Series A 투자를 통해 글로벌 1위 플랫폼으로 도약하겠습니다. 투자자 여러분의 질문을 환영합니다.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428671"/>
            <a:ext cx="3690153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5310" y="481980"/>
            <a:ext cx="3654674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SERIES A INVESTMENT PITCH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056132"/>
            <a:ext cx="11125230" cy="169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61"/>
              </a:lnSpc>
              <a:buNone/>
            </a:pPr>
            <a:r>
              <a:rPr lang="en-US" sz="5329" b="1" spc="-18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워크플로우를 자동화하는</a:t>
            </a:r>
            <a:pPr algn="l" indent="0" marL="0">
              <a:lnSpc>
                <a:spcPts val="6661"/>
              </a:lnSpc>
              <a:buNone/>
            </a:pPr>
            <a:endParaRPr lang="en-US" sz="5329" dirty="0"/>
          </a:p>
          <a:p>
            <a:pPr algn="l" indent="0" marL="0">
              <a:lnSpc>
                <a:spcPts val="6661"/>
              </a:lnSpc>
              <a:buNone/>
            </a:pPr>
            <a:r>
              <a:rPr lang="en-US" sz="5329" b="1" spc="-18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5329" dirty="0"/>
          </a:p>
          <a:p>
            <a:pPr algn="l" indent="0" marL="0">
              <a:lnSpc>
                <a:spcPts val="6661"/>
              </a:lnSpc>
              <a:buNone/>
            </a:pPr>
            <a:r>
              <a:rPr lang="en-US" sz="5329" b="1" spc="-187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오토노머스 플랫폼</a:t>
            </a:r>
            <a:endParaRPr lang="en-US" sz="5329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3064794"/>
            <a:ext cx="119930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34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반복적인 코딩 및 디자인 작업을 10배 빠르게 혁신하는 개발 생산성 솔루션</a:t>
            </a:r>
            <a:endParaRPr lang="en-US" sz="1344" dirty="0"/>
          </a:p>
        </p:txBody>
      </p:sp>
      <p:sp>
        <p:nvSpPr>
          <p:cNvPr id="6" name="Shape 4"/>
          <p:cNvSpPr/>
          <p:nvPr/>
        </p:nvSpPr>
        <p:spPr>
          <a:xfrm>
            <a:off x="552480" y="5517855"/>
            <a:ext cx="3818992" cy="921075"/>
          </a:xfrm>
          <a:prstGeom prst="roundRect">
            <a:avLst>
              <a:gd name="adj" fmla="val 12409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4421" y="5639471"/>
            <a:ext cx="3752606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FOUNDER &amp; CEO</a:t>
            </a:r>
            <a:endParaRPr lang="en-US" sz="1523" dirty="0"/>
          </a:p>
        </p:txBody>
      </p:sp>
      <p:sp>
        <p:nvSpPr>
          <p:cNvPr id="8" name="Text 6"/>
          <p:cNvSpPr txBox="1"/>
          <p:nvPr/>
        </p:nvSpPr>
        <p:spPr>
          <a:xfrm>
            <a:off x="714421" y="5949178"/>
            <a:ext cx="3752606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 • Founder &amp; CEO</a:t>
            </a:r>
            <a:endParaRPr lang="en-US" sz="1914" dirty="0"/>
          </a:p>
        </p:txBody>
      </p:sp>
      <p:sp>
        <p:nvSpPr>
          <p:cNvPr id="9" name="Shape 7"/>
          <p:cNvSpPr/>
          <p:nvPr/>
        </p:nvSpPr>
        <p:spPr>
          <a:xfrm>
            <a:off x="4504792" y="5517855"/>
            <a:ext cx="3182386" cy="921075"/>
          </a:xfrm>
          <a:prstGeom prst="roundRect">
            <a:avLst>
              <a:gd name="adj" fmla="val 12409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6640" y="5639471"/>
            <a:ext cx="3065160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 ROUND</a:t>
            </a:r>
            <a:endParaRPr lang="en-US" sz="1523" dirty="0"/>
          </a:p>
        </p:txBody>
      </p:sp>
      <p:sp>
        <p:nvSpPr>
          <p:cNvPr id="11" name="Text 9"/>
          <p:cNvSpPr txBox="1"/>
          <p:nvPr/>
        </p:nvSpPr>
        <p:spPr>
          <a:xfrm>
            <a:off x="4666640" y="5949178"/>
            <a:ext cx="3065160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Series A ($5M Target)</a:t>
            </a:r>
            <a:endParaRPr lang="en-US" sz="1914" dirty="0"/>
          </a:p>
        </p:txBody>
      </p:sp>
      <p:sp>
        <p:nvSpPr>
          <p:cNvPr id="12" name="Shape 10"/>
          <p:cNvSpPr/>
          <p:nvPr/>
        </p:nvSpPr>
        <p:spPr>
          <a:xfrm>
            <a:off x="7820497" y="5517855"/>
            <a:ext cx="3819083" cy="921075"/>
          </a:xfrm>
          <a:prstGeom prst="roundRect">
            <a:avLst>
              <a:gd name="adj" fmla="val 12409"/>
            </a:avLst>
          </a:prstGeom>
          <a:solidFill>
            <a:srgbClr val="151826"/>
          </a:solidFill>
          <a:ln w="9525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82438" y="5639471"/>
            <a:ext cx="3752698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 DECK VERSION</a:t>
            </a:r>
            <a:endParaRPr lang="en-US" sz="1523" dirty="0"/>
          </a:p>
        </p:txBody>
      </p:sp>
      <p:sp>
        <p:nvSpPr>
          <p:cNvPr id="14" name="Text 12"/>
          <p:cNvSpPr txBox="1"/>
          <p:nvPr/>
        </p:nvSpPr>
        <p:spPr>
          <a:xfrm>
            <a:off x="7982438" y="5949178"/>
            <a:ext cx="3752698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IR Deck v2.4</a:t>
            </a:r>
            <a:endParaRPr lang="en-US" sz="19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628821"/>
            <a:ext cx="2085198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5310" y="1682130"/>
            <a:ext cx="1921337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PITCH OUTLINE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206630"/>
            <a:ext cx="2693640" cy="6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263" b="1" spc="26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STORYLINE</a:t>
            </a:r>
            <a:endParaRPr lang="en-US" sz="3263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90020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문제부터</a:t>
            </a:r>
            <a:endParaRPr lang="en-US" sz="1056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제안까지 4챕터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552480" y="46863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1970" y="4724430"/>
            <a:ext cx="571500" cy="19020"/>
          </a:xfrm>
          <a:prstGeom prst="rect">
            <a:avLst/>
          </a:prstGeom>
          <a:solidFill>
            <a:srgbClr val="FBBF2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2480" y="49149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761970" y="4953030"/>
            <a:ext cx="952530" cy="19020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51435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761970" y="5181630"/>
            <a:ext cx="428671" cy="19020"/>
          </a:xfrm>
          <a:prstGeom prst="rect">
            <a:avLst/>
          </a:prstGeom>
          <a:solidFill>
            <a:srgbClr val="FBBF24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86150" y="142921"/>
            <a:ext cx="4000500" cy="2795595"/>
          </a:xfrm>
          <a:prstGeom prst="roundRect">
            <a:avLst>
              <a:gd name="adj" fmla="val 5453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5240" y="342900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5730" y="308427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5" name="Text 13"/>
          <p:cNvSpPr txBox="1"/>
          <p:nvPr/>
        </p:nvSpPr>
        <p:spPr>
          <a:xfrm>
            <a:off x="3686221" y="664403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거대한 문제 (Problem)</a:t>
            </a:r>
            <a:endParaRPr lang="en-US" sz="2175" dirty="0"/>
          </a:p>
        </p:txBody>
      </p:sp>
      <p:sp>
        <p:nvSpPr>
          <p:cNvPr id="16" name="Text 14"/>
          <p:cNvSpPr txBox="1"/>
          <p:nvPr/>
        </p:nvSpPr>
        <p:spPr>
          <a:xfrm>
            <a:off x="3686221" y="1078718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엔지니어 인건비 상승 및 생산성 한계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레거시 코드 유지보수 비용 폭증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개발 파이프라인의 수동 병목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7639080" y="142921"/>
            <a:ext cx="4000500" cy="2795595"/>
          </a:xfrm>
          <a:prstGeom prst="roundRect">
            <a:avLst>
              <a:gd name="adj" fmla="val 5453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8171" y="342900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8570" y="308427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0" name="Text 18"/>
          <p:cNvSpPr txBox="1"/>
          <p:nvPr/>
        </p:nvSpPr>
        <p:spPr>
          <a:xfrm>
            <a:off x="7839060" y="664403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독점적 솔루션 (Solution)</a:t>
            </a:r>
            <a:endParaRPr lang="en-US" sz="2175" dirty="0"/>
          </a:p>
        </p:txBody>
      </p:sp>
      <p:sp>
        <p:nvSpPr>
          <p:cNvPr id="21" name="Text 19"/>
          <p:cNvSpPr txBox="1"/>
          <p:nvPr/>
        </p:nvSpPr>
        <p:spPr>
          <a:xfrm>
            <a:off x="7839060" y="1078718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자율형 AI 코딩 서브에이전트 군단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정적 분석 기반 무결점 코드 검증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IDE 및 CLI 네이티브 완벽 통합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3486150" y="3090855"/>
            <a:ext cx="4000500" cy="3624224"/>
          </a:xfrm>
          <a:prstGeom prst="roundRect">
            <a:avLst>
              <a:gd name="adj" fmla="val 4206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5240" y="3290926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95730" y="3256453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25" name="Text 23"/>
          <p:cNvSpPr txBox="1"/>
          <p:nvPr/>
        </p:nvSpPr>
        <p:spPr>
          <a:xfrm>
            <a:off x="3686221" y="3612337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폭발적 트랙션 (Traction)</a:t>
            </a:r>
            <a:endParaRPr lang="en-US" sz="2175" dirty="0"/>
          </a:p>
        </p:txBody>
      </p:sp>
      <p:sp>
        <p:nvSpPr>
          <p:cNvPr id="26" name="Text 24"/>
          <p:cNvSpPr txBox="1"/>
          <p:nvPr/>
        </p:nvSpPr>
        <p:spPr>
          <a:xfrm>
            <a:off x="3686221" y="4026652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글로벌 350+ B2B 유료 고객사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월간 반복 매출(MRR) $450K 달성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매월 24% MoM 고속 스케일업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7639080" y="3090855"/>
            <a:ext cx="4000500" cy="3624224"/>
          </a:xfrm>
          <a:prstGeom prst="roundRect">
            <a:avLst>
              <a:gd name="adj" fmla="val 4206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58171" y="3290926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48570" y="3256453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31" dirty="0"/>
          </a:p>
        </p:txBody>
      </p:sp>
      <p:sp>
        <p:nvSpPr>
          <p:cNvPr id="30" name="Text 28"/>
          <p:cNvSpPr txBox="1"/>
          <p:nvPr/>
        </p:nvSpPr>
        <p:spPr>
          <a:xfrm>
            <a:off x="7839060" y="3612337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 &amp; 투자 계획</a:t>
            </a:r>
            <a:endParaRPr lang="en-US" sz="2175" dirty="0"/>
          </a:p>
        </p:txBody>
      </p:sp>
      <p:sp>
        <p:nvSpPr>
          <p:cNvPr id="31" name="Text 29"/>
          <p:cNvSpPr txBox="1"/>
          <p:nvPr/>
        </p:nvSpPr>
        <p:spPr>
          <a:xfrm>
            <a:off x="7839060" y="4026652"/>
            <a:ext cx="3600450" cy="248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시트당 구독료 + 토큰 하이브리드 BM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Series A $5M 펀딩 라운드 오픈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글로벌 마케팅 및 엔지니어링 확장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9570" y="1410919"/>
            <a:ext cx="3352648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39194" y="1464229"/>
            <a:ext cx="351339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TRACTION &amp; MARKET SIZE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1926458"/>
            <a:ext cx="12861036" cy="60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3654" b="1" spc="-9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런칭 6개월 만에 입증된 폭발적인 시장 수요</a:t>
            </a:r>
            <a:endParaRPr lang="en-US" sz="365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2729301"/>
            <a:ext cx="12861036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97"/>
              </a:lnSpc>
              <a:buNone/>
            </a:pPr>
            <a:r>
              <a:rPr lang="en-US" sz="213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350+ 개발팀 도입 및 월간 반복 매출(MRR) 24% 지속 성장</a:t>
            </a:r>
            <a:endParaRPr lang="en-US" sz="2132" dirty="0"/>
          </a:p>
        </p:txBody>
      </p:sp>
      <p:sp>
        <p:nvSpPr>
          <p:cNvPr id="6" name="Shape 4"/>
          <p:cNvSpPr/>
          <p:nvPr/>
        </p:nvSpPr>
        <p:spPr>
          <a:xfrm>
            <a:off x="552480" y="3366912"/>
            <a:ext cx="3581430" cy="2089587"/>
          </a:xfrm>
          <a:prstGeom prst="roundRect">
            <a:avLst>
              <a:gd name="adj" fmla="val 7295"/>
            </a:avLst>
          </a:prstGeom>
          <a:solidFill>
            <a:srgbClr val="151826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3366912"/>
            <a:ext cx="3581430" cy="28621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24310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446989"/>
            <a:ext cx="358143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19340" y="358600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1700" y="3551530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520111" y="3886017"/>
            <a:ext cx="3646170" cy="82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25"/>
              </a:lnSpc>
              <a:buNone/>
            </a:pPr>
            <a:r>
              <a:rPr lang="en-US" sz="6525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350+</a:t>
            </a:r>
            <a:endParaRPr lang="en-US" sz="6525" dirty="0"/>
          </a:p>
        </p:txBody>
      </p:sp>
      <p:sp>
        <p:nvSpPr>
          <p:cNvPr id="14" name="Text 12"/>
          <p:cNvSpPr txBox="1"/>
          <p:nvPr/>
        </p:nvSpPr>
        <p:spPr>
          <a:xfrm>
            <a:off x="520111" y="4770882"/>
            <a:ext cx="364617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26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고객사 (B2B)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520111" y="5072725"/>
            <a:ext cx="36461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테크 유니콘 및 스타트업 중심 유기적 유입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305270" y="3366912"/>
            <a:ext cx="3581430" cy="2089587"/>
          </a:xfrm>
          <a:prstGeom prst="roundRect">
            <a:avLst>
              <a:gd name="adj" fmla="val 7295"/>
            </a:avLst>
          </a:prstGeom>
          <a:solidFill>
            <a:srgbClr val="1518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305270" y="3366912"/>
            <a:ext cx="3581430" cy="28621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877190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05270" y="5446989"/>
            <a:ext cx="358143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05270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72221" y="358600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24580" y="3551530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3" name="Text 21"/>
          <p:cNvSpPr txBox="1"/>
          <p:nvPr/>
        </p:nvSpPr>
        <p:spPr>
          <a:xfrm>
            <a:off x="4272900" y="3886017"/>
            <a:ext cx="3646170" cy="82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25"/>
              </a:lnSpc>
              <a:buNone/>
            </a:pPr>
            <a:r>
              <a:rPr lang="en-US" sz="6525" b="1" spc="-54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$450K</a:t>
            </a:r>
            <a:endParaRPr lang="en-US" sz="6525" dirty="0"/>
          </a:p>
        </p:txBody>
      </p:sp>
      <p:sp>
        <p:nvSpPr>
          <p:cNvPr id="24" name="Text 22"/>
          <p:cNvSpPr txBox="1"/>
          <p:nvPr/>
        </p:nvSpPr>
        <p:spPr>
          <a:xfrm>
            <a:off x="4272900" y="4770882"/>
            <a:ext cx="364617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26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월간 매출 (MRR)</a:t>
            </a:r>
            <a:endParaRPr lang="en-US" sz="1260" dirty="0"/>
          </a:p>
        </p:txBody>
      </p:sp>
      <p:sp>
        <p:nvSpPr>
          <p:cNvPr id="25" name="Text 23"/>
          <p:cNvSpPr txBox="1"/>
          <p:nvPr/>
        </p:nvSpPr>
        <p:spPr>
          <a:xfrm>
            <a:off x="4272900" y="5072725"/>
            <a:ext cx="36461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24%의 복합 성장률(MoM) 기반 고속 스케일업 달성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058150" y="3366912"/>
            <a:ext cx="3581430" cy="2089587"/>
          </a:xfrm>
          <a:prstGeom prst="roundRect">
            <a:avLst>
              <a:gd name="adj" fmla="val 7295"/>
            </a:avLst>
          </a:prstGeom>
          <a:solidFill>
            <a:srgbClr val="15182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8150" y="3366912"/>
            <a:ext cx="3581430" cy="28621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30071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58150" y="5446989"/>
            <a:ext cx="3581430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58150" y="3366912"/>
            <a:ext cx="9510" cy="20895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25010" y="358600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34D399">
              <a:alpha val="15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77370" y="3551530"/>
            <a:ext cx="34290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3" name="Text 31"/>
          <p:cNvSpPr txBox="1"/>
          <p:nvPr/>
        </p:nvSpPr>
        <p:spPr>
          <a:xfrm>
            <a:off x="8025780" y="3886017"/>
            <a:ext cx="3646170" cy="82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525"/>
              </a:lnSpc>
              <a:buNone/>
            </a:pPr>
            <a:r>
              <a:rPr lang="en-US" sz="6525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$42B</a:t>
            </a:r>
            <a:endParaRPr lang="en-US" sz="6525" dirty="0"/>
          </a:p>
        </p:txBody>
      </p:sp>
      <p:sp>
        <p:nvSpPr>
          <p:cNvPr id="34" name="Text 32"/>
          <p:cNvSpPr txBox="1"/>
          <p:nvPr/>
        </p:nvSpPr>
        <p:spPr>
          <a:xfrm>
            <a:off x="8025780" y="4770882"/>
            <a:ext cx="3646170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260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개발 도구 (TAM)</a:t>
            </a:r>
            <a:endParaRPr lang="en-US" sz="1260" dirty="0"/>
          </a:p>
        </p:txBody>
      </p:sp>
      <p:sp>
        <p:nvSpPr>
          <p:cNvPr id="35" name="Text 33"/>
          <p:cNvSpPr txBox="1"/>
          <p:nvPr/>
        </p:nvSpPr>
        <p:spPr>
          <a:xfrm>
            <a:off x="8025780" y="5072725"/>
            <a:ext cx="364617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2028년까지 연평균 26.5% 성장하는 초거대 시장 선점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48458" y="428671"/>
            <a:ext cx="2295053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52665" y="481980"/>
            <a:ext cx="2286549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PARADIGM SHIFT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944209"/>
            <a:ext cx="12861036" cy="60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3654" b="1" spc="-9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AI 어시스턴트를 넘어선 완전 자율형 개발 파이프라인</a:t>
            </a:r>
            <a:endParaRPr lang="en-US" sz="3654" dirty="0"/>
          </a:p>
        </p:txBody>
      </p:sp>
      <p:sp>
        <p:nvSpPr>
          <p:cNvPr id="5" name="Shape 3"/>
          <p:cNvSpPr/>
          <p:nvPr/>
        </p:nvSpPr>
        <p:spPr>
          <a:xfrm>
            <a:off x="552480" y="2508748"/>
            <a:ext cx="11087100" cy="2965491"/>
          </a:xfrm>
          <a:prstGeom prst="roundRect">
            <a:avLst>
              <a:gd name="adj" fmla="val 5140"/>
            </a:avLst>
          </a:prstGeom>
          <a:solidFill>
            <a:srgbClr val="182131">
              <a:alpha val="70000"/>
            </a:srgbClr>
          </a:solidFill>
          <a:ln w="9525">
            <a:solidFill>
              <a:srgbClr val="FBBF24">
                <a:alpha val="3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910" y="2801996"/>
            <a:ext cx="10344150" cy="206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32"/>
              </a:lnSpc>
              <a:buNone/>
            </a:pPr>
            <a:r>
              <a:rPr lang="en-US" sz="40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단순 코드 추천이 아닌,</a:t>
            </a:r>
            <a:pPr algn="ctr" indent="0" marL="0">
              <a:lnSpc>
                <a:spcPts val="5432"/>
              </a:lnSpc>
              <a:buNone/>
            </a:pPr>
            <a:endParaRPr lang="en-US" sz="4024" dirty="0"/>
          </a:p>
          <a:p>
            <a:pPr algn="ctr" indent="0" marL="0">
              <a:lnSpc>
                <a:spcPts val="5432"/>
              </a:lnSpc>
              <a:buNone/>
            </a:pPr>
            <a:r>
              <a:rPr lang="en-US" sz="40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4024" dirty="0"/>
          </a:p>
          <a:p>
            <a:pPr algn="ctr" indent="0" marL="0">
              <a:lnSpc>
                <a:spcPts val="5432"/>
              </a:lnSpc>
              <a:buNone/>
            </a:pPr>
            <a:r>
              <a:rPr lang="en-US" sz="4024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분석부터 배포까지 스스로 수행하는</a:t>
            </a:r>
            <a:endParaRPr lang="en-US" sz="4024" dirty="0"/>
          </a:p>
          <a:p>
            <a:pPr algn="ctr" indent="0" marL="0">
              <a:lnSpc>
                <a:spcPts val="5432"/>
              </a:lnSpc>
              <a:buNone/>
            </a:pPr>
            <a:r>
              <a:rPr lang="en-US" sz="402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자율형 AI 소프트웨어 엔지니어 군단 ”</a:t>
            </a:r>
            <a:endParaRPr lang="en-US" sz="4024" dirty="0"/>
          </a:p>
        </p:txBody>
      </p:sp>
      <p:sp>
        <p:nvSpPr>
          <p:cNvPr id="7" name="Text 5"/>
          <p:cNvSpPr txBox="1"/>
          <p:nvPr/>
        </p:nvSpPr>
        <p:spPr>
          <a:xfrm>
            <a:off x="118506" y="4968392"/>
            <a:ext cx="1195504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6"/>
              </a:lnSpc>
              <a:buNone/>
            </a:pPr>
            <a:r>
              <a:rPr lang="en-US" sz="1104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비즈니스 핵심 로직에만 집중할 수 있는 오토노머스 환경 구축</a:t>
            </a:r>
            <a:endParaRPr lang="en-US" sz="1104" dirty="0"/>
          </a:p>
        </p:txBody>
      </p:sp>
      <p:sp>
        <p:nvSpPr>
          <p:cNvPr id="8" name="Text 6"/>
          <p:cNvSpPr txBox="1"/>
          <p:nvPr/>
        </p:nvSpPr>
        <p:spPr>
          <a:xfrm>
            <a:off x="3621664" y="6230173"/>
            <a:ext cx="15490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ctr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속도 10x 가속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5261000" y="6230173"/>
            <a:ext cx="156088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ctr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리뷰 시간 80% 단축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6903537" y="6230173"/>
            <a:ext cx="167545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pPr algn="ctr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버그 발생률 0% 수렴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5964" y="1756471"/>
            <a:ext cx="2340041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26604" y="1809872"/>
            <a:ext cx="2338761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2272101"/>
            <a:ext cx="12861036" cy="60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50"/>
              </a:lnSpc>
              <a:buNone/>
            </a:pPr>
            <a:r>
              <a:rPr lang="en-US" sz="3654" b="1" spc="-9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과금 체계와 강력한 성장 플라이휠</a:t>
            </a:r>
            <a:endParaRPr lang="en-US" sz="365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3074944"/>
            <a:ext cx="12861036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97"/>
              </a:lnSpc>
              <a:buNone/>
            </a:pPr>
            <a:r>
              <a:rPr lang="en-US" sz="213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1인당 월간 고정 구독료와 사용량 기반 토큰 모델의 결합으로 NRR 155% 달성</a:t>
            </a:r>
            <a:endParaRPr lang="en-US" sz="2132" dirty="0"/>
          </a:p>
        </p:txBody>
      </p:sp>
      <p:sp>
        <p:nvSpPr>
          <p:cNvPr id="6" name="Shape 4"/>
          <p:cNvSpPr/>
          <p:nvPr/>
        </p:nvSpPr>
        <p:spPr>
          <a:xfrm>
            <a:off x="552480" y="3712555"/>
            <a:ext cx="5457871" cy="1398575"/>
          </a:xfrm>
          <a:prstGeom prst="roundRect">
            <a:avLst>
              <a:gd name="adj" fmla="val 10899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2460" y="3908786"/>
            <a:ext cx="5440314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B2B 엔터프라이즈 구독 (SaaS)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904890" y="4242359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시트당 월간 구독료: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$49/월 (연간 계약 기준)</a:t>
            </a:r>
            <a:endParaRPr lang="en-US" sz="936" dirty="0"/>
          </a:p>
        </p:txBody>
      </p:sp>
      <p:sp>
        <p:nvSpPr>
          <p:cNvPr id="9" name="Text 7"/>
          <p:cNvSpPr txBox="1"/>
          <p:nvPr/>
        </p:nvSpPr>
        <p:spPr>
          <a:xfrm>
            <a:off x="904890" y="4464649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격리 에디션: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계정당 연 $120K</a:t>
            </a:r>
            <a:endParaRPr lang="en-US" sz="936" dirty="0"/>
          </a:p>
        </p:txBody>
      </p:sp>
      <p:sp>
        <p:nvSpPr>
          <p:cNvPr id="10" name="Text 8"/>
          <p:cNvSpPr txBox="1"/>
          <p:nvPr/>
        </p:nvSpPr>
        <p:spPr>
          <a:xfrm>
            <a:off x="904890" y="4687032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유지율(Gross Retention):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98.5% 달성</a:t>
            </a:r>
            <a:endParaRPr lang="en-US" sz="936" dirty="0"/>
          </a:p>
        </p:txBody>
      </p:sp>
      <p:sp>
        <p:nvSpPr>
          <p:cNvPr id="11" name="Shape 9"/>
          <p:cNvSpPr/>
          <p:nvPr/>
        </p:nvSpPr>
        <p:spPr>
          <a:xfrm>
            <a:off x="6181710" y="3712555"/>
            <a:ext cx="5457871" cy="1398575"/>
          </a:xfrm>
          <a:prstGeom prst="roundRect">
            <a:avLst>
              <a:gd name="adj" fmla="val 10899"/>
            </a:avLst>
          </a:prstGeom>
          <a:solidFill>
            <a:srgbClr val="1518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1780" y="3908786"/>
            <a:ext cx="5440314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사용량 기반 토큰 과금 (Usage-Based)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534120" y="4242359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고난도 리팩토링 및 CI 빌드 토큰 종량제</a:t>
            </a:r>
            <a:endParaRPr lang="en-US" sz="936" dirty="0"/>
          </a:p>
        </p:txBody>
      </p:sp>
      <p:sp>
        <p:nvSpPr>
          <p:cNvPr id="14" name="Text 12"/>
          <p:cNvSpPr txBox="1"/>
          <p:nvPr/>
        </p:nvSpPr>
        <p:spPr>
          <a:xfrm>
            <a:off x="6534120" y="4464649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월평균 추가 과금: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기본료의 1.8배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6534120" y="4687032"/>
            <a:ext cx="5275722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 유지율(NRR):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155% (최상위 SaaS 지표)</a:t>
            </a:r>
            <a:endParaRPr lang="en-US" sz="93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B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773125"/>
            <a:ext cx="2373874" cy="445770"/>
          </a:xfrm>
          <a:prstGeom prst="roundRect">
            <a:avLst>
              <a:gd name="adj" fmla="val 50010"/>
            </a:avLst>
          </a:prstGeom>
          <a:solidFill>
            <a:srgbClr val="FBBF24">
              <a:alpha val="18000"/>
            </a:srgbClr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5310" y="826526"/>
            <a:ext cx="2233148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740" b="1" spc="7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 ASK</a:t>
            </a:r>
            <a:endParaRPr lang="en-US" sz="1740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288755"/>
            <a:ext cx="11993088" cy="60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654" b="1" spc="-91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제안 및 질의응답 (Q&amp;A)</a:t>
            </a:r>
            <a:endParaRPr lang="en-US" sz="365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091599"/>
            <a:ext cx="11993088" cy="4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97"/>
              </a:lnSpc>
              <a:buNone/>
            </a:pPr>
            <a:r>
              <a:rPr lang="en-US" sz="213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Series A $5M 라운드를 통해 글로벌 엔지니어링 시장의 지배적 리더로 도약합니다.</a:t>
            </a:r>
            <a:endParaRPr lang="en-US" sz="2132" dirty="0"/>
          </a:p>
        </p:txBody>
      </p:sp>
      <p:sp>
        <p:nvSpPr>
          <p:cNvPr id="6" name="Shape 4"/>
          <p:cNvSpPr/>
          <p:nvPr/>
        </p:nvSpPr>
        <p:spPr>
          <a:xfrm>
            <a:off x="552480" y="2653040"/>
            <a:ext cx="6029919" cy="669707"/>
          </a:xfrm>
          <a:prstGeom prst="roundRect">
            <a:avLst>
              <a:gd name="adj" fmla="val 22761"/>
            </a:avLst>
          </a:prstGeom>
          <a:solidFill>
            <a:srgbClr val="151826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2653040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72799" y="2653040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3313146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2653040"/>
            <a:ext cx="28621" cy="669707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421" y="2776484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Series A $5M 펀딩 목표</a:t>
            </a:r>
            <a:endParaRPr lang="en-US" sz="1104" dirty="0"/>
          </a:p>
        </p:txBody>
      </p:sp>
      <p:sp>
        <p:nvSpPr>
          <p:cNvPr id="12" name="Text 10"/>
          <p:cNvSpPr txBox="1"/>
          <p:nvPr/>
        </p:nvSpPr>
        <p:spPr>
          <a:xfrm>
            <a:off x="714421" y="3019349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R&amp;D AI 연구진 20명 확보 및 북미 세일즈 거점 설립</a:t>
            </a:r>
            <a:endParaRPr lang="en-US" sz="912" dirty="0"/>
          </a:p>
        </p:txBody>
      </p:sp>
      <p:sp>
        <p:nvSpPr>
          <p:cNvPr id="13" name="Shape 11"/>
          <p:cNvSpPr/>
          <p:nvPr/>
        </p:nvSpPr>
        <p:spPr>
          <a:xfrm>
            <a:off x="552480" y="3417936"/>
            <a:ext cx="6029919" cy="669707"/>
          </a:xfrm>
          <a:prstGeom prst="roundRect">
            <a:avLst>
              <a:gd name="adj" fmla="val 22761"/>
            </a:avLst>
          </a:prstGeom>
          <a:solidFill>
            <a:srgbClr val="1518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480" y="3417936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72799" y="3417936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2480" y="4078133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2480" y="3417936"/>
            <a:ext cx="28621" cy="669707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421" y="3541380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2027년 목표 ARR $20M 달성</a:t>
            </a:r>
            <a:endParaRPr lang="en-US" sz="1104" dirty="0"/>
          </a:p>
        </p:txBody>
      </p:sp>
      <p:sp>
        <p:nvSpPr>
          <p:cNvPr id="19" name="Text 17"/>
          <p:cNvSpPr txBox="1"/>
          <p:nvPr/>
        </p:nvSpPr>
        <p:spPr>
          <a:xfrm>
            <a:off x="714421" y="3784244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포춘 500 기업 15% 침투 및 글로벌 개발자 100만 명 확보</a:t>
            </a:r>
            <a:endParaRPr lang="en-US" sz="912" dirty="0"/>
          </a:p>
        </p:txBody>
      </p:sp>
      <p:sp>
        <p:nvSpPr>
          <p:cNvPr id="20" name="Shape 18"/>
          <p:cNvSpPr/>
          <p:nvPr/>
        </p:nvSpPr>
        <p:spPr>
          <a:xfrm>
            <a:off x="552480" y="4183014"/>
            <a:ext cx="6029919" cy="669707"/>
          </a:xfrm>
          <a:prstGeom prst="roundRect">
            <a:avLst>
              <a:gd name="adj" fmla="val 22761"/>
            </a:avLst>
          </a:prstGeom>
          <a:solidFill>
            <a:srgbClr val="151826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480" y="4183014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72799" y="4183014"/>
            <a:ext cx="9510" cy="66970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2480" y="4843211"/>
            <a:ext cx="6029919" cy="95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2480" y="4183014"/>
            <a:ext cx="28621" cy="669707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421" y="4306458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독보적인 기술 해자(Moat) 구축</a:t>
            </a:r>
            <a:endParaRPr lang="en-US" sz="1104" dirty="0"/>
          </a:p>
        </p:txBody>
      </p:sp>
      <p:sp>
        <p:nvSpPr>
          <p:cNvPr id="26" name="Text 24"/>
          <p:cNvSpPr txBox="1"/>
          <p:nvPr/>
        </p:nvSpPr>
        <p:spPr>
          <a:xfrm>
            <a:off x="714421" y="4549231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멀티에이전트 오케스트레이션 특허 8건 출원 완료</a:t>
            </a:r>
            <a:endParaRPr lang="en-US" sz="912" dirty="0"/>
          </a:p>
        </p:txBody>
      </p:sp>
      <p:sp>
        <p:nvSpPr>
          <p:cNvPr id="27" name="Shape 25"/>
          <p:cNvSpPr/>
          <p:nvPr/>
        </p:nvSpPr>
        <p:spPr>
          <a:xfrm>
            <a:off x="6772869" y="2653040"/>
            <a:ext cx="4866711" cy="3441344"/>
          </a:xfrm>
          <a:prstGeom prst="roundRect">
            <a:avLst>
              <a:gd name="adj" fmla="val 3874"/>
            </a:avLst>
          </a:prstGeom>
          <a:solidFill>
            <a:srgbClr val="151826"/>
          </a:solidFill>
          <a:ln w="9525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53829" y="2832445"/>
            <a:ext cx="4843028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125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RELATIONS</a:t>
            </a:r>
            <a:endParaRPr lang="en-US" sz="1566" dirty="0"/>
          </a:p>
        </p:txBody>
      </p:sp>
      <p:sp>
        <p:nvSpPr>
          <p:cNvPr id="29" name="Text 27"/>
          <p:cNvSpPr txBox="1"/>
          <p:nvPr/>
        </p:nvSpPr>
        <p:spPr>
          <a:xfrm>
            <a:off x="6953829" y="3149285"/>
            <a:ext cx="4843028" cy="546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3915" b="1" spc="-54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915" dirty="0"/>
          </a:p>
        </p:txBody>
      </p:sp>
      <p:sp>
        <p:nvSpPr>
          <p:cNvPr id="30" name="Text 28"/>
          <p:cNvSpPr txBox="1"/>
          <p:nvPr/>
        </p:nvSpPr>
        <p:spPr>
          <a:xfrm>
            <a:off x="6953829" y="3752149"/>
            <a:ext cx="4504792" cy="60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697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라운드 및 비즈니스 실적에 관한 논의를 환영합니다.</a:t>
            </a:r>
            <a:endParaRPr lang="en-US" sz="1697" dirty="0"/>
          </a:p>
        </p:txBody>
      </p:sp>
      <p:sp>
        <p:nvSpPr>
          <p:cNvPr id="31" name="Shape 29"/>
          <p:cNvSpPr/>
          <p:nvPr/>
        </p:nvSpPr>
        <p:spPr>
          <a:xfrm>
            <a:off x="6972849" y="4453951"/>
            <a:ext cx="4466661" cy="951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53829" y="4551243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DATA ROOM</a:t>
            </a:r>
            <a:endParaRPr lang="en-US" sz="1479" dirty="0"/>
          </a:p>
        </p:txBody>
      </p:sp>
      <p:sp>
        <p:nvSpPr>
          <p:cNvPr id="33" name="Text 31"/>
          <p:cNvSpPr txBox="1"/>
          <p:nvPr/>
        </p:nvSpPr>
        <p:spPr>
          <a:xfrm>
            <a:off x="6953829" y="4852264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b="1" spc="-54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ir.autonomous-agent.io</a:t>
            </a:r>
            <a:endParaRPr lang="en-US" sz="1827" dirty="0"/>
          </a:p>
        </p:txBody>
      </p:sp>
      <p:sp>
        <p:nvSpPr>
          <p:cNvPr id="34" name="Text 32"/>
          <p:cNvSpPr txBox="1"/>
          <p:nvPr/>
        </p:nvSpPr>
        <p:spPr>
          <a:xfrm>
            <a:off x="6953829" y="5257160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FOUNDER DIRECT CONTACT</a:t>
            </a:r>
            <a:endParaRPr lang="en-US" sz="1479" dirty="0"/>
          </a:p>
        </p:txBody>
      </p:sp>
      <p:sp>
        <p:nvSpPr>
          <p:cNvPr id="35" name="Text 33"/>
          <p:cNvSpPr txBox="1"/>
          <p:nvPr/>
        </p:nvSpPr>
        <p:spPr>
          <a:xfrm>
            <a:off x="6953829" y="5558089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spc="-54" kern="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founder@autonomous-agent.io</a:t>
            </a:r>
            <a:endParaRPr lang="en-US" sz="18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Template_Pitch_Keynote_Bold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2026-09-06T13:29:03Z</dcterms:created>
  <dcterms:modified xsi:type="dcterms:W3CDTF">2026-09-06T13:29:03Z</dcterms:modified>
</cp:coreProperties>
</file>