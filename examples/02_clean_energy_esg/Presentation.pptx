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재생에너지 2030 탄소중립 로드맵의 비전과 3대 정량 목표입니다.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2026년부터 2030년까지 3단계에 걸친 전력망 전환 타임라인입니다.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495330"/>
            <a:ext cx="2150486" cy="393466"/>
          </a:xfrm>
          <a:prstGeom prst="roundRect">
            <a:avLst>
              <a:gd name="adj" fmla="val 48408"/>
            </a:avLst>
          </a:prstGeom>
          <a:solidFill>
            <a:srgbClr val="064E3B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6290" y="541416"/>
            <a:ext cx="2074042" cy="29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9"/>
              </a:lnSpc>
              <a:buNone/>
            </a:pPr>
            <a:r>
              <a:rPr lang="en-US" sz="1566" b="1" spc="-54" kern="0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ESG ROADMAP 2030</a:t>
            </a:r>
            <a:endParaRPr lang="en-US" sz="1566" dirty="0"/>
          </a:p>
        </p:txBody>
      </p:sp>
      <p:sp>
        <p:nvSpPr>
          <p:cNvPr id="4" name="Text 2"/>
          <p:cNvSpPr txBox="1"/>
          <p:nvPr/>
        </p:nvSpPr>
        <p:spPr>
          <a:xfrm>
            <a:off x="552480" y="956554"/>
            <a:ext cx="11087100" cy="1519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981"/>
              </a:lnSpc>
              <a:buNone/>
            </a:pPr>
            <a:r>
              <a:rPr lang="en-US" sz="4785" b="1" spc="-54" kern="0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지능형 재생에너지 전력망과</a:t>
            </a:r>
            <a:endParaRPr lang="en-US" sz="4785" dirty="0"/>
          </a:p>
          <a:p>
            <a:pPr algn="l" indent="0" marL="0">
              <a:lnSpc>
                <a:spcPts val="5981"/>
              </a:lnSpc>
              <a:buNone/>
            </a:pPr>
            <a:r>
              <a:rPr lang="en-US" sz="4785" b="1" spc="-54" kern="0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2030 탄소중립 실현 로드맵</a:t>
            </a:r>
            <a:endParaRPr lang="en-US" sz="4785" dirty="0"/>
          </a:p>
        </p:txBody>
      </p:sp>
      <p:sp>
        <p:nvSpPr>
          <p:cNvPr id="5" name="Text 3"/>
          <p:cNvSpPr txBox="1"/>
          <p:nvPr/>
        </p:nvSpPr>
        <p:spPr>
          <a:xfrm>
            <a:off x="552480" y="2738537"/>
            <a:ext cx="1195194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spc="-54" kern="0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풍력·태양광의 간헐성을 AI 가상발전소(VPP)와 대용량 ESS로 능동 제어하는 친환경 에너지 전환</a:t>
            </a:r>
            <a:endParaRPr lang="en-US" sz="1140" dirty="0"/>
          </a:p>
        </p:txBody>
      </p:sp>
      <p:sp>
        <p:nvSpPr>
          <p:cNvPr id="6" name="Shape 4"/>
          <p:cNvSpPr/>
          <p:nvPr/>
        </p:nvSpPr>
        <p:spPr>
          <a:xfrm>
            <a:off x="571500" y="5625023"/>
            <a:ext cx="11048970" cy="951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2480" y="5818876"/>
            <a:ext cx="1782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b="1" spc="-54" kern="0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EMISSIONS</a:t>
            </a:r>
            <a:endParaRPr lang="en-US" sz="864" dirty="0"/>
          </a:p>
        </p:txBody>
      </p:sp>
      <p:sp>
        <p:nvSpPr>
          <p:cNvPr id="8" name="Text 6"/>
          <p:cNvSpPr txBox="1"/>
          <p:nvPr/>
        </p:nvSpPr>
        <p:spPr>
          <a:xfrm>
            <a:off x="552480" y="5983742"/>
            <a:ext cx="178216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160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-48.5% GHG</a:t>
            </a:r>
            <a:endParaRPr lang="en-US" sz="2160" dirty="0"/>
          </a:p>
        </p:txBody>
      </p:sp>
      <p:sp>
        <p:nvSpPr>
          <p:cNvPr id="9" name="Shape 7"/>
          <p:cNvSpPr/>
          <p:nvPr/>
        </p:nvSpPr>
        <p:spPr>
          <a:xfrm>
            <a:off x="2508748" y="5825002"/>
            <a:ext cx="9510" cy="57579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04099" y="5818876"/>
            <a:ext cx="132752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b="1" spc="-54" kern="0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GRID RELIABILITY</a:t>
            </a:r>
            <a:endParaRPr lang="en-US" sz="864" dirty="0"/>
          </a:p>
        </p:txBody>
      </p:sp>
      <p:sp>
        <p:nvSpPr>
          <p:cNvPr id="11" name="Text 9"/>
          <p:cNvSpPr txBox="1"/>
          <p:nvPr/>
        </p:nvSpPr>
        <p:spPr>
          <a:xfrm>
            <a:off x="2804099" y="5983742"/>
            <a:ext cx="1327526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160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99.999%</a:t>
            </a:r>
            <a:endParaRPr lang="en-US" sz="2160" dirty="0"/>
          </a:p>
        </p:txBody>
      </p:sp>
      <p:sp>
        <p:nvSpPr>
          <p:cNvPr id="12" name="Shape 10"/>
          <p:cNvSpPr/>
          <p:nvPr/>
        </p:nvSpPr>
        <p:spPr>
          <a:xfrm>
            <a:off x="4339468" y="5825002"/>
            <a:ext cx="9510" cy="57579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34728" y="5818876"/>
            <a:ext cx="19652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b="1" spc="-54" kern="0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RE100 COMPLIANCE</a:t>
            </a:r>
            <a:endParaRPr lang="en-US" sz="864" dirty="0"/>
          </a:p>
        </p:txBody>
      </p:sp>
      <p:sp>
        <p:nvSpPr>
          <p:cNvPr id="14" name="Text 12"/>
          <p:cNvSpPr txBox="1"/>
          <p:nvPr/>
        </p:nvSpPr>
        <p:spPr>
          <a:xfrm>
            <a:off x="4634728" y="5983742"/>
            <a:ext cx="1965228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160" b="1" spc="-54" kern="0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 MATCH</a:t>
            </a:r>
            <a:endParaRPr lang="en-US" sz="21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9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495330"/>
            <a:ext cx="2192091" cy="393466"/>
          </a:xfrm>
          <a:prstGeom prst="roundRect">
            <a:avLst>
              <a:gd name="adj" fmla="val 48408"/>
            </a:avLst>
          </a:prstGeom>
          <a:solidFill>
            <a:srgbClr val="064E3B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6290" y="541416"/>
            <a:ext cx="2119031" cy="29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9"/>
              </a:lnSpc>
              <a:buNone/>
            </a:pPr>
            <a:r>
              <a:rPr lang="en-US" sz="1566" b="1" spc="-54" kern="0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3-PHASE EXECUTION</a:t>
            </a:r>
            <a:endParaRPr lang="en-US" sz="1566" dirty="0"/>
          </a:p>
        </p:txBody>
      </p:sp>
      <p:sp>
        <p:nvSpPr>
          <p:cNvPr id="4" name="Text 2"/>
          <p:cNvSpPr txBox="1"/>
          <p:nvPr/>
        </p:nvSpPr>
        <p:spPr>
          <a:xfrm>
            <a:off x="552480" y="936437"/>
            <a:ext cx="11951940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20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~ 2030 단계별 전력망 전환 타임라인</a:t>
            </a:r>
            <a:endParaRPr lang="en-US" sz="1920" dirty="0"/>
          </a:p>
        </p:txBody>
      </p:sp>
      <p:sp>
        <p:nvSpPr>
          <p:cNvPr id="5" name="Shape 3"/>
          <p:cNvSpPr/>
          <p:nvPr/>
        </p:nvSpPr>
        <p:spPr>
          <a:xfrm>
            <a:off x="571500" y="2366650"/>
            <a:ext cx="3530498" cy="3200674"/>
          </a:xfrm>
          <a:prstGeom prst="roundRect">
            <a:avLst>
              <a:gd name="adj" fmla="val 3571"/>
            </a:avLst>
          </a:prstGeom>
          <a:solidFill>
            <a:srgbClr val="132E20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1571" y="2600005"/>
            <a:ext cx="400050" cy="400050"/>
          </a:xfrm>
          <a:prstGeom prst="roundRect">
            <a:avLst>
              <a:gd name="adj" fmla="val 50011"/>
            </a:avLst>
          </a:prstGeom>
          <a:solidFill>
            <a:srgbClr val="10B98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2460" y="2614452"/>
            <a:ext cx="476220" cy="352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73"/>
              </a:lnSpc>
              <a:buNone/>
            </a:pPr>
            <a:r>
              <a:rPr lang="en-US" sz="1849" b="1" spc="-54" kern="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'26</a:t>
            </a:r>
            <a:endParaRPr lang="en-US" sz="1849" dirty="0"/>
          </a:p>
        </p:txBody>
      </p:sp>
      <p:sp>
        <p:nvSpPr>
          <p:cNvPr id="8" name="Text 6"/>
          <p:cNvSpPr txBox="1"/>
          <p:nvPr/>
        </p:nvSpPr>
        <p:spPr>
          <a:xfrm>
            <a:off x="752460" y="3106400"/>
            <a:ext cx="3400014" cy="43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26"/>
              </a:lnSpc>
              <a:buNone/>
            </a:pPr>
            <a:r>
              <a:rPr lang="en-US" sz="2284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1: VPP 인프라 구축</a:t>
            </a:r>
            <a:endParaRPr lang="en-US" sz="2284" dirty="0"/>
          </a:p>
        </p:txBody>
      </p:sp>
      <p:sp>
        <p:nvSpPr>
          <p:cNvPr id="9" name="Text 7"/>
          <p:cNvSpPr txBox="1"/>
          <p:nvPr/>
        </p:nvSpPr>
        <p:spPr>
          <a:xfrm>
            <a:off x="752460" y="3602736"/>
            <a:ext cx="3168579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740" spc="-54" kern="0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기상 예측 모델링 도입</a:t>
            </a:r>
            <a:endParaRPr lang="en-US" sz="1740" dirty="0"/>
          </a:p>
          <a:p>
            <a:pPr algn="l" indent="0" marL="0">
              <a:lnSpc>
                <a:spcPts val="2610"/>
              </a:lnSpc>
              <a:buNone/>
            </a:pPr>
            <a:r>
              <a:rPr lang="en-US" sz="1740" spc="-54" kern="0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서해안 풍력 단지 100MW 실증</a:t>
            </a:r>
            <a:endParaRPr lang="en-US" sz="1740" dirty="0"/>
          </a:p>
          <a:p>
            <a:pPr algn="l" indent="0" marL="0">
              <a:lnSpc>
                <a:spcPts val="2610"/>
              </a:lnSpc>
              <a:buNone/>
            </a:pPr>
            <a:r>
              <a:rPr lang="en-US" sz="1740" spc="-54" kern="0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계통 연계 인허가 완료</a:t>
            </a:r>
            <a:endParaRPr lang="en-US" sz="1740" dirty="0"/>
          </a:p>
        </p:txBody>
      </p:sp>
      <p:sp>
        <p:nvSpPr>
          <p:cNvPr id="10" name="Shape 8"/>
          <p:cNvSpPr/>
          <p:nvPr/>
        </p:nvSpPr>
        <p:spPr>
          <a:xfrm>
            <a:off x="4330598" y="2366650"/>
            <a:ext cx="3530590" cy="3200674"/>
          </a:xfrm>
          <a:prstGeom prst="roundRect">
            <a:avLst>
              <a:gd name="adj" fmla="val 3571"/>
            </a:avLst>
          </a:prstGeom>
          <a:solidFill>
            <a:srgbClr val="132E20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30669" y="2600005"/>
            <a:ext cx="400050" cy="400050"/>
          </a:xfrm>
          <a:prstGeom prst="roundRect">
            <a:avLst>
              <a:gd name="adj" fmla="val 50011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11650" y="2614452"/>
            <a:ext cx="476220" cy="352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73"/>
              </a:lnSpc>
              <a:buNone/>
            </a:pPr>
            <a:r>
              <a:rPr lang="en-US" sz="1849" b="1" spc="-54" kern="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'28</a:t>
            </a:r>
            <a:endParaRPr lang="en-US" sz="1849" dirty="0"/>
          </a:p>
        </p:txBody>
      </p:sp>
      <p:sp>
        <p:nvSpPr>
          <p:cNvPr id="13" name="Text 11"/>
          <p:cNvSpPr txBox="1"/>
          <p:nvPr/>
        </p:nvSpPr>
        <p:spPr>
          <a:xfrm>
            <a:off x="4511650" y="3106400"/>
            <a:ext cx="3168670" cy="870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6"/>
              </a:lnSpc>
              <a:buNone/>
            </a:pPr>
            <a:r>
              <a:rPr lang="en-US" sz="2284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2: 하이브리드 ESS 확장</a:t>
            </a:r>
            <a:endParaRPr lang="en-US" sz="2284" dirty="0"/>
          </a:p>
        </p:txBody>
      </p:sp>
      <p:sp>
        <p:nvSpPr>
          <p:cNvPr id="14" name="Text 12"/>
          <p:cNvSpPr txBox="1"/>
          <p:nvPr/>
        </p:nvSpPr>
        <p:spPr>
          <a:xfrm>
            <a:off x="4511650" y="4037716"/>
            <a:ext cx="316867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740" spc="-54" kern="0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LFP + 바나듐 레독스 500MWh 배치</a:t>
            </a:r>
            <a:endParaRPr lang="en-US" sz="1740" dirty="0"/>
          </a:p>
          <a:p>
            <a:pPr algn="l" indent="0" marL="0">
              <a:lnSpc>
                <a:spcPts val="2610"/>
              </a:lnSpc>
              <a:buNone/>
            </a:pPr>
            <a:r>
              <a:rPr lang="en-US" sz="1740" spc="-54" kern="0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P2P 분산 전력 거래 마켓 오픈</a:t>
            </a:r>
            <a:endParaRPr lang="en-US" sz="1740" dirty="0"/>
          </a:p>
          <a:p>
            <a:pPr algn="l" indent="0" marL="0">
              <a:lnSpc>
                <a:spcPts val="2610"/>
              </a:lnSpc>
              <a:buNone/>
            </a:pPr>
            <a:r>
              <a:rPr lang="en-US" sz="1740" spc="-54" kern="0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산업단지 RE100 직공급 개시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089880" y="2366650"/>
            <a:ext cx="3530498" cy="3200674"/>
          </a:xfrm>
          <a:prstGeom prst="roundRect">
            <a:avLst>
              <a:gd name="adj" fmla="val 3571"/>
            </a:avLst>
          </a:prstGeom>
          <a:solidFill>
            <a:srgbClr val="1B3D2B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9859" y="2600005"/>
            <a:ext cx="400050" cy="400050"/>
          </a:xfrm>
          <a:prstGeom prst="roundRect">
            <a:avLst>
              <a:gd name="adj" fmla="val 50011"/>
            </a:avLst>
          </a:prstGeom>
          <a:solidFill>
            <a:srgbClr val="34D39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70839" y="2614452"/>
            <a:ext cx="476220" cy="352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73"/>
              </a:lnSpc>
              <a:buNone/>
            </a:pPr>
            <a:r>
              <a:rPr lang="en-US" sz="1849" b="1" spc="-54" kern="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'30</a:t>
            </a:r>
            <a:endParaRPr lang="en-US" sz="1849" dirty="0"/>
          </a:p>
        </p:txBody>
      </p:sp>
      <p:sp>
        <p:nvSpPr>
          <p:cNvPr id="18" name="Text 16"/>
          <p:cNvSpPr txBox="1"/>
          <p:nvPr/>
        </p:nvSpPr>
        <p:spPr>
          <a:xfrm>
            <a:off x="8270839" y="3106400"/>
            <a:ext cx="3168579" cy="870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6"/>
              </a:lnSpc>
              <a:buNone/>
            </a:pPr>
            <a:r>
              <a:rPr lang="en-US" sz="2284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3: 100% 탄소중립 그리드</a:t>
            </a:r>
            <a:endParaRPr lang="en-US" sz="2284" dirty="0"/>
          </a:p>
        </p:txBody>
      </p:sp>
      <p:sp>
        <p:nvSpPr>
          <p:cNvPr id="19" name="Text 17"/>
          <p:cNvSpPr txBox="1"/>
          <p:nvPr/>
        </p:nvSpPr>
        <p:spPr>
          <a:xfrm>
            <a:off x="8270839" y="4037716"/>
            <a:ext cx="3168579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740" spc="-54" kern="0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전국 17개 시도 통합 계통망 완성</a:t>
            </a:r>
            <a:endParaRPr lang="en-US" sz="1740" dirty="0"/>
          </a:p>
          <a:p>
            <a:pPr algn="l" indent="0" marL="0">
              <a:lnSpc>
                <a:spcPts val="2610"/>
              </a:lnSpc>
              <a:buNone/>
            </a:pPr>
            <a:r>
              <a:rPr lang="en-US" sz="1740" spc="-54" kern="0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신재생 출력 제어율 0% 달성</a:t>
            </a:r>
            <a:endParaRPr lang="en-US" sz="1740" dirty="0"/>
          </a:p>
          <a:p>
            <a:pPr algn="l" indent="0" marL="0">
              <a:lnSpc>
                <a:spcPts val="2610"/>
              </a:lnSpc>
              <a:buNone/>
            </a:pPr>
            <a:r>
              <a:rPr lang="en-US" sz="1740" spc="-54" kern="0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연간 1,200만 톤 온실가스 감축</a:t>
            </a:r>
            <a:endParaRPr lang="en-US" sz="1740" dirty="0"/>
          </a:p>
        </p:txBody>
      </p:sp>
      <p:sp>
        <p:nvSpPr>
          <p:cNvPr id="20" name="Text 18"/>
          <p:cNvSpPr txBox="1"/>
          <p:nvPr/>
        </p:nvSpPr>
        <p:spPr>
          <a:xfrm>
            <a:off x="-312450" y="6229350"/>
            <a:ext cx="119519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spc="-54" kern="0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국가 탄소중립녹색성장 기본계획 및 전력수급기본계획 연계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Generated from an audited HTML preview</dc:subject>
  <dc:creator>korean-presentation-skill</dc:creator>
  <cp:lastModifiedBy>korean-presentation-skill</cp:lastModifiedBy>
  <cp:revision>1</cp:revision>
  <dcterms:created xsi:type="dcterms:W3CDTF">2026-09-06T13:28:31Z</dcterms:created>
  <dcterms:modified xsi:type="dcterms:W3CDTF">2026-09-06T13:28:31Z</dcterms:modified>
</cp:coreProperties>
</file>