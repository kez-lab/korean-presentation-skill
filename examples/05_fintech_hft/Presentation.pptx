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FPGA 기반 380나노초 초저지연 트레이딩 엔진의 호가창 처리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070" y="342900"/>
            <a:ext cx="11353830" cy="4441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19070" y="768005"/>
            <a:ext cx="11353830" cy="190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70" y="392369"/>
            <a:ext cx="6487028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HFT TERMINAL</a:t>
            </a:r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CME:NQ1! </a:t>
            </a:r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19,842.50 (+1.42%)</a:t>
            </a:r>
            <a:endParaRPr lang="en-US" sz="1631" dirty="0"/>
          </a:p>
        </p:txBody>
      </p:sp>
      <p:sp>
        <p:nvSpPr>
          <p:cNvPr id="5" name="Text 3"/>
          <p:cNvSpPr txBox="1"/>
          <p:nvPr/>
        </p:nvSpPr>
        <p:spPr>
          <a:xfrm>
            <a:off x="7393198" y="392369"/>
            <a:ext cx="4584527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LATENCY: </a:t>
            </a:r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380 ns</a:t>
            </a:r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STATUS: </a:t>
            </a:r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ARB</a:t>
            </a:r>
            <a:endParaRPr lang="en-US" sz="1631" dirty="0"/>
          </a:p>
        </p:txBody>
      </p:sp>
      <p:sp>
        <p:nvSpPr>
          <p:cNvPr id="6" name="Text 4"/>
          <p:cNvSpPr txBox="1"/>
          <p:nvPr/>
        </p:nvSpPr>
        <p:spPr>
          <a:xfrm>
            <a:off x="400050" y="2402860"/>
            <a:ext cx="12281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-54" kern="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TICK-TO-TRADE PIPELINE</a:t>
            </a:r>
            <a:endParaRPr lang="en-US" sz="864" dirty="0"/>
          </a:p>
        </p:txBody>
      </p:sp>
      <p:sp>
        <p:nvSpPr>
          <p:cNvPr id="7" name="Text 5"/>
          <p:cNvSpPr txBox="1"/>
          <p:nvPr/>
        </p:nvSpPr>
        <p:spPr>
          <a:xfrm>
            <a:off x="400050" y="2597170"/>
            <a:ext cx="1228112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2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나노초 초저지연 알고리즘 트레이딩 엔진</a:t>
            </a:r>
            <a:endParaRPr lang="en-US" sz="2520" dirty="0"/>
          </a:p>
        </p:txBody>
      </p:sp>
      <p:sp>
        <p:nvSpPr>
          <p:cNvPr id="8" name="Shape 6"/>
          <p:cNvSpPr/>
          <p:nvPr/>
        </p:nvSpPr>
        <p:spPr>
          <a:xfrm>
            <a:off x="419070" y="4776826"/>
            <a:ext cx="5600700" cy="1738274"/>
          </a:xfrm>
          <a:prstGeom prst="roundRect">
            <a:avLst>
              <a:gd name="adj" fmla="val 3288"/>
            </a:avLst>
          </a:prstGeom>
          <a:solidFill>
            <a:srgbClr val="0B11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990" y="5268590"/>
            <a:ext cx="5314950" cy="951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2971" y="4911974"/>
            <a:ext cx="5759166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ORDERBOOK DEPTH STREAM</a:t>
            </a:r>
            <a:endParaRPr lang="en-US" sz="1631" dirty="0"/>
          </a:p>
        </p:txBody>
      </p:sp>
      <p:sp>
        <p:nvSpPr>
          <p:cNvPr id="11" name="Text 9"/>
          <p:cNvSpPr txBox="1"/>
          <p:nvPr/>
        </p:nvSpPr>
        <p:spPr>
          <a:xfrm>
            <a:off x="542971" y="5346497"/>
            <a:ext cx="30626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19,842.25 [142 LOTS]</a:t>
            </a:r>
            <a:endParaRPr lang="en-US" sz="1631" dirty="0"/>
          </a:p>
        </p:txBody>
      </p:sp>
      <p:sp>
        <p:nvSpPr>
          <p:cNvPr id="12" name="Text 10"/>
          <p:cNvSpPr txBox="1"/>
          <p:nvPr/>
        </p:nvSpPr>
        <p:spPr>
          <a:xfrm>
            <a:off x="5035875" y="5346497"/>
            <a:ext cx="90681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 μs</a:t>
            </a:r>
            <a:endParaRPr lang="en-US" sz="1631" dirty="0"/>
          </a:p>
        </p:txBody>
      </p:sp>
      <p:sp>
        <p:nvSpPr>
          <p:cNvPr id="13" name="Text 11"/>
          <p:cNvSpPr txBox="1"/>
          <p:nvPr/>
        </p:nvSpPr>
        <p:spPr>
          <a:xfrm>
            <a:off x="542971" y="5685831"/>
            <a:ext cx="30626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19,842.00 [380 LOTS]</a:t>
            </a:r>
            <a:endParaRPr lang="en-US" sz="1631" dirty="0"/>
          </a:p>
        </p:txBody>
      </p:sp>
      <p:sp>
        <p:nvSpPr>
          <p:cNvPr id="14" name="Text 12"/>
          <p:cNvSpPr txBox="1"/>
          <p:nvPr/>
        </p:nvSpPr>
        <p:spPr>
          <a:xfrm>
            <a:off x="5035875" y="5685831"/>
            <a:ext cx="90681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 μs</a:t>
            </a:r>
            <a:endParaRPr lang="en-US" sz="1631" dirty="0"/>
          </a:p>
        </p:txBody>
      </p:sp>
      <p:sp>
        <p:nvSpPr>
          <p:cNvPr id="15" name="Text 13"/>
          <p:cNvSpPr txBox="1"/>
          <p:nvPr/>
        </p:nvSpPr>
        <p:spPr>
          <a:xfrm>
            <a:off x="542971" y="6025164"/>
            <a:ext cx="2935681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19,842.50 [98 LOTS]</a:t>
            </a:r>
            <a:endParaRPr lang="en-US" sz="1631" dirty="0"/>
          </a:p>
        </p:txBody>
      </p:sp>
      <p:sp>
        <p:nvSpPr>
          <p:cNvPr id="16" name="Text 14"/>
          <p:cNvSpPr txBox="1"/>
          <p:nvPr/>
        </p:nvSpPr>
        <p:spPr>
          <a:xfrm>
            <a:off x="5035875" y="6025164"/>
            <a:ext cx="90681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 μs</a:t>
            </a:r>
            <a:endParaRPr lang="en-US" sz="1631" dirty="0"/>
          </a:p>
        </p:txBody>
      </p:sp>
      <p:sp>
        <p:nvSpPr>
          <p:cNvPr id="17" name="Shape 15"/>
          <p:cNvSpPr/>
          <p:nvPr/>
        </p:nvSpPr>
        <p:spPr>
          <a:xfrm>
            <a:off x="6172200" y="4776826"/>
            <a:ext cx="5600700" cy="1738274"/>
          </a:xfrm>
          <a:prstGeom prst="roundRect">
            <a:avLst>
              <a:gd name="adj" fmla="val 3288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630" y="5007803"/>
            <a:ext cx="5697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ANNUALIZED SHARPE RATIO</a:t>
            </a:r>
            <a:endParaRPr lang="en-US" sz="864" dirty="0"/>
          </a:p>
        </p:txBody>
      </p:sp>
      <p:sp>
        <p:nvSpPr>
          <p:cNvPr id="19" name="Text 17"/>
          <p:cNvSpPr txBox="1"/>
          <p:nvPr/>
        </p:nvSpPr>
        <p:spPr>
          <a:xfrm>
            <a:off x="6324630" y="5164988"/>
            <a:ext cx="569744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2640" b="1" spc="-54" kern="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4.28 SR</a:t>
            </a:r>
            <a:endParaRPr lang="en-US" sz="2640" dirty="0"/>
          </a:p>
        </p:txBody>
      </p:sp>
      <p:sp>
        <p:nvSpPr>
          <p:cNvPr id="20" name="Text 18"/>
          <p:cNvSpPr txBox="1"/>
          <p:nvPr/>
        </p:nvSpPr>
        <p:spPr>
          <a:xfrm>
            <a:off x="6324630" y="5796839"/>
            <a:ext cx="5697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VOLUME PROCESSED</a:t>
            </a:r>
            <a:endParaRPr lang="en-US" sz="864" dirty="0"/>
          </a:p>
        </p:txBody>
      </p:sp>
      <p:sp>
        <p:nvSpPr>
          <p:cNvPr id="21" name="Text 19"/>
          <p:cNvSpPr txBox="1"/>
          <p:nvPr/>
        </p:nvSpPr>
        <p:spPr>
          <a:xfrm>
            <a:off x="6324630" y="5959785"/>
            <a:ext cx="569744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$4,850,000,000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070" y="342900"/>
            <a:ext cx="11353830" cy="4441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19070" y="768005"/>
            <a:ext cx="11353830" cy="190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70" y="392369"/>
            <a:ext cx="7247443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LATENCY BREAKDOWN</a:t>
            </a:r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FIBER OPTIC VS DIRECT FPGA</a:t>
            </a:r>
            <a:endParaRPr lang="en-US" sz="1631" dirty="0"/>
          </a:p>
        </p:txBody>
      </p:sp>
      <p:sp>
        <p:nvSpPr>
          <p:cNvPr id="5" name="Text 3"/>
          <p:cNvSpPr txBox="1"/>
          <p:nvPr/>
        </p:nvSpPr>
        <p:spPr>
          <a:xfrm>
            <a:off x="9859152" y="392369"/>
            <a:ext cx="1921337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&lt; 500 ns</a:t>
            </a:r>
            <a:endParaRPr lang="en-US" sz="1631" dirty="0"/>
          </a:p>
        </p:txBody>
      </p:sp>
      <p:sp>
        <p:nvSpPr>
          <p:cNvPr id="6" name="Text 4"/>
          <p:cNvSpPr txBox="1"/>
          <p:nvPr/>
        </p:nvSpPr>
        <p:spPr>
          <a:xfrm>
            <a:off x="400050" y="2160361"/>
            <a:ext cx="122811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하드웨어 직접 가속 틱투트레이드 파이프라인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9070" y="3992636"/>
            <a:ext cx="3695730" cy="1037112"/>
          </a:xfrm>
          <a:prstGeom prst="roundRect">
            <a:avLst>
              <a:gd name="adj" fmla="val 5510"/>
            </a:avLst>
          </a:prstGeom>
          <a:solidFill>
            <a:srgbClr val="0B1120"/>
          </a:solidFill>
          <a:ln/>
        </p:spPr>
      </p:sp>
      <p:sp>
        <p:nvSpPr>
          <p:cNvPr id="8" name="Shape 6"/>
          <p:cNvSpPr/>
          <p:nvPr/>
        </p:nvSpPr>
        <p:spPr>
          <a:xfrm>
            <a:off x="419070" y="3992636"/>
            <a:ext cx="3695730" cy="2862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4105290" y="3992636"/>
            <a:ext cx="9510" cy="10371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19070" y="5020147"/>
            <a:ext cx="3695730" cy="951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19070" y="3992636"/>
            <a:ext cx="9510" cy="10371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2971" y="4153205"/>
            <a:ext cx="3701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1: PACKET INGEST</a:t>
            </a:r>
            <a:endParaRPr lang="en-US" sz="864" dirty="0"/>
          </a:p>
        </p:txBody>
      </p:sp>
      <p:sp>
        <p:nvSpPr>
          <p:cNvPr id="13" name="Text 11"/>
          <p:cNvSpPr txBox="1"/>
          <p:nvPr/>
        </p:nvSpPr>
        <p:spPr>
          <a:xfrm>
            <a:off x="542971" y="4354281"/>
            <a:ext cx="370176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ns</a:t>
            </a:r>
            <a:endParaRPr lang="en-US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542971" y="4715378"/>
            <a:ext cx="37017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Solarflare 커널 바이패스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48120" y="3992636"/>
            <a:ext cx="3695730" cy="1037112"/>
          </a:xfrm>
          <a:prstGeom prst="roundRect">
            <a:avLst>
              <a:gd name="adj" fmla="val 5510"/>
            </a:avLst>
          </a:prstGeom>
          <a:solidFill>
            <a:srgbClr val="0B1120"/>
          </a:solidFill>
          <a:ln/>
        </p:spPr>
      </p:sp>
      <p:sp>
        <p:nvSpPr>
          <p:cNvPr id="16" name="Shape 14"/>
          <p:cNvSpPr/>
          <p:nvPr/>
        </p:nvSpPr>
        <p:spPr>
          <a:xfrm>
            <a:off x="4248120" y="3992636"/>
            <a:ext cx="3695730" cy="28621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4340" y="3992636"/>
            <a:ext cx="9510" cy="10371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248120" y="5020147"/>
            <a:ext cx="3695730" cy="951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8120" y="3992636"/>
            <a:ext cx="9510" cy="10371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72021" y="4153205"/>
            <a:ext cx="3701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2: FPGA ARB CALC</a:t>
            </a:r>
            <a:endParaRPr lang="en-US" sz="864" dirty="0"/>
          </a:p>
        </p:txBody>
      </p:sp>
      <p:sp>
        <p:nvSpPr>
          <p:cNvPr id="21" name="Text 19"/>
          <p:cNvSpPr txBox="1"/>
          <p:nvPr/>
        </p:nvSpPr>
        <p:spPr>
          <a:xfrm>
            <a:off x="4372021" y="4354281"/>
            <a:ext cx="370176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 ns</a:t>
            </a:r>
            <a:endParaRPr lang="en-US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4372021" y="4715378"/>
            <a:ext cx="37017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C++23 템플릿 메타 계산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77170" y="3992636"/>
            <a:ext cx="3695730" cy="1037112"/>
          </a:xfrm>
          <a:prstGeom prst="roundRect">
            <a:avLst>
              <a:gd name="adj" fmla="val 5510"/>
            </a:avLst>
          </a:prstGeom>
          <a:solidFill>
            <a:srgbClr val="0B1120"/>
          </a:solidFill>
          <a:ln/>
        </p:spPr>
      </p:sp>
      <p:sp>
        <p:nvSpPr>
          <p:cNvPr id="24" name="Shape 22"/>
          <p:cNvSpPr/>
          <p:nvPr/>
        </p:nvSpPr>
        <p:spPr>
          <a:xfrm>
            <a:off x="8077170" y="3992636"/>
            <a:ext cx="3695730" cy="2862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63390" y="3992636"/>
            <a:ext cx="9510" cy="10371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8077170" y="5020147"/>
            <a:ext cx="3695730" cy="951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8077170" y="3992636"/>
            <a:ext cx="9510" cy="10371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01071" y="4153205"/>
            <a:ext cx="3701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3: DMA ORDER OUT</a:t>
            </a:r>
            <a:endParaRPr lang="en-US" sz="864" dirty="0"/>
          </a:p>
        </p:txBody>
      </p:sp>
      <p:sp>
        <p:nvSpPr>
          <p:cNvPr id="29" name="Text 27"/>
          <p:cNvSpPr txBox="1"/>
          <p:nvPr/>
        </p:nvSpPr>
        <p:spPr>
          <a:xfrm>
            <a:off x="8201071" y="4354281"/>
            <a:ext cx="370176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 ns</a:t>
            </a:r>
            <a:endParaRPr lang="en-US" sz="1680" dirty="0"/>
          </a:p>
        </p:txBody>
      </p:sp>
      <p:sp>
        <p:nvSpPr>
          <p:cNvPr id="30" name="Text 28"/>
          <p:cNvSpPr txBox="1"/>
          <p:nvPr/>
        </p:nvSpPr>
        <p:spPr>
          <a:xfrm>
            <a:off x="8201071" y="4715378"/>
            <a:ext cx="37017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거래소 전용선 즉시 체결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00050" y="6349228"/>
            <a:ext cx="12281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Total Round-Trip: 380 ns (World Record Benchmark, 2026.08)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2026-09-06T13:28:38Z</dcterms:created>
  <dcterms:modified xsi:type="dcterms:W3CDTF">2026-09-06T13:28:38Z</dcterms:modified>
</cp:coreProperties>
</file>