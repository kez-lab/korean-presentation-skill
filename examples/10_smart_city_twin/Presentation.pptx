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공공 스마트시티 대시보드 형태의 4분할 실시간 관제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1920"/>
            <a:ext cx="11277570" cy="494690"/>
          </a:xfrm>
          <a:prstGeom prst="roundRect">
            <a:avLst>
              <a:gd name="adj" fmla="val 11553"/>
            </a:avLst>
          </a:prstGeom>
          <a:solidFill>
            <a:srgbClr val="0C2138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0121" y="443301"/>
            <a:ext cx="2858049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-54" kern="0" dirty="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🏛️ 국토교통부 스마트도시기획단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7705283" y="443301"/>
            <a:ext cx="4175516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-54" kern="0" dirty="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국가 재난 안전망 관제 현황 : </a:t>
            </a:r>
            <a:pPr algn="l" indent="0" marL="0">
              <a:lnSpc>
                <a:spcPts val="2545"/>
              </a:lnSpc>
              <a:buNone/>
            </a:pPr>
            <a:r>
              <a:rPr lang="en-US" sz="1697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가동 중</a:t>
            </a:r>
            <a:endParaRPr lang="en-US" sz="1697" dirty="0"/>
          </a:p>
        </p:txBody>
      </p:sp>
      <p:sp>
        <p:nvSpPr>
          <p:cNvPr id="5" name="Text 3"/>
          <p:cNvSpPr txBox="1"/>
          <p:nvPr/>
        </p:nvSpPr>
        <p:spPr>
          <a:xfrm>
            <a:off x="438180" y="1875434"/>
            <a:ext cx="11315700" cy="134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2"/>
              </a:lnSpc>
              <a:buNone/>
            </a:pPr>
            <a:r>
              <a:rPr lang="en-US" sz="4241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지자체 연계 실시간 3D</a:t>
            </a:r>
            <a:endParaRPr lang="en-US" sz="4241" dirty="0"/>
          </a:p>
          <a:p>
            <a:pPr algn="l" indent="0" marL="0">
              <a:lnSpc>
                <a:spcPts val="5302"/>
              </a:lnSpc>
              <a:buNone/>
            </a:pPr>
            <a:r>
              <a:rPr lang="en-US" sz="424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스마트시티 디지털 트윈 재난 관제</a:t>
            </a:r>
            <a:endParaRPr lang="en-US" sz="4241" dirty="0"/>
          </a:p>
        </p:txBody>
      </p:sp>
      <p:sp>
        <p:nvSpPr>
          <p:cNvPr id="6" name="Shape 4"/>
          <p:cNvSpPr/>
          <p:nvPr/>
        </p:nvSpPr>
        <p:spPr>
          <a:xfrm>
            <a:off x="457200" y="4484766"/>
            <a:ext cx="5581680" cy="948507"/>
          </a:xfrm>
          <a:prstGeom prst="roundRect">
            <a:avLst>
              <a:gd name="adj" fmla="val 8030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121" y="4602450"/>
            <a:ext cx="10354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침수 사전 감지 골든타임</a:t>
            </a:r>
            <a:endParaRPr lang="en-US" sz="864" dirty="0"/>
          </a:p>
        </p:txBody>
      </p:sp>
      <p:sp>
        <p:nvSpPr>
          <p:cNvPr id="8" name="Shape 6"/>
          <p:cNvSpPr/>
          <p:nvPr/>
        </p:nvSpPr>
        <p:spPr>
          <a:xfrm>
            <a:off x="4958243" y="4608576"/>
            <a:ext cx="918698" cy="319857"/>
          </a:xfrm>
          <a:prstGeom prst="roundRect">
            <a:avLst>
              <a:gd name="adj" fmla="val 11921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96373" y="4620097"/>
            <a:ext cx="887791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전 경보</a:t>
            </a:r>
            <a:endParaRPr lang="en-US" sz="1479" dirty="0"/>
          </a:p>
        </p:txBody>
      </p:sp>
      <p:sp>
        <p:nvSpPr>
          <p:cNvPr id="10" name="Text 8"/>
          <p:cNvSpPr txBox="1"/>
          <p:nvPr/>
        </p:nvSpPr>
        <p:spPr>
          <a:xfrm>
            <a:off x="600121" y="4961717"/>
            <a:ext cx="56974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자동 통제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53180" y="4484766"/>
            <a:ext cx="5581680" cy="948507"/>
          </a:xfrm>
          <a:prstGeom prst="roundRect">
            <a:avLst>
              <a:gd name="adj" fmla="val 8030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6010" y="4602450"/>
            <a:ext cx="845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소방 출동 단축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0309677" y="4608576"/>
            <a:ext cx="1263335" cy="319857"/>
          </a:xfrm>
          <a:prstGeom prst="roundRect">
            <a:avLst>
              <a:gd name="adj" fmla="val 11921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47808" y="4620097"/>
            <a:ext cx="1259952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-41% 시간 절감</a:t>
            </a:r>
            <a:endParaRPr lang="en-US" sz="1479" dirty="0"/>
          </a:p>
        </p:txBody>
      </p:sp>
      <p:sp>
        <p:nvSpPr>
          <p:cNvPr id="15" name="Text 13"/>
          <p:cNvSpPr txBox="1"/>
          <p:nvPr/>
        </p:nvSpPr>
        <p:spPr>
          <a:xfrm>
            <a:off x="6296010" y="4961717"/>
            <a:ext cx="56974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신호등 우선 제어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5547573"/>
            <a:ext cx="5581680" cy="948507"/>
          </a:xfrm>
          <a:prstGeom prst="roundRect">
            <a:avLst>
              <a:gd name="adj" fmla="val 8030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0121" y="5665257"/>
            <a:ext cx="9850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매설물 3D 가시화</a:t>
            </a:r>
            <a:endParaRPr lang="en-US" sz="864" dirty="0"/>
          </a:p>
        </p:txBody>
      </p:sp>
      <p:sp>
        <p:nvSpPr>
          <p:cNvPr id="18" name="Shape 16"/>
          <p:cNvSpPr/>
          <p:nvPr/>
        </p:nvSpPr>
        <p:spPr>
          <a:xfrm>
            <a:off x="4912340" y="5671383"/>
            <a:ext cx="964601" cy="319857"/>
          </a:xfrm>
          <a:prstGeom prst="roundRect">
            <a:avLst>
              <a:gd name="adj" fmla="val 11921"/>
            </a:avLst>
          </a:prstGeom>
          <a:solidFill>
            <a:srgbClr val="0284C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50470" y="5682905"/>
            <a:ext cx="937351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완비</a:t>
            </a:r>
            <a:endParaRPr lang="en-US" sz="1479" dirty="0"/>
          </a:p>
        </p:txBody>
      </p:sp>
      <p:sp>
        <p:nvSpPr>
          <p:cNvPr id="20" name="Text 18"/>
          <p:cNvSpPr txBox="1"/>
          <p:nvPr/>
        </p:nvSpPr>
        <p:spPr>
          <a:xfrm>
            <a:off x="600121" y="6024524"/>
            <a:ext cx="56974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상하수도·가스관 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53180" y="5547573"/>
            <a:ext cx="5581680" cy="948507"/>
          </a:xfrm>
          <a:prstGeom prst="roundRect">
            <a:avLst>
              <a:gd name="adj" fmla="val 8030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6010" y="5665257"/>
            <a:ext cx="7329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지자체 보급</a:t>
            </a:r>
            <a:endParaRPr lang="en-US" sz="864" dirty="0"/>
          </a:p>
        </p:txBody>
      </p:sp>
      <p:sp>
        <p:nvSpPr>
          <p:cNvPr id="23" name="Shape 21"/>
          <p:cNvSpPr/>
          <p:nvPr/>
        </p:nvSpPr>
        <p:spPr>
          <a:xfrm>
            <a:off x="10467960" y="5671383"/>
            <a:ext cx="1104870" cy="319857"/>
          </a:xfrm>
          <a:prstGeom prst="roundRect">
            <a:avLst>
              <a:gd name="adj" fmla="val 11921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06090" y="5682905"/>
            <a:ext cx="108886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226개 시군구</a:t>
            </a:r>
            <a:endParaRPr lang="en-US" sz="1479" dirty="0"/>
          </a:p>
        </p:txBody>
      </p:sp>
      <p:sp>
        <p:nvSpPr>
          <p:cNvPr id="25" name="Text 23"/>
          <p:cNvSpPr txBox="1"/>
          <p:nvPr/>
        </p:nvSpPr>
        <p:spPr>
          <a:xfrm>
            <a:off x="6296010" y="6024524"/>
            <a:ext cx="56974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K-스마트시티 표준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1920"/>
            <a:ext cx="11277570" cy="494690"/>
          </a:xfrm>
          <a:prstGeom prst="roundRect">
            <a:avLst>
              <a:gd name="adj" fmla="val 11553"/>
            </a:avLst>
          </a:prstGeom>
          <a:solidFill>
            <a:srgbClr val="0C2138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0121" y="443210"/>
            <a:ext cx="3817346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-54" kern="0" dirty="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🏛️ 국가 스마트시티 디지털 트윈 인프라 체계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9209014" y="443210"/>
            <a:ext cx="2551359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226개 지자체 통합 연계</a:t>
            </a:r>
            <a:endParaRPr lang="en-US" sz="1697" dirty="0"/>
          </a:p>
        </p:txBody>
      </p:sp>
      <p:sp>
        <p:nvSpPr>
          <p:cNvPr id="5" name="Text 3"/>
          <p:cNvSpPr txBox="1"/>
          <p:nvPr/>
        </p:nvSpPr>
        <p:spPr>
          <a:xfrm>
            <a:off x="438180" y="2362352"/>
            <a:ext cx="12198828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7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통합 재난 관제 및 대시민 안전망</a:t>
            </a:r>
            <a:endParaRPr lang="en-US" sz="1740" dirty="0"/>
          </a:p>
        </p:txBody>
      </p:sp>
      <p:sp>
        <p:nvSpPr>
          <p:cNvPr id="6" name="Shape 4"/>
          <p:cNvSpPr/>
          <p:nvPr/>
        </p:nvSpPr>
        <p:spPr>
          <a:xfrm>
            <a:off x="457200" y="4220047"/>
            <a:ext cx="3670310" cy="658277"/>
          </a:xfrm>
          <a:prstGeom prst="roundRect">
            <a:avLst>
              <a:gd name="adj" fmla="val 11571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121" y="4341937"/>
            <a:ext cx="363318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1: 센서 &amp; GIS</a:t>
            </a:r>
            <a:endParaRPr lang="en-US" sz="1020" dirty="0"/>
          </a:p>
        </p:txBody>
      </p:sp>
      <p:sp>
        <p:nvSpPr>
          <p:cNvPr id="8" name="Text 6"/>
          <p:cNvSpPr txBox="1"/>
          <p:nvPr/>
        </p:nvSpPr>
        <p:spPr>
          <a:xfrm>
            <a:off x="600121" y="4567977"/>
            <a:ext cx="363318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BAE6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 수위계, 지능형 CCTV, 3D 지하 매설물 데이터 수집</a:t>
            </a:r>
            <a:endParaRPr lang="en-US" sz="936" dirty="0"/>
          </a:p>
        </p:txBody>
      </p:sp>
      <p:sp>
        <p:nvSpPr>
          <p:cNvPr id="9" name="Shape 7"/>
          <p:cNvSpPr/>
          <p:nvPr/>
        </p:nvSpPr>
        <p:spPr>
          <a:xfrm>
            <a:off x="4260830" y="4220047"/>
            <a:ext cx="3670310" cy="658277"/>
          </a:xfrm>
          <a:prstGeom prst="roundRect">
            <a:avLst>
              <a:gd name="adj" fmla="val 11571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3659" y="4341937"/>
            <a:ext cx="363318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2: AI 시뮬레이션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4403659" y="4567977"/>
            <a:ext cx="363318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BAE6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강우량에 따른 침수 확산 5분 전 예측 및 대피 경로 자동 산출</a:t>
            </a:r>
            <a:endParaRPr lang="en-US" sz="936" dirty="0"/>
          </a:p>
        </p:txBody>
      </p:sp>
      <p:sp>
        <p:nvSpPr>
          <p:cNvPr id="12" name="Shape 10"/>
          <p:cNvSpPr/>
          <p:nvPr/>
        </p:nvSpPr>
        <p:spPr>
          <a:xfrm>
            <a:off x="8064459" y="4220047"/>
            <a:ext cx="3670402" cy="658277"/>
          </a:xfrm>
          <a:prstGeom prst="roundRect">
            <a:avLst>
              <a:gd name="adj" fmla="val 11571"/>
            </a:avLst>
          </a:prstGeom>
          <a:solidFill>
            <a:srgbClr val="0A1B30"/>
          </a:solidFill>
          <a:ln w="9525">
            <a:solidFill>
              <a:srgbClr val="1636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07289" y="4341937"/>
            <a:ext cx="36332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54" kern="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3: 자동 현장 제어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8207289" y="4567977"/>
            <a:ext cx="3633277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BAE6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차수벽 자동 가동, 소방차 우선 신호 제어, 내비게이션 우회 전송</a:t>
            </a:r>
            <a:endParaRPr lang="en-US" sz="936" dirty="0"/>
          </a:p>
        </p:txBody>
      </p:sp>
      <p:sp>
        <p:nvSpPr>
          <p:cNvPr id="15" name="Text 13"/>
          <p:cNvSpPr txBox="1"/>
          <p:nvPr/>
        </p:nvSpPr>
        <p:spPr>
          <a:xfrm>
            <a:off x="-445038" y="6325453"/>
            <a:ext cx="13082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국토교통부 스마트시티 국가 전략 과제 (2024-2027)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2026-09-06T13:28:49Z</dcterms:created>
  <dcterms:modified xsi:type="dcterms:W3CDTF">2026-09-06T13:28:49Z</dcterms:modified>
</cp:coreProperties>
</file>