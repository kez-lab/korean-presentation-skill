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공공 스마트시티 대시보드 형태의 4분할 실시간 관제 슬라이드입니다.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13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1920"/>
            <a:ext cx="11277570" cy="494690"/>
          </a:xfrm>
          <a:prstGeom prst="roundRect">
            <a:avLst>
              <a:gd name="adj" fmla="val 11553"/>
            </a:avLst>
          </a:prstGeom>
          <a:solidFill>
            <a:srgbClr val="0C2138"/>
          </a:solidFill>
          <a:ln w="9525">
            <a:solidFill>
              <a:srgbClr val="1E3A5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00121" y="443301"/>
            <a:ext cx="2858049" cy="3231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45"/>
              </a:lnSpc>
              <a:buNone/>
            </a:pPr>
            <a:r>
              <a:rPr lang="en-US" sz="1697" b="1" spc="-54" kern="0" dirty="0">
                <a:solidFill>
                  <a:srgbClr val="E0F2F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🏛️ 국토교통부 스마트도시기획단</a:t>
            </a:r>
            <a:endParaRPr lang="en-US" sz="1697" dirty="0"/>
          </a:p>
        </p:txBody>
      </p:sp>
      <p:sp>
        <p:nvSpPr>
          <p:cNvPr id="4" name="Text 2"/>
          <p:cNvSpPr txBox="1"/>
          <p:nvPr/>
        </p:nvSpPr>
        <p:spPr>
          <a:xfrm>
            <a:off x="7705283" y="443301"/>
            <a:ext cx="4175516" cy="3231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45"/>
              </a:lnSpc>
              <a:buNone/>
            </a:pPr>
            <a:r>
              <a:rPr lang="en-US" sz="1697" b="1" spc="-54" kern="0" dirty="0">
                <a:solidFill>
                  <a:srgbClr val="E0F2F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실시간 국가 재난 안전망 관제 현황 : </a:t>
            </a:r>
            <a:pPr algn="l" indent="0" marL="0">
              <a:lnSpc>
                <a:spcPts val="2545"/>
              </a:lnSpc>
              <a:buNone/>
            </a:pPr>
            <a:r>
              <a:rPr lang="en-US" sz="1697" b="1" spc="-54" kern="0" dirty="0">
                <a:solidFill>
                  <a:srgbClr val="38BD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정상 가동 중</a:t>
            </a:r>
            <a:endParaRPr lang="en-US" sz="1697" dirty="0"/>
          </a:p>
        </p:txBody>
      </p:sp>
      <p:sp>
        <p:nvSpPr>
          <p:cNvPr id="5" name="Text 3"/>
          <p:cNvSpPr txBox="1"/>
          <p:nvPr/>
        </p:nvSpPr>
        <p:spPr>
          <a:xfrm>
            <a:off x="438180" y="1875434"/>
            <a:ext cx="11315700" cy="13466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302"/>
              </a:lnSpc>
              <a:buNone/>
            </a:pPr>
            <a:r>
              <a:rPr lang="en-US" sz="4241" b="1" spc="-54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전국 지자체 연계 실시간 3D</a:t>
            </a:r>
            <a:endParaRPr lang="en-US" sz="4241" dirty="0"/>
          </a:p>
          <a:p>
            <a:pPr algn="l" indent="0" marL="0">
              <a:lnSpc>
                <a:spcPts val="5302"/>
              </a:lnSpc>
              <a:buNone/>
            </a:pPr>
            <a:r>
              <a:rPr lang="en-US" sz="4241" b="1" spc="-54" kern="0" dirty="0">
                <a:solidFill>
                  <a:srgbClr val="38BD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스마트시티 디지털 트윈 재난 관제</a:t>
            </a:r>
            <a:endParaRPr lang="en-US" sz="4241" dirty="0"/>
          </a:p>
        </p:txBody>
      </p:sp>
      <p:sp>
        <p:nvSpPr>
          <p:cNvPr id="6" name="Shape 4"/>
          <p:cNvSpPr/>
          <p:nvPr/>
        </p:nvSpPr>
        <p:spPr>
          <a:xfrm>
            <a:off x="457200" y="4484766"/>
            <a:ext cx="5581680" cy="948507"/>
          </a:xfrm>
          <a:prstGeom prst="roundRect">
            <a:avLst>
              <a:gd name="adj" fmla="val 8030"/>
            </a:avLst>
          </a:prstGeom>
          <a:solidFill>
            <a:srgbClr val="0A1B30"/>
          </a:solidFill>
          <a:ln w="9525">
            <a:solidFill>
              <a:srgbClr val="1636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00121" y="4602450"/>
            <a:ext cx="1035467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6"/>
              </a:lnSpc>
              <a:buNone/>
            </a:pPr>
            <a:r>
              <a:rPr lang="en-US" sz="864" spc="-54" kern="0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침수 사전 감지 골든타임</a:t>
            </a:r>
            <a:endParaRPr lang="en-US" sz="864" dirty="0"/>
          </a:p>
        </p:txBody>
      </p:sp>
      <p:sp>
        <p:nvSpPr>
          <p:cNvPr id="8" name="Shape 6"/>
          <p:cNvSpPr/>
          <p:nvPr/>
        </p:nvSpPr>
        <p:spPr>
          <a:xfrm>
            <a:off x="4958243" y="4608576"/>
            <a:ext cx="918698" cy="319857"/>
          </a:xfrm>
          <a:prstGeom prst="roundRect">
            <a:avLst>
              <a:gd name="adj" fmla="val 11921"/>
            </a:avLst>
          </a:prstGeom>
          <a:solidFill>
            <a:srgbClr val="0284C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996373" y="4620097"/>
            <a:ext cx="887791" cy="2817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9"/>
              </a:lnSpc>
              <a:buNone/>
            </a:pPr>
            <a:r>
              <a:rPr lang="en-US" sz="1479" b="1" spc="-54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5분 전 경보</a:t>
            </a:r>
            <a:endParaRPr lang="en-US" sz="1479" dirty="0"/>
          </a:p>
        </p:txBody>
      </p:sp>
      <p:sp>
        <p:nvSpPr>
          <p:cNvPr id="10" name="Text 8"/>
          <p:cNvSpPr txBox="1"/>
          <p:nvPr/>
        </p:nvSpPr>
        <p:spPr>
          <a:xfrm>
            <a:off x="600121" y="4961717"/>
            <a:ext cx="5697444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1800" b="1" spc="-54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100% 자동 통제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6153180" y="4484766"/>
            <a:ext cx="5581680" cy="948507"/>
          </a:xfrm>
          <a:prstGeom prst="roundRect">
            <a:avLst>
              <a:gd name="adj" fmla="val 8030"/>
            </a:avLst>
          </a:prstGeom>
          <a:solidFill>
            <a:srgbClr val="0A1B30"/>
          </a:solidFill>
          <a:ln w="9525">
            <a:solidFill>
              <a:srgbClr val="16365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296010" y="4602450"/>
            <a:ext cx="845729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6"/>
              </a:lnSpc>
              <a:buNone/>
            </a:pPr>
            <a:r>
              <a:rPr lang="en-US" sz="864" spc="-54" kern="0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긴급 소방 출동 단축</a:t>
            </a:r>
            <a:endParaRPr lang="en-US" sz="864" dirty="0"/>
          </a:p>
        </p:txBody>
      </p:sp>
      <p:sp>
        <p:nvSpPr>
          <p:cNvPr id="13" name="Shape 11"/>
          <p:cNvSpPr/>
          <p:nvPr/>
        </p:nvSpPr>
        <p:spPr>
          <a:xfrm>
            <a:off x="10309677" y="4608576"/>
            <a:ext cx="1263335" cy="319857"/>
          </a:xfrm>
          <a:prstGeom prst="roundRect">
            <a:avLst>
              <a:gd name="adj" fmla="val 11921"/>
            </a:avLst>
          </a:prstGeom>
          <a:solidFill>
            <a:srgbClr val="10B98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347808" y="4620097"/>
            <a:ext cx="1259952" cy="2817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9"/>
              </a:lnSpc>
              <a:buNone/>
            </a:pPr>
            <a:r>
              <a:rPr lang="en-US" sz="1479" b="1" spc="-54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-41% 시간 절감</a:t>
            </a:r>
            <a:endParaRPr lang="en-US" sz="1479" dirty="0"/>
          </a:p>
        </p:txBody>
      </p:sp>
      <p:sp>
        <p:nvSpPr>
          <p:cNvPr id="15" name="Text 13"/>
          <p:cNvSpPr txBox="1"/>
          <p:nvPr/>
        </p:nvSpPr>
        <p:spPr>
          <a:xfrm>
            <a:off x="6296010" y="4961717"/>
            <a:ext cx="5697444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1800" b="1" spc="-54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신호등 우선 제어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457200" y="5547573"/>
            <a:ext cx="5581680" cy="948507"/>
          </a:xfrm>
          <a:prstGeom prst="roundRect">
            <a:avLst>
              <a:gd name="adj" fmla="val 8030"/>
            </a:avLst>
          </a:prstGeom>
          <a:solidFill>
            <a:srgbClr val="0A1B30"/>
          </a:solidFill>
          <a:ln w="9525">
            <a:solidFill>
              <a:srgbClr val="16365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00121" y="5665257"/>
            <a:ext cx="985083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6"/>
              </a:lnSpc>
              <a:buNone/>
            </a:pPr>
            <a:r>
              <a:rPr lang="en-US" sz="864" spc="-54" kern="0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지하 매설물 3D 가시화</a:t>
            </a:r>
            <a:endParaRPr lang="en-US" sz="864" dirty="0"/>
          </a:p>
        </p:txBody>
      </p:sp>
      <p:sp>
        <p:nvSpPr>
          <p:cNvPr id="18" name="Shape 16"/>
          <p:cNvSpPr/>
          <p:nvPr/>
        </p:nvSpPr>
        <p:spPr>
          <a:xfrm>
            <a:off x="4912340" y="5671383"/>
            <a:ext cx="964601" cy="319857"/>
          </a:xfrm>
          <a:prstGeom prst="roundRect">
            <a:avLst>
              <a:gd name="adj" fmla="val 11921"/>
            </a:avLst>
          </a:prstGeom>
          <a:solidFill>
            <a:srgbClr val="0284C7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950470" y="5682905"/>
            <a:ext cx="937351" cy="2817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9"/>
              </a:lnSpc>
              <a:buNone/>
            </a:pPr>
            <a:r>
              <a:rPr lang="en-US" sz="1479" b="1" spc="-54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100% 완비</a:t>
            </a:r>
            <a:endParaRPr lang="en-US" sz="1479" dirty="0"/>
          </a:p>
        </p:txBody>
      </p:sp>
      <p:sp>
        <p:nvSpPr>
          <p:cNvPr id="20" name="Text 18"/>
          <p:cNvSpPr txBox="1"/>
          <p:nvPr/>
        </p:nvSpPr>
        <p:spPr>
          <a:xfrm>
            <a:off x="600121" y="6024524"/>
            <a:ext cx="5697444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1800" b="1" spc="-54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상하수도·가스관 맵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6153180" y="5547573"/>
            <a:ext cx="5581680" cy="948507"/>
          </a:xfrm>
          <a:prstGeom prst="roundRect">
            <a:avLst>
              <a:gd name="adj" fmla="val 8030"/>
            </a:avLst>
          </a:prstGeom>
          <a:solidFill>
            <a:srgbClr val="0A1B30"/>
          </a:solidFill>
          <a:ln w="9525">
            <a:solidFill>
              <a:srgbClr val="16365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296010" y="5665257"/>
            <a:ext cx="732983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6"/>
              </a:lnSpc>
              <a:buNone/>
            </a:pPr>
            <a:r>
              <a:rPr lang="en-US" sz="864" spc="-54" kern="0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전국 지자체 보급</a:t>
            </a:r>
            <a:endParaRPr lang="en-US" sz="864" dirty="0"/>
          </a:p>
        </p:txBody>
      </p:sp>
      <p:sp>
        <p:nvSpPr>
          <p:cNvPr id="23" name="Shape 21"/>
          <p:cNvSpPr/>
          <p:nvPr/>
        </p:nvSpPr>
        <p:spPr>
          <a:xfrm>
            <a:off x="10467960" y="5671383"/>
            <a:ext cx="1104870" cy="319857"/>
          </a:xfrm>
          <a:prstGeom prst="roundRect">
            <a:avLst>
              <a:gd name="adj" fmla="val 11921"/>
            </a:avLst>
          </a:prstGeom>
          <a:solidFill>
            <a:srgbClr val="6366F1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10506090" y="5682905"/>
            <a:ext cx="1088868" cy="2817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9"/>
              </a:lnSpc>
              <a:buNone/>
            </a:pPr>
            <a:r>
              <a:rPr lang="en-US" sz="1479" b="1" spc="-54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226개 시군구</a:t>
            </a:r>
            <a:endParaRPr lang="en-US" sz="1479" dirty="0"/>
          </a:p>
        </p:txBody>
      </p:sp>
      <p:sp>
        <p:nvSpPr>
          <p:cNvPr id="25" name="Text 23"/>
          <p:cNvSpPr txBox="1"/>
          <p:nvPr/>
        </p:nvSpPr>
        <p:spPr>
          <a:xfrm>
            <a:off x="6296010" y="6024524"/>
            <a:ext cx="5697444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1800" b="1" spc="-54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K-스마트시티 표준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13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1920"/>
            <a:ext cx="11277570" cy="494690"/>
          </a:xfrm>
          <a:prstGeom prst="roundRect">
            <a:avLst>
              <a:gd name="adj" fmla="val 11553"/>
            </a:avLst>
          </a:prstGeom>
          <a:solidFill>
            <a:srgbClr val="0C2138"/>
          </a:solidFill>
          <a:ln w="9525">
            <a:solidFill>
              <a:srgbClr val="1E3A5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00121" y="443210"/>
            <a:ext cx="3817346" cy="3231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45"/>
              </a:lnSpc>
              <a:buNone/>
            </a:pPr>
            <a:r>
              <a:rPr lang="en-US" sz="1697" b="1" spc="-54" kern="0" dirty="0">
                <a:solidFill>
                  <a:srgbClr val="E0F2F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🏛️ 국가 스마트시티 디지털 트윈 인프라 체계</a:t>
            </a:r>
            <a:endParaRPr lang="en-US" sz="1697" dirty="0"/>
          </a:p>
        </p:txBody>
      </p:sp>
      <p:sp>
        <p:nvSpPr>
          <p:cNvPr id="4" name="Text 2"/>
          <p:cNvSpPr txBox="1"/>
          <p:nvPr/>
        </p:nvSpPr>
        <p:spPr>
          <a:xfrm>
            <a:off x="9209014" y="443210"/>
            <a:ext cx="2551359" cy="3231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45"/>
              </a:lnSpc>
              <a:buNone/>
            </a:pPr>
            <a:r>
              <a:rPr lang="en-US" sz="1697" b="1" spc="-54" kern="0" dirty="0">
                <a:solidFill>
                  <a:srgbClr val="38BD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전국 226개 지자체 통합 연계</a:t>
            </a:r>
            <a:endParaRPr lang="en-US" sz="1697" dirty="0"/>
          </a:p>
        </p:txBody>
      </p:sp>
      <p:sp>
        <p:nvSpPr>
          <p:cNvPr id="5" name="Text 3"/>
          <p:cNvSpPr txBox="1"/>
          <p:nvPr/>
        </p:nvSpPr>
        <p:spPr>
          <a:xfrm>
            <a:off x="438180" y="2362352"/>
            <a:ext cx="12198828" cy="2762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75"/>
              </a:lnSpc>
              <a:buNone/>
            </a:pPr>
            <a:r>
              <a:rPr lang="en-US" sz="1740" b="1" spc="-54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3계층 통합 재난 관제 및 대시민 안전망</a:t>
            </a:r>
            <a:endParaRPr lang="en-US" sz="1740" dirty="0"/>
          </a:p>
        </p:txBody>
      </p:sp>
      <p:sp>
        <p:nvSpPr>
          <p:cNvPr id="6" name="Shape 4"/>
          <p:cNvSpPr/>
          <p:nvPr/>
        </p:nvSpPr>
        <p:spPr>
          <a:xfrm>
            <a:off x="457200" y="4220047"/>
            <a:ext cx="3670310" cy="658277"/>
          </a:xfrm>
          <a:prstGeom prst="roundRect">
            <a:avLst>
              <a:gd name="adj" fmla="val 11571"/>
            </a:avLst>
          </a:prstGeom>
          <a:solidFill>
            <a:srgbClr val="0A1B30"/>
          </a:solidFill>
          <a:ln w="9525">
            <a:solidFill>
              <a:srgbClr val="1636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00121" y="4341937"/>
            <a:ext cx="3633186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30"/>
              </a:lnSpc>
              <a:buNone/>
            </a:pPr>
            <a:r>
              <a:rPr lang="en-US" sz="1020" b="1" spc="-54" kern="0" dirty="0">
                <a:solidFill>
                  <a:srgbClr val="38BD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LAYER 1: 센서 &amp; GIS</a:t>
            </a:r>
            <a:endParaRPr lang="en-US" sz="1020" dirty="0"/>
          </a:p>
        </p:txBody>
      </p:sp>
      <p:sp>
        <p:nvSpPr>
          <p:cNvPr id="8" name="Text 6"/>
          <p:cNvSpPr txBox="1"/>
          <p:nvPr/>
        </p:nvSpPr>
        <p:spPr>
          <a:xfrm>
            <a:off x="600121" y="4567977"/>
            <a:ext cx="363318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04"/>
              </a:lnSpc>
              <a:buNone/>
            </a:pPr>
            <a:r>
              <a:rPr lang="en-US" sz="936" spc="-54" kern="0" dirty="0">
                <a:solidFill>
                  <a:srgbClr val="BAE6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IoT 수위계, 지능형 CCTV, 3D 지하 매설물 데이터 수집</a:t>
            </a:r>
            <a:endParaRPr lang="en-US" sz="936" dirty="0"/>
          </a:p>
        </p:txBody>
      </p:sp>
      <p:sp>
        <p:nvSpPr>
          <p:cNvPr id="9" name="Shape 7"/>
          <p:cNvSpPr/>
          <p:nvPr/>
        </p:nvSpPr>
        <p:spPr>
          <a:xfrm>
            <a:off x="4260830" y="4220047"/>
            <a:ext cx="3670310" cy="658277"/>
          </a:xfrm>
          <a:prstGeom prst="roundRect">
            <a:avLst>
              <a:gd name="adj" fmla="val 11571"/>
            </a:avLst>
          </a:prstGeom>
          <a:solidFill>
            <a:srgbClr val="0A1B30"/>
          </a:solidFill>
          <a:ln w="9525">
            <a:solidFill>
              <a:srgbClr val="16365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403659" y="4341937"/>
            <a:ext cx="3633186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30"/>
              </a:lnSpc>
              <a:buNone/>
            </a:pPr>
            <a:r>
              <a:rPr lang="en-US" sz="1020" b="1" spc="-54" kern="0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LAYER 2: AI 시뮬레이션</a:t>
            </a:r>
            <a:endParaRPr lang="en-US" sz="1020" dirty="0"/>
          </a:p>
        </p:txBody>
      </p:sp>
      <p:sp>
        <p:nvSpPr>
          <p:cNvPr id="11" name="Text 9"/>
          <p:cNvSpPr txBox="1"/>
          <p:nvPr/>
        </p:nvSpPr>
        <p:spPr>
          <a:xfrm>
            <a:off x="4403659" y="4567977"/>
            <a:ext cx="363318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04"/>
              </a:lnSpc>
              <a:buNone/>
            </a:pPr>
            <a:r>
              <a:rPr lang="en-US" sz="936" spc="-54" kern="0" dirty="0">
                <a:solidFill>
                  <a:srgbClr val="BAE6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강우량에 따른 침수 확산 5분 전 예측 및 대피 경로 자동 산출</a:t>
            </a:r>
            <a:endParaRPr lang="en-US" sz="936" dirty="0"/>
          </a:p>
        </p:txBody>
      </p:sp>
      <p:sp>
        <p:nvSpPr>
          <p:cNvPr id="12" name="Shape 10"/>
          <p:cNvSpPr/>
          <p:nvPr/>
        </p:nvSpPr>
        <p:spPr>
          <a:xfrm>
            <a:off x="8064459" y="4220047"/>
            <a:ext cx="3670402" cy="658277"/>
          </a:xfrm>
          <a:prstGeom prst="roundRect">
            <a:avLst>
              <a:gd name="adj" fmla="val 11571"/>
            </a:avLst>
          </a:prstGeom>
          <a:solidFill>
            <a:srgbClr val="0A1B30"/>
          </a:solidFill>
          <a:ln w="9525">
            <a:solidFill>
              <a:srgbClr val="16365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07289" y="4341937"/>
            <a:ext cx="3633277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30"/>
              </a:lnSpc>
              <a:buNone/>
            </a:pPr>
            <a:r>
              <a:rPr lang="en-US" sz="1020" b="1" spc="-54" kern="0" dirty="0">
                <a:solidFill>
                  <a:srgbClr val="6366F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LAYER 3: 자동 현장 제어</a:t>
            </a:r>
            <a:endParaRPr lang="en-US" sz="1020" dirty="0"/>
          </a:p>
        </p:txBody>
      </p:sp>
      <p:sp>
        <p:nvSpPr>
          <p:cNvPr id="14" name="Text 12"/>
          <p:cNvSpPr txBox="1"/>
          <p:nvPr/>
        </p:nvSpPr>
        <p:spPr>
          <a:xfrm>
            <a:off x="8207289" y="4567977"/>
            <a:ext cx="3633277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04"/>
              </a:lnSpc>
              <a:buNone/>
            </a:pPr>
            <a:r>
              <a:rPr lang="en-US" sz="936" spc="-54" kern="0" dirty="0">
                <a:solidFill>
                  <a:srgbClr val="BAE6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차수벽 자동 가동, 소방차 우선 신호 제어, 내비게이션 우회 전송</a:t>
            </a:r>
            <a:endParaRPr lang="en-US" sz="936" dirty="0"/>
          </a:p>
        </p:txBody>
      </p:sp>
      <p:sp>
        <p:nvSpPr>
          <p:cNvPr id="15" name="Text 13"/>
          <p:cNvSpPr txBox="1"/>
          <p:nvPr/>
        </p:nvSpPr>
        <p:spPr>
          <a:xfrm>
            <a:off x="-445038" y="6325453"/>
            <a:ext cx="13082046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96"/>
              </a:lnSpc>
              <a:buNone/>
            </a:pPr>
            <a:r>
              <a:rPr lang="en-US" sz="864" spc="-54" kern="0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* 국토교통부 스마트시티 국가 전략 과제 (2024-2027)</a:t>
            </a:r>
            <a:endParaRPr lang="en-US" sz="864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subject>Generated from an audited HTML preview</dc:subject>
  <dc:creator>korean-presentation-skill</dc:creator>
  <cp:lastModifiedBy>korean-presentation-skill</cp:lastModifiedBy>
  <cp:revision>1</cp:revision>
  <dcterms:created xsi:type="dcterms:W3CDTF">2026-09-06T09:53:42Z</dcterms:created>
  <dcterms:modified xsi:type="dcterms:W3CDTF">2026-09-06T09:53:42Z</dcterms:modified>
</cp:coreProperties>
</file>