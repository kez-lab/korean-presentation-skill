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언리얼 엔진 5 기반 실시간 버추얼 프로덕션 HUD 스펙입니다.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20" y="428671"/>
            <a:ext cx="5895228" cy="406085"/>
          </a:xfrm>
          <a:prstGeom prst="rect">
            <a:avLst/>
          </a:prstGeom>
          <a:ln w="9525">
            <a:solidFill>
              <a:srgbClr val="EC489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1990" y="468539"/>
            <a:ext cx="6159581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spc="245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UNREAL ENGINE 5.4 // ICVFX PIPELINE</a:t>
            </a:r>
            <a:endParaRPr lang="en-US" sz="1631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02421"/>
            <a:ext cx="11277570" cy="1519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81"/>
              </a:lnSpc>
              <a:buNone/>
            </a:pPr>
            <a:r>
              <a:rPr lang="en-US" sz="4785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버추얼 프로덕션</a:t>
            </a:r>
            <a:endParaRPr lang="en-US" sz="4785" dirty="0"/>
          </a:p>
          <a:p>
            <a:pPr algn="l" indent="0" marL="0">
              <a:lnSpc>
                <a:spcPts val="5981"/>
              </a:lnSpc>
              <a:buNone/>
            </a:pPr>
            <a:r>
              <a:rPr lang="en-US" sz="4785" b="1" spc="-54" kern="0" dirty="0">
                <a:solidFill>
                  <a:srgbClr val="EC4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8K 120FPS 차세대 렌더링 엔진</a:t>
            </a:r>
            <a:endParaRPr lang="en-US" sz="4785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79558"/>
            <a:ext cx="1215768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spc="-54" kern="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Nanite와 Lumen을 결합한 영화급 인카메라 시각효과(VFX) 스튜디오 아키텍처</a:t>
            </a:r>
            <a:endParaRPr lang="en-US" sz="1140" dirty="0"/>
          </a:p>
        </p:txBody>
      </p:sp>
      <p:sp>
        <p:nvSpPr>
          <p:cNvPr id="6" name="Shape 4"/>
          <p:cNvSpPr/>
          <p:nvPr/>
        </p:nvSpPr>
        <p:spPr>
          <a:xfrm>
            <a:off x="476220" y="5272522"/>
            <a:ext cx="3644798" cy="1166317"/>
          </a:xfrm>
          <a:prstGeom prst="roundRect">
            <a:avLst>
              <a:gd name="adj" fmla="val 3269"/>
            </a:avLst>
          </a:prstGeom>
          <a:solidFill>
            <a:srgbClr val="1E0A37">
              <a:alpha val="85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8650" y="5442692"/>
            <a:ext cx="3585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LATENCY</a:t>
            </a:r>
            <a:endParaRPr lang="en-US" sz="864" dirty="0"/>
          </a:p>
        </p:txBody>
      </p:sp>
      <p:sp>
        <p:nvSpPr>
          <p:cNvPr id="8" name="Text 6"/>
          <p:cNvSpPr txBox="1"/>
          <p:nvPr/>
        </p:nvSpPr>
        <p:spPr>
          <a:xfrm>
            <a:off x="628650" y="5640842"/>
            <a:ext cx="358518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160" b="1" spc="-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 ms</a:t>
            </a:r>
            <a:endParaRPr lang="en-US" sz="2160" dirty="0"/>
          </a:p>
        </p:txBody>
      </p:sp>
      <p:sp>
        <p:nvSpPr>
          <p:cNvPr id="9" name="Text 7"/>
          <p:cNvSpPr txBox="1"/>
          <p:nvPr/>
        </p:nvSpPr>
        <p:spPr>
          <a:xfrm>
            <a:off x="628650" y="6091276"/>
            <a:ext cx="35851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54" kern="0" dirty="0">
                <a:solidFill>
                  <a:srgbClr val="D8B4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Genlock 카메라 완벽 동기화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73448" y="5272522"/>
            <a:ext cx="3644890" cy="1166317"/>
          </a:xfrm>
          <a:prstGeom prst="roundRect">
            <a:avLst>
              <a:gd name="adj" fmla="val 3269"/>
            </a:avLst>
          </a:prstGeom>
          <a:solidFill>
            <a:srgbClr val="1E0A37">
              <a:alpha val="85000"/>
            </a:srgbClr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25879" y="5442692"/>
            <a:ext cx="35852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POST-PROD COST</a:t>
            </a:r>
            <a:endParaRPr lang="en-US" sz="864" dirty="0"/>
          </a:p>
        </p:txBody>
      </p:sp>
      <p:sp>
        <p:nvSpPr>
          <p:cNvPr id="12" name="Text 10"/>
          <p:cNvSpPr txBox="1"/>
          <p:nvPr/>
        </p:nvSpPr>
        <p:spPr>
          <a:xfrm>
            <a:off x="4425879" y="5640842"/>
            <a:ext cx="3585271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160" b="1" spc="-54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-72%</a:t>
            </a:r>
            <a:endParaRPr lang="en-US" sz="2160" dirty="0"/>
          </a:p>
        </p:txBody>
      </p:sp>
      <p:sp>
        <p:nvSpPr>
          <p:cNvPr id="13" name="Text 11"/>
          <p:cNvSpPr txBox="1"/>
          <p:nvPr/>
        </p:nvSpPr>
        <p:spPr>
          <a:xfrm>
            <a:off x="4425879" y="6091276"/>
            <a:ext cx="35852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54" kern="0" dirty="0">
                <a:solidFill>
                  <a:srgbClr val="D8B4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즉시 최종 픽셀 완성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70860" y="5272522"/>
            <a:ext cx="3644798" cy="1166317"/>
          </a:xfrm>
          <a:prstGeom prst="roundRect">
            <a:avLst>
              <a:gd name="adj" fmla="val 3269"/>
            </a:avLst>
          </a:prstGeom>
          <a:solidFill>
            <a:srgbClr val="1E0A37">
              <a:alpha val="85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3199" y="5442692"/>
            <a:ext cx="3585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VOLUME</a:t>
            </a:r>
            <a:endParaRPr lang="en-US" sz="864" dirty="0"/>
          </a:p>
        </p:txBody>
      </p:sp>
      <p:sp>
        <p:nvSpPr>
          <p:cNvPr id="16" name="Text 14"/>
          <p:cNvSpPr txBox="1"/>
          <p:nvPr/>
        </p:nvSpPr>
        <p:spPr>
          <a:xfrm>
            <a:off x="8223199" y="5640842"/>
            <a:ext cx="358518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160" b="1" spc="-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360° 20m</a:t>
            </a:r>
            <a:endParaRPr lang="en-US" sz="2160" dirty="0"/>
          </a:p>
        </p:txBody>
      </p:sp>
      <p:sp>
        <p:nvSpPr>
          <p:cNvPr id="17" name="Text 15"/>
          <p:cNvSpPr txBox="1"/>
          <p:nvPr/>
        </p:nvSpPr>
        <p:spPr>
          <a:xfrm>
            <a:off x="8223199" y="6091276"/>
            <a:ext cx="35851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54" kern="0" dirty="0">
                <a:solidFill>
                  <a:srgbClr val="D8B4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상암 초대형 볼륨 스튜디오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20" y="428671"/>
            <a:ext cx="6316127" cy="406085"/>
          </a:xfrm>
          <a:prstGeom prst="rect">
            <a:avLst/>
          </a:prstGeom>
          <a:ln w="9525">
            <a:solidFill>
              <a:srgbClr val="EC489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1990" y="468539"/>
            <a:ext cx="661413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spc="245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ARCHITECTURE // NANITE &amp; LUMEN</a:t>
            </a:r>
            <a:endParaRPr lang="en-US" sz="1631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87059"/>
            <a:ext cx="12157680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2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3D 버추얼 프로덕션 3대 파이프라인</a:t>
            </a:r>
            <a:endParaRPr lang="en-US" sz="1920" dirty="0"/>
          </a:p>
        </p:txBody>
      </p:sp>
      <p:sp>
        <p:nvSpPr>
          <p:cNvPr id="5" name="Shape 3"/>
          <p:cNvSpPr/>
          <p:nvPr/>
        </p:nvSpPr>
        <p:spPr>
          <a:xfrm>
            <a:off x="476220" y="3311134"/>
            <a:ext cx="3644798" cy="978957"/>
          </a:xfrm>
          <a:prstGeom prst="roundRect">
            <a:avLst>
              <a:gd name="adj" fmla="val 3895"/>
            </a:avLst>
          </a:prstGeom>
          <a:solidFill>
            <a:srgbClr val="1E0A37">
              <a:alpha val="85000"/>
            </a:srgbClr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8650" y="3481212"/>
            <a:ext cx="3585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ICVFX SYNC</a:t>
            </a:r>
            <a:endParaRPr lang="en-US" sz="864" dirty="0"/>
          </a:p>
        </p:txBody>
      </p:sp>
      <p:sp>
        <p:nvSpPr>
          <p:cNvPr id="7" name="Text 5"/>
          <p:cNvSpPr txBox="1"/>
          <p:nvPr/>
        </p:nvSpPr>
        <p:spPr>
          <a:xfrm>
            <a:off x="628650" y="3676528"/>
            <a:ext cx="358518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인카메라 시각효과</a:t>
            </a:r>
            <a:endParaRPr lang="en-US" sz="1140" dirty="0"/>
          </a:p>
        </p:txBody>
      </p:sp>
      <p:sp>
        <p:nvSpPr>
          <p:cNvPr id="8" name="Text 6"/>
          <p:cNvSpPr txBox="1"/>
          <p:nvPr/>
        </p:nvSpPr>
        <p:spPr>
          <a:xfrm>
            <a:off x="628650" y="3932194"/>
            <a:ext cx="35851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spc="-54" kern="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시점에 맞춘 배경 원근 실시간 왜곡 렌더링</a:t>
            </a:r>
            <a:endParaRPr lang="en-US" sz="936" dirty="0"/>
          </a:p>
        </p:txBody>
      </p:sp>
      <p:sp>
        <p:nvSpPr>
          <p:cNvPr id="9" name="Shape 7"/>
          <p:cNvSpPr/>
          <p:nvPr/>
        </p:nvSpPr>
        <p:spPr>
          <a:xfrm>
            <a:off x="4273448" y="3311134"/>
            <a:ext cx="3644890" cy="978957"/>
          </a:xfrm>
          <a:prstGeom prst="roundRect">
            <a:avLst>
              <a:gd name="adj" fmla="val 3895"/>
            </a:avLst>
          </a:prstGeom>
          <a:solidFill>
            <a:srgbClr val="1E0A37">
              <a:alpha val="85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25879" y="3481212"/>
            <a:ext cx="35852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AI ASSET GEN</a:t>
            </a:r>
            <a:endParaRPr lang="en-US" sz="864" dirty="0"/>
          </a:p>
        </p:txBody>
      </p:sp>
      <p:sp>
        <p:nvSpPr>
          <p:cNvPr id="11" name="Text 9"/>
          <p:cNvSpPr txBox="1"/>
          <p:nvPr/>
        </p:nvSpPr>
        <p:spPr>
          <a:xfrm>
            <a:off x="4425879" y="3676528"/>
            <a:ext cx="3585271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3D 에셋</a:t>
            </a:r>
            <a:endParaRPr lang="en-US" sz="1140" dirty="0"/>
          </a:p>
        </p:txBody>
      </p:sp>
      <p:sp>
        <p:nvSpPr>
          <p:cNvPr id="12" name="Text 10"/>
          <p:cNvSpPr txBox="1"/>
          <p:nvPr/>
        </p:nvSpPr>
        <p:spPr>
          <a:xfrm>
            <a:off x="4425879" y="3932194"/>
            <a:ext cx="3585271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spc="-54" kern="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기반 초고해상도 3D 공간 10분 내 인제스트</a:t>
            </a:r>
            <a:endParaRPr lang="en-US" sz="936" dirty="0"/>
          </a:p>
        </p:txBody>
      </p:sp>
      <p:sp>
        <p:nvSpPr>
          <p:cNvPr id="13" name="Shape 11"/>
          <p:cNvSpPr/>
          <p:nvPr/>
        </p:nvSpPr>
        <p:spPr>
          <a:xfrm>
            <a:off x="8070860" y="3311134"/>
            <a:ext cx="3644798" cy="978957"/>
          </a:xfrm>
          <a:prstGeom prst="roundRect">
            <a:avLst>
              <a:gd name="adj" fmla="val 3895"/>
            </a:avLst>
          </a:prstGeom>
          <a:solidFill>
            <a:srgbClr val="1E0A37">
              <a:alpha val="85000"/>
            </a:srgbClr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3199" y="3481212"/>
            <a:ext cx="3585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OPTICAL TRACK</a:t>
            </a:r>
            <a:endParaRPr lang="en-US" sz="864" dirty="0"/>
          </a:p>
        </p:txBody>
      </p:sp>
      <p:sp>
        <p:nvSpPr>
          <p:cNvPr id="15" name="Text 13"/>
          <p:cNvSpPr txBox="1"/>
          <p:nvPr/>
        </p:nvSpPr>
        <p:spPr>
          <a:xfrm>
            <a:off x="8223199" y="3676528"/>
            <a:ext cx="358518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초정밀 모션 트래킹</a:t>
            </a:r>
            <a:endParaRPr lang="en-US" sz="1140" dirty="0"/>
          </a:p>
        </p:txBody>
      </p:sp>
      <p:sp>
        <p:nvSpPr>
          <p:cNvPr id="16" name="Text 14"/>
          <p:cNvSpPr txBox="1"/>
          <p:nvPr/>
        </p:nvSpPr>
        <p:spPr>
          <a:xfrm>
            <a:off x="8223199" y="3932194"/>
            <a:ext cx="35851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spc="-54" kern="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0.01mm 오차 미만 광학식 센서 트래킹 융합</a:t>
            </a:r>
            <a:endParaRPr lang="en-US" sz="936" dirty="0"/>
          </a:p>
        </p:txBody>
      </p:sp>
      <p:sp>
        <p:nvSpPr>
          <p:cNvPr id="17" name="Text 15"/>
          <p:cNvSpPr txBox="1"/>
          <p:nvPr/>
        </p:nvSpPr>
        <p:spPr>
          <a:xfrm>
            <a:off x="-422910" y="6273058"/>
            <a:ext cx="121576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STATUS: ONLINE // ZERO LATENCY PIPELINE</a:t>
            </a:r>
            <a:endParaRPr lang="en-US" sz="86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Generated from an audited HTML preview</dc:subject>
  <dc:creator>korean-presentation-skill</dc:creator>
  <cp:lastModifiedBy>korean-presentation-skill</cp:lastModifiedBy>
  <cp:revision>1</cp:revision>
  <dcterms:created xsi:type="dcterms:W3CDTF">2026-09-06T13:28:40Z</dcterms:created>
  <dcterms:modified xsi:type="dcterms:W3CDTF">2026-09-06T13:28:40Z</dcterms:modified>
</cp:coreProperties>
</file>