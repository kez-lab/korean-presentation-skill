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양자 터미널 기반 분산 가속 엔진의 아키텍처와 성능 지표를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클래시컬 HPC 및 단독 NISQ 대비 1200배 빠른 처리 속도 비교표입니다.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8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20" y="381030"/>
            <a:ext cx="11239530" cy="482255"/>
          </a:xfrm>
          <a:prstGeom prst="roundRect">
            <a:avLst>
              <a:gd name="adj" fmla="val 15794"/>
            </a:avLst>
          </a:prstGeom>
          <a:solidFill>
            <a:srgbClr val="0E1626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8160" y="574426"/>
            <a:ext cx="95280" cy="9528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790590" y="574426"/>
            <a:ext cx="95280" cy="952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5" name="Shape 3"/>
          <p:cNvSpPr/>
          <p:nvPr/>
        </p:nvSpPr>
        <p:spPr>
          <a:xfrm>
            <a:off x="943021" y="574426"/>
            <a:ext cx="95280" cy="952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09660" y="459029"/>
            <a:ext cx="8640714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spc="-54" kern="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root@quantum-hpc:~# ./launch_qgpu_cluster.sh --qubits 128 --nodes 64</a:t>
            </a:r>
            <a:endParaRPr lang="en-US" sz="1631" dirty="0"/>
          </a:p>
        </p:txBody>
      </p:sp>
      <p:sp>
        <p:nvSpPr>
          <p:cNvPr id="7" name="Shape 5"/>
          <p:cNvSpPr/>
          <p:nvPr/>
        </p:nvSpPr>
        <p:spPr>
          <a:xfrm>
            <a:off x="476220" y="996605"/>
            <a:ext cx="11239530" cy="5480456"/>
          </a:xfrm>
          <a:prstGeom prst="roundRect">
            <a:avLst>
              <a:gd name="adj" fmla="val 1390"/>
            </a:avLst>
          </a:prstGeom>
          <a:solidFill>
            <a:srgbClr val="080D1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5310" y="1193383"/>
            <a:ext cx="11643330" cy="3397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75"/>
              </a:lnSpc>
              <a:buNone/>
            </a:pPr>
            <a:r>
              <a:rPr lang="en-US" sz="1784" b="1" spc="-54" kern="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[INIT] QUANTUM ACCELERATOR v4.2 LOADED</a:t>
            </a:r>
            <a:endParaRPr lang="en-US" sz="1784" dirty="0"/>
          </a:p>
        </p:txBody>
      </p:sp>
      <p:sp>
        <p:nvSpPr>
          <p:cNvPr id="9" name="Text 7"/>
          <p:cNvSpPr txBox="1"/>
          <p:nvPr/>
        </p:nvSpPr>
        <p:spPr>
          <a:xfrm>
            <a:off x="695310" y="1604132"/>
            <a:ext cx="10801350" cy="1519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981"/>
              </a:lnSpc>
              <a:buNone/>
            </a:pPr>
            <a:r>
              <a:rPr lang="en-US" sz="4785" b="1" spc="-14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양자-GPU 하이브리드</a:t>
            </a:r>
            <a:endParaRPr lang="en-US" sz="4785" dirty="0"/>
          </a:p>
          <a:p>
            <a:pPr algn="l" indent="0" marL="0">
              <a:lnSpc>
                <a:spcPts val="5981"/>
              </a:lnSpc>
              <a:buNone/>
            </a:pPr>
            <a:r>
              <a:rPr lang="en-US" sz="4785" b="1" spc="-144" kern="0" dirty="0">
                <a:solidFill>
                  <a:srgbClr val="00F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초고속 분산 연산 가속 엔진</a:t>
            </a:r>
            <a:endParaRPr lang="en-US" sz="4785" dirty="0"/>
          </a:p>
        </p:txBody>
      </p:sp>
      <p:sp>
        <p:nvSpPr>
          <p:cNvPr id="10" name="Text 8"/>
          <p:cNvSpPr txBox="1"/>
          <p:nvPr/>
        </p:nvSpPr>
        <p:spPr>
          <a:xfrm>
            <a:off x="695310" y="3386023"/>
            <a:ext cx="11643330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140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큐비트 노이즈를 텐서 코어 실시간 역전파로 보정하는 HPC 아키텍처</a:t>
            </a:r>
            <a:endParaRPr lang="en-US" sz="1140" dirty="0"/>
          </a:p>
        </p:txBody>
      </p:sp>
      <p:sp>
        <p:nvSpPr>
          <p:cNvPr id="11" name="Shape 9"/>
          <p:cNvSpPr/>
          <p:nvPr/>
        </p:nvSpPr>
        <p:spPr>
          <a:xfrm>
            <a:off x="714421" y="4754240"/>
            <a:ext cx="5787695" cy="1522842"/>
          </a:xfrm>
          <a:prstGeom prst="roundRect">
            <a:avLst>
              <a:gd name="adj" fmla="val 3753"/>
            </a:avLst>
          </a:prstGeom>
          <a:solidFill>
            <a:srgbClr val="040711"/>
          </a:solidFill>
          <a:ln w="9525">
            <a:solidFill>
              <a:srgbClr val="00F0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8230" y="4889297"/>
            <a:ext cx="5961156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QUANTUM CIRCUIT PIPELINE</a:t>
            </a:r>
            <a:endParaRPr lang="en-US" sz="1631" dirty="0"/>
          </a:p>
        </p:txBody>
      </p:sp>
      <p:sp>
        <p:nvSpPr>
          <p:cNvPr id="13" name="Text 11"/>
          <p:cNvSpPr txBox="1"/>
          <p:nvPr/>
        </p:nvSpPr>
        <p:spPr>
          <a:xfrm>
            <a:off x="838230" y="5304892"/>
            <a:ext cx="908091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spc="-54" kern="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|q0⟩ ──</a:t>
            </a:r>
            <a:endParaRPr lang="en-US" sz="1631" dirty="0"/>
          </a:p>
        </p:txBody>
      </p:sp>
      <p:sp>
        <p:nvSpPr>
          <p:cNvPr id="14" name="Shape 12"/>
          <p:cNvSpPr/>
          <p:nvPr/>
        </p:nvSpPr>
        <p:spPr>
          <a:xfrm>
            <a:off x="1756562" y="5283952"/>
            <a:ext cx="288859" cy="367955"/>
          </a:xfrm>
          <a:prstGeom prst="roundRect">
            <a:avLst>
              <a:gd name="adj" fmla="val 13200"/>
            </a:avLst>
          </a:prstGeom>
          <a:solidFill>
            <a:srgbClr val="1E293B"/>
          </a:solidFill>
          <a:ln w="9525">
            <a:solidFill>
              <a:srgbClr val="00F0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23314" y="5304892"/>
            <a:ext cx="1936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endParaRPr lang="en-US" sz="1631" dirty="0"/>
          </a:p>
        </p:txBody>
      </p:sp>
      <p:sp>
        <p:nvSpPr>
          <p:cNvPr id="16" name="Text 14"/>
          <p:cNvSpPr txBox="1"/>
          <p:nvPr/>
        </p:nvSpPr>
        <p:spPr>
          <a:xfrm>
            <a:off x="2102663" y="5304892"/>
            <a:ext cx="783184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spc="-54" kern="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──────</a:t>
            </a:r>
            <a:endParaRPr lang="en-US" sz="1631" dirty="0"/>
          </a:p>
        </p:txBody>
      </p:sp>
      <p:sp>
        <p:nvSpPr>
          <p:cNvPr id="17" name="Shape 15"/>
          <p:cNvSpPr/>
          <p:nvPr/>
        </p:nvSpPr>
        <p:spPr>
          <a:xfrm>
            <a:off x="2904866" y="5283952"/>
            <a:ext cx="289408" cy="367955"/>
          </a:xfrm>
          <a:prstGeom prst="roundRect">
            <a:avLst>
              <a:gd name="adj" fmla="val 13175"/>
            </a:avLst>
          </a:prstGeom>
          <a:solidFill>
            <a:srgbClr val="1E293B"/>
          </a:solidFill>
          <a:ln w="9525">
            <a:solidFill>
              <a:srgbClr val="00F0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71526" y="5304892"/>
            <a:ext cx="194127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</a:t>
            </a:r>
            <a:endParaRPr lang="en-US" sz="1631" dirty="0"/>
          </a:p>
        </p:txBody>
      </p:sp>
      <p:sp>
        <p:nvSpPr>
          <p:cNvPr id="19" name="Text 17"/>
          <p:cNvSpPr txBox="1"/>
          <p:nvPr/>
        </p:nvSpPr>
        <p:spPr>
          <a:xfrm>
            <a:off x="3251241" y="5304892"/>
            <a:ext cx="783184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spc="-54" kern="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──────</a:t>
            </a:r>
            <a:endParaRPr lang="en-US" sz="1631" dirty="0"/>
          </a:p>
        </p:txBody>
      </p:sp>
      <p:sp>
        <p:nvSpPr>
          <p:cNvPr id="20" name="Shape 18"/>
          <p:cNvSpPr/>
          <p:nvPr/>
        </p:nvSpPr>
        <p:spPr>
          <a:xfrm>
            <a:off x="4053444" y="5283952"/>
            <a:ext cx="288859" cy="367955"/>
          </a:xfrm>
          <a:prstGeom prst="roundRect">
            <a:avLst>
              <a:gd name="adj" fmla="val 13200"/>
            </a:avLst>
          </a:prstGeom>
          <a:solidFill>
            <a:srgbClr val="1E293B"/>
          </a:solidFill>
          <a:ln w="9525">
            <a:solidFill>
              <a:srgbClr val="00F0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120104" y="5304892"/>
            <a:ext cx="1936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endParaRPr lang="en-US" sz="1631" dirty="0"/>
          </a:p>
        </p:txBody>
      </p:sp>
      <p:sp>
        <p:nvSpPr>
          <p:cNvPr id="22" name="Text 20"/>
          <p:cNvSpPr txBox="1"/>
          <p:nvPr/>
        </p:nvSpPr>
        <p:spPr>
          <a:xfrm>
            <a:off x="4399544" y="5304892"/>
            <a:ext cx="1034369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spc="-54" kern="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── [OUT]</a:t>
            </a:r>
            <a:endParaRPr lang="en-US" sz="1631" dirty="0"/>
          </a:p>
        </p:txBody>
      </p:sp>
      <p:sp>
        <p:nvSpPr>
          <p:cNvPr id="23" name="Text 21"/>
          <p:cNvSpPr txBox="1"/>
          <p:nvPr/>
        </p:nvSpPr>
        <p:spPr>
          <a:xfrm>
            <a:off x="838230" y="5729813"/>
            <a:ext cx="1416954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spc="-54" kern="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|q1⟩ ──────</a:t>
            </a:r>
            <a:endParaRPr lang="en-US" sz="1631" dirty="0"/>
          </a:p>
        </p:txBody>
      </p:sp>
      <p:sp>
        <p:nvSpPr>
          <p:cNvPr id="24" name="Shape 22"/>
          <p:cNvSpPr/>
          <p:nvPr/>
        </p:nvSpPr>
        <p:spPr>
          <a:xfrm>
            <a:off x="2227844" y="5709056"/>
            <a:ext cx="288859" cy="367955"/>
          </a:xfrm>
          <a:prstGeom prst="roundRect">
            <a:avLst>
              <a:gd name="adj" fmla="val 13200"/>
            </a:avLst>
          </a:prstGeom>
          <a:solidFill>
            <a:srgbClr val="1E293B"/>
          </a:solidFill>
          <a:ln w="9525">
            <a:solidFill>
              <a:srgbClr val="00F0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294504" y="5729813"/>
            <a:ext cx="1936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endParaRPr lang="en-US" sz="1631" dirty="0"/>
          </a:p>
        </p:txBody>
      </p:sp>
      <p:sp>
        <p:nvSpPr>
          <p:cNvPr id="26" name="Text 24"/>
          <p:cNvSpPr txBox="1"/>
          <p:nvPr/>
        </p:nvSpPr>
        <p:spPr>
          <a:xfrm>
            <a:off x="2573853" y="5729813"/>
            <a:ext cx="311902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spc="-54" kern="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──</a:t>
            </a:r>
            <a:endParaRPr lang="en-US" sz="1631" dirty="0"/>
          </a:p>
        </p:txBody>
      </p:sp>
      <p:sp>
        <p:nvSpPr>
          <p:cNvPr id="27" name="Shape 25"/>
          <p:cNvSpPr/>
          <p:nvPr/>
        </p:nvSpPr>
        <p:spPr>
          <a:xfrm>
            <a:off x="2904866" y="5709056"/>
            <a:ext cx="406359" cy="367955"/>
          </a:xfrm>
          <a:prstGeom prst="roundRect">
            <a:avLst>
              <a:gd name="adj" fmla="val 10363"/>
            </a:avLst>
          </a:prstGeom>
          <a:solidFill>
            <a:srgbClr val="1E293B"/>
          </a:solidFill>
          <a:ln w="9525">
            <a:solidFill>
              <a:srgbClr val="00F0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71526" y="5729813"/>
            <a:ext cx="311079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RZ</a:t>
            </a:r>
            <a:endParaRPr lang="en-US" sz="1631" dirty="0"/>
          </a:p>
        </p:txBody>
      </p:sp>
      <p:sp>
        <p:nvSpPr>
          <p:cNvPr id="29" name="Text 27"/>
          <p:cNvSpPr txBox="1"/>
          <p:nvPr/>
        </p:nvSpPr>
        <p:spPr>
          <a:xfrm>
            <a:off x="3368284" y="5729813"/>
            <a:ext cx="311902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spc="-54" kern="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──</a:t>
            </a:r>
            <a:endParaRPr lang="en-US" sz="1631" dirty="0"/>
          </a:p>
        </p:txBody>
      </p:sp>
      <p:sp>
        <p:nvSpPr>
          <p:cNvPr id="30" name="Shape 28"/>
          <p:cNvSpPr/>
          <p:nvPr/>
        </p:nvSpPr>
        <p:spPr>
          <a:xfrm>
            <a:off x="3699297" y="5709056"/>
            <a:ext cx="289408" cy="367955"/>
          </a:xfrm>
          <a:prstGeom prst="roundRect">
            <a:avLst>
              <a:gd name="adj" fmla="val 13175"/>
            </a:avLst>
          </a:prstGeom>
          <a:solidFill>
            <a:srgbClr val="1E293B"/>
          </a:solidFill>
          <a:ln w="9525">
            <a:solidFill>
              <a:srgbClr val="00F0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65956" y="5729813"/>
            <a:ext cx="194127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54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</a:t>
            </a:r>
            <a:endParaRPr lang="en-US" sz="1631" dirty="0"/>
          </a:p>
        </p:txBody>
      </p:sp>
      <p:sp>
        <p:nvSpPr>
          <p:cNvPr id="32" name="Text 30"/>
          <p:cNvSpPr txBox="1"/>
          <p:nvPr/>
        </p:nvSpPr>
        <p:spPr>
          <a:xfrm>
            <a:off x="4045763" y="5729813"/>
            <a:ext cx="1034369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spc="-54" kern="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── [OUT]</a:t>
            </a:r>
            <a:endParaRPr lang="en-US" sz="1631" dirty="0"/>
          </a:p>
        </p:txBody>
      </p:sp>
      <p:sp>
        <p:nvSpPr>
          <p:cNvPr id="33" name="Shape 31"/>
          <p:cNvSpPr/>
          <p:nvPr/>
        </p:nvSpPr>
        <p:spPr>
          <a:xfrm>
            <a:off x="6654455" y="4754240"/>
            <a:ext cx="4823094" cy="1522842"/>
          </a:xfrm>
          <a:prstGeom prst="roundRect">
            <a:avLst>
              <a:gd name="adj" fmla="val 3753"/>
            </a:avLst>
          </a:prstGeom>
          <a:solidFill>
            <a:srgbClr val="0E162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768755" y="4886188"/>
            <a:ext cx="493995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BENCHMARK STATUS</a:t>
            </a:r>
            <a:endParaRPr lang="en-US" sz="864" dirty="0"/>
          </a:p>
        </p:txBody>
      </p:sp>
      <p:sp>
        <p:nvSpPr>
          <p:cNvPr id="35" name="Text 33"/>
          <p:cNvSpPr txBox="1"/>
          <p:nvPr/>
        </p:nvSpPr>
        <p:spPr>
          <a:xfrm>
            <a:off x="6768755" y="5300777"/>
            <a:ext cx="4939955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160" b="1" spc="-54" kern="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1,200x SPEEDUP</a:t>
            </a:r>
            <a:endParaRPr lang="en-US" sz="2160" dirty="0"/>
          </a:p>
        </p:txBody>
      </p:sp>
      <p:sp>
        <p:nvSpPr>
          <p:cNvPr id="36" name="Text 34"/>
          <p:cNvSpPr txBox="1"/>
          <p:nvPr/>
        </p:nvSpPr>
        <p:spPr>
          <a:xfrm>
            <a:off x="6768755" y="5972221"/>
            <a:ext cx="493995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spc="-54" kern="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Classical HPC Supercomputer 대비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8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20" y="381030"/>
            <a:ext cx="11239530" cy="482255"/>
          </a:xfrm>
          <a:prstGeom prst="roundRect">
            <a:avLst>
              <a:gd name="adj" fmla="val 15794"/>
            </a:avLst>
          </a:prstGeom>
          <a:solidFill>
            <a:srgbClr val="0E1626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8160" y="574426"/>
            <a:ext cx="95280" cy="9528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790590" y="574426"/>
            <a:ext cx="95280" cy="952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5" name="Shape 3"/>
          <p:cNvSpPr/>
          <p:nvPr/>
        </p:nvSpPr>
        <p:spPr>
          <a:xfrm>
            <a:off x="943021" y="574426"/>
            <a:ext cx="95280" cy="952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09660" y="459029"/>
            <a:ext cx="7499634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spc="-54" kern="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root@quantum-hpc:~# qgpu-bench --compare classical_baseline</a:t>
            </a:r>
            <a:endParaRPr lang="en-US" sz="1631" dirty="0"/>
          </a:p>
        </p:txBody>
      </p:sp>
      <p:sp>
        <p:nvSpPr>
          <p:cNvPr id="7" name="Shape 5"/>
          <p:cNvSpPr/>
          <p:nvPr/>
        </p:nvSpPr>
        <p:spPr>
          <a:xfrm>
            <a:off x="476220" y="996605"/>
            <a:ext cx="11239530" cy="5480456"/>
          </a:xfrm>
          <a:prstGeom prst="roundRect">
            <a:avLst>
              <a:gd name="adj" fmla="val 1390"/>
            </a:avLst>
          </a:prstGeom>
          <a:solidFill>
            <a:srgbClr val="080D1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5310" y="1193383"/>
            <a:ext cx="11643330" cy="3397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75"/>
              </a:lnSpc>
              <a:buNone/>
            </a:pPr>
            <a:r>
              <a:rPr lang="en-US" sz="1784" b="1" spc="-54" kern="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[ANALYSIS] HARDWARE REGISTER &amp; PERFORMANCE TABLE</a:t>
            </a:r>
            <a:endParaRPr lang="en-US" sz="1784" dirty="0"/>
          </a:p>
        </p:txBody>
      </p:sp>
      <p:sp>
        <p:nvSpPr>
          <p:cNvPr id="9" name="Text 7"/>
          <p:cNvSpPr txBox="1"/>
          <p:nvPr/>
        </p:nvSpPr>
        <p:spPr>
          <a:xfrm>
            <a:off x="695310" y="1569750"/>
            <a:ext cx="1164333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분산 양자 시뮬레이션 지표 비교표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19176" y="3240085"/>
            <a:ext cx="5180716" cy="9510"/>
          </a:xfrm>
          <a:prstGeom prst="rect">
            <a:avLst/>
          </a:prstGeom>
          <a:solidFill>
            <a:srgbClr val="D1D9E0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19176" y="3604199"/>
            <a:ext cx="5180716" cy="1902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2" name="Shape 10"/>
          <p:cNvSpPr/>
          <p:nvPr/>
        </p:nvSpPr>
        <p:spPr>
          <a:xfrm>
            <a:off x="719176" y="3240085"/>
            <a:ext cx="1166317" cy="383134"/>
          </a:xfrm>
          <a:prstGeom prst="rect">
            <a:avLst/>
          </a:prstGeom>
          <a:ln w="9525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855" y="3331982"/>
            <a:ext cx="1052383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936" b="1" spc="-54" kern="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</a:t>
            </a:r>
            <a:endParaRPr lang="en-US" sz="936" dirty="0"/>
          </a:p>
        </p:txBody>
      </p:sp>
      <p:sp>
        <p:nvSpPr>
          <p:cNvPr id="14" name="Shape 12"/>
          <p:cNvSpPr/>
          <p:nvPr/>
        </p:nvSpPr>
        <p:spPr>
          <a:xfrm>
            <a:off x="1885493" y="3240085"/>
            <a:ext cx="1166317" cy="383134"/>
          </a:xfrm>
          <a:prstGeom prst="rect">
            <a:avLst/>
          </a:prstGeom>
          <a:ln w="9525">
            <a:solidFill>
              <a:srgbClr val="1E293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71172" y="3331982"/>
            <a:ext cx="1052383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936" b="1" spc="-54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CLASSICAL HPC</a:t>
            </a:r>
            <a:endParaRPr lang="en-US" sz="936" dirty="0"/>
          </a:p>
        </p:txBody>
      </p:sp>
      <p:sp>
        <p:nvSpPr>
          <p:cNvPr id="16" name="Shape 14"/>
          <p:cNvSpPr/>
          <p:nvPr/>
        </p:nvSpPr>
        <p:spPr>
          <a:xfrm>
            <a:off x="3051901" y="3240085"/>
            <a:ext cx="1166317" cy="383134"/>
          </a:xfrm>
          <a:prstGeom prst="rect">
            <a:avLst/>
          </a:prstGeom>
          <a:ln w="9525">
            <a:solidFill>
              <a:srgbClr val="1E29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137672" y="3331982"/>
            <a:ext cx="1052383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936" b="1" spc="-54" kern="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NISQ STANDALONE</a:t>
            </a:r>
            <a:endParaRPr lang="en-US" sz="936" dirty="0"/>
          </a:p>
        </p:txBody>
      </p:sp>
      <p:sp>
        <p:nvSpPr>
          <p:cNvPr id="18" name="Shape 16"/>
          <p:cNvSpPr/>
          <p:nvPr/>
        </p:nvSpPr>
        <p:spPr>
          <a:xfrm>
            <a:off x="4218219" y="3240085"/>
            <a:ext cx="1681673" cy="383134"/>
          </a:xfrm>
          <a:prstGeom prst="rect">
            <a:avLst/>
          </a:prstGeom>
          <a:ln w="9525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03989" y="3331982"/>
            <a:ext cx="1608887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936" b="1" spc="-54" kern="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Q-GPU HYBRID (OURS)</a:t>
            </a:r>
            <a:endParaRPr lang="en-US" sz="936" dirty="0"/>
          </a:p>
        </p:txBody>
      </p:sp>
      <p:sp>
        <p:nvSpPr>
          <p:cNvPr id="20" name="Shape 18"/>
          <p:cNvSpPr/>
          <p:nvPr/>
        </p:nvSpPr>
        <p:spPr>
          <a:xfrm>
            <a:off x="719176" y="3623219"/>
            <a:ext cx="5180716" cy="9510"/>
          </a:xfrm>
          <a:prstGeom prst="rect">
            <a:avLst/>
          </a:prstGeom>
          <a:solidFill>
            <a:srgbClr val="D1D9E0">
              <a:alpha val="7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719176" y="3996751"/>
            <a:ext cx="5180716" cy="951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2" name="Shape 20"/>
          <p:cNvSpPr/>
          <p:nvPr/>
        </p:nvSpPr>
        <p:spPr>
          <a:xfrm>
            <a:off x="719176" y="3623219"/>
            <a:ext cx="1166317" cy="383134"/>
          </a:xfrm>
          <a:prstGeom prst="rect">
            <a:avLst/>
          </a:prstGeom>
          <a:ln w="9525">
            <a:solidFill>
              <a:srgbClr val="1E293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4855" y="3719779"/>
            <a:ext cx="1052383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936" b="1" spc="-54" kern="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Coherence Time</a:t>
            </a:r>
            <a:endParaRPr lang="en-US" sz="936" dirty="0"/>
          </a:p>
        </p:txBody>
      </p:sp>
      <p:sp>
        <p:nvSpPr>
          <p:cNvPr id="24" name="Shape 22"/>
          <p:cNvSpPr/>
          <p:nvPr/>
        </p:nvSpPr>
        <p:spPr>
          <a:xfrm>
            <a:off x="1885493" y="3623219"/>
            <a:ext cx="1166317" cy="383134"/>
          </a:xfrm>
          <a:prstGeom prst="rect">
            <a:avLst/>
          </a:prstGeom>
          <a:ln w="9525">
            <a:solidFill>
              <a:srgbClr val="1E293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971172" y="3719779"/>
            <a:ext cx="1052383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936" spc="-54" kern="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N/A (Simulated)</a:t>
            </a:r>
            <a:endParaRPr lang="en-US" sz="936" dirty="0"/>
          </a:p>
        </p:txBody>
      </p:sp>
      <p:sp>
        <p:nvSpPr>
          <p:cNvPr id="26" name="Shape 24"/>
          <p:cNvSpPr/>
          <p:nvPr/>
        </p:nvSpPr>
        <p:spPr>
          <a:xfrm>
            <a:off x="3051901" y="3623219"/>
            <a:ext cx="1166317" cy="383134"/>
          </a:xfrm>
          <a:prstGeom prst="rect">
            <a:avLst/>
          </a:prstGeom>
          <a:ln w="9525">
            <a:solidFill>
              <a:srgbClr val="1E293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137672" y="3719779"/>
            <a:ext cx="1052383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936" spc="-54" kern="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120 μs (Drift)</a:t>
            </a:r>
            <a:endParaRPr lang="en-US" sz="936" dirty="0"/>
          </a:p>
        </p:txBody>
      </p:sp>
      <p:sp>
        <p:nvSpPr>
          <p:cNvPr id="28" name="Shape 26"/>
          <p:cNvSpPr/>
          <p:nvPr/>
        </p:nvSpPr>
        <p:spPr>
          <a:xfrm>
            <a:off x="4218219" y="3623219"/>
            <a:ext cx="1681673" cy="383134"/>
          </a:xfrm>
          <a:prstGeom prst="rect">
            <a:avLst/>
          </a:prstGeom>
          <a:ln w="9525">
            <a:solidFill>
              <a:srgbClr val="1E293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303989" y="3719779"/>
            <a:ext cx="1608887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936" b="1" spc="-54" kern="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Infinite (Corrected)</a:t>
            </a:r>
            <a:endParaRPr lang="en-US" sz="936" dirty="0"/>
          </a:p>
        </p:txBody>
      </p:sp>
      <p:sp>
        <p:nvSpPr>
          <p:cNvPr id="30" name="Shape 28"/>
          <p:cNvSpPr/>
          <p:nvPr/>
        </p:nvSpPr>
        <p:spPr>
          <a:xfrm>
            <a:off x="719176" y="4006352"/>
            <a:ext cx="5180716" cy="378379"/>
          </a:xfrm>
          <a:prstGeom prst="rect">
            <a:avLst/>
          </a:prstGeom>
          <a:solidFill>
            <a:srgbClr val="0B1220"/>
          </a:solidFill>
          <a:ln/>
        </p:spPr>
      </p:sp>
      <p:sp>
        <p:nvSpPr>
          <p:cNvPr id="31" name="Shape 29"/>
          <p:cNvSpPr/>
          <p:nvPr/>
        </p:nvSpPr>
        <p:spPr>
          <a:xfrm>
            <a:off x="719176" y="4006352"/>
            <a:ext cx="5180716" cy="9510"/>
          </a:xfrm>
          <a:prstGeom prst="rect">
            <a:avLst/>
          </a:prstGeom>
          <a:solidFill>
            <a:srgbClr val="D1D9E0">
              <a:alpha val="7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19176" y="4375130"/>
            <a:ext cx="5180716" cy="951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3" name="Shape 31"/>
          <p:cNvSpPr/>
          <p:nvPr/>
        </p:nvSpPr>
        <p:spPr>
          <a:xfrm>
            <a:off x="719176" y="4006352"/>
            <a:ext cx="1166317" cy="378379"/>
          </a:xfrm>
          <a:prstGeom prst="rect">
            <a:avLst/>
          </a:prstGeom>
          <a:ln w="9525">
            <a:solidFill>
              <a:srgbClr val="1E29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855" y="4098158"/>
            <a:ext cx="1052383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936" b="1" spc="-54" kern="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 Error Rate</a:t>
            </a:r>
            <a:endParaRPr lang="en-US" sz="936" dirty="0"/>
          </a:p>
        </p:txBody>
      </p:sp>
      <p:sp>
        <p:nvSpPr>
          <p:cNvPr id="35" name="Shape 33"/>
          <p:cNvSpPr/>
          <p:nvPr/>
        </p:nvSpPr>
        <p:spPr>
          <a:xfrm>
            <a:off x="1885493" y="4006352"/>
            <a:ext cx="1166317" cy="378379"/>
          </a:xfrm>
          <a:prstGeom prst="rect">
            <a:avLst/>
          </a:prstGeom>
          <a:ln w="9525">
            <a:solidFill>
              <a:srgbClr val="1E293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971172" y="4098158"/>
            <a:ext cx="1052383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936" spc="-54" kern="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0.00%</a:t>
            </a:r>
            <a:endParaRPr lang="en-US" sz="936" dirty="0"/>
          </a:p>
        </p:txBody>
      </p:sp>
      <p:sp>
        <p:nvSpPr>
          <p:cNvPr id="37" name="Shape 35"/>
          <p:cNvSpPr/>
          <p:nvPr/>
        </p:nvSpPr>
        <p:spPr>
          <a:xfrm>
            <a:off x="3051901" y="4006352"/>
            <a:ext cx="1166317" cy="378379"/>
          </a:xfrm>
          <a:prstGeom prst="rect">
            <a:avLst/>
          </a:prstGeom>
          <a:ln w="9525">
            <a:solidFill>
              <a:srgbClr val="1E293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137672" y="4098158"/>
            <a:ext cx="1052383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936" spc="-54" kern="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0.35% (High)</a:t>
            </a:r>
            <a:endParaRPr lang="en-US" sz="936" dirty="0"/>
          </a:p>
        </p:txBody>
      </p:sp>
      <p:sp>
        <p:nvSpPr>
          <p:cNvPr id="39" name="Shape 37"/>
          <p:cNvSpPr/>
          <p:nvPr/>
        </p:nvSpPr>
        <p:spPr>
          <a:xfrm>
            <a:off x="4218219" y="4006352"/>
            <a:ext cx="1681673" cy="378379"/>
          </a:xfrm>
          <a:prstGeom prst="rect">
            <a:avLst/>
          </a:prstGeom>
          <a:ln w="9525">
            <a:solidFill>
              <a:srgbClr val="1E293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303989" y="4098158"/>
            <a:ext cx="1608887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936" b="1" spc="-54" kern="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0.01% (Tensor Backprop)</a:t>
            </a:r>
            <a:endParaRPr lang="en-US" sz="936" dirty="0"/>
          </a:p>
        </p:txBody>
      </p:sp>
      <p:sp>
        <p:nvSpPr>
          <p:cNvPr id="41" name="Shape 39"/>
          <p:cNvSpPr/>
          <p:nvPr/>
        </p:nvSpPr>
        <p:spPr>
          <a:xfrm>
            <a:off x="719176" y="4384639"/>
            <a:ext cx="5180716" cy="9510"/>
          </a:xfrm>
          <a:prstGeom prst="rect">
            <a:avLst/>
          </a:prstGeom>
          <a:solidFill>
            <a:srgbClr val="D1D9E0">
              <a:alpha val="7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19176" y="4384639"/>
            <a:ext cx="1166317" cy="378379"/>
          </a:xfrm>
          <a:prstGeom prst="rect">
            <a:avLst/>
          </a:prstGeom>
          <a:ln w="9525">
            <a:solidFill>
              <a:srgbClr val="1E293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855" y="4476445"/>
            <a:ext cx="1052383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936" b="1" spc="-54" kern="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128-Qubit Exec</a:t>
            </a:r>
            <a:endParaRPr lang="en-US" sz="936" dirty="0"/>
          </a:p>
        </p:txBody>
      </p:sp>
      <p:sp>
        <p:nvSpPr>
          <p:cNvPr id="44" name="Shape 42"/>
          <p:cNvSpPr/>
          <p:nvPr/>
        </p:nvSpPr>
        <p:spPr>
          <a:xfrm>
            <a:off x="1885493" y="4384639"/>
            <a:ext cx="1166317" cy="378379"/>
          </a:xfrm>
          <a:prstGeom prst="rect">
            <a:avLst/>
          </a:prstGeom>
          <a:ln w="9525">
            <a:solidFill>
              <a:srgbClr val="1E293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971172" y="4476445"/>
            <a:ext cx="1052383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936" spc="-54" kern="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48.2 Hours</a:t>
            </a:r>
            <a:endParaRPr lang="en-US" sz="936" dirty="0"/>
          </a:p>
        </p:txBody>
      </p:sp>
      <p:sp>
        <p:nvSpPr>
          <p:cNvPr id="46" name="Shape 44"/>
          <p:cNvSpPr/>
          <p:nvPr/>
        </p:nvSpPr>
        <p:spPr>
          <a:xfrm>
            <a:off x="3051901" y="4384639"/>
            <a:ext cx="1166317" cy="378379"/>
          </a:xfrm>
          <a:prstGeom prst="rect">
            <a:avLst/>
          </a:prstGeom>
          <a:ln w="9525">
            <a:solidFill>
              <a:srgbClr val="1E293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137672" y="4476445"/>
            <a:ext cx="1052383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936" spc="-54" kern="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 (Noise)</a:t>
            </a:r>
            <a:endParaRPr lang="en-US" sz="936" dirty="0"/>
          </a:p>
        </p:txBody>
      </p:sp>
      <p:sp>
        <p:nvSpPr>
          <p:cNvPr id="48" name="Shape 46"/>
          <p:cNvSpPr/>
          <p:nvPr/>
        </p:nvSpPr>
        <p:spPr>
          <a:xfrm>
            <a:off x="4218219" y="4384639"/>
            <a:ext cx="1681673" cy="378379"/>
          </a:xfrm>
          <a:prstGeom prst="rect">
            <a:avLst/>
          </a:prstGeom>
          <a:ln w="9525">
            <a:solidFill>
              <a:srgbClr val="1E293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303989" y="4476445"/>
            <a:ext cx="1608887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936" b="1" spc="-54" kern="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2.4 Minutes (1,200x)</a:t>
            </a:r>
            <a:endParaRPr lang="en-US" sz="936" dirty="0"/>
          </a:p>
        </p:txBody>
      </p:sp>
      <p:sp>
        <p:nvSpPr>
          <p:cNvPr id="50" name="Text 48"/>
          <p:cNvSpPr txBox="1"/>
          <p:nvPr/>
        </p:nvSpPr>
        <p:spPr>
          <a:xfrm>
            <a:off x="695310" y="6111118"/>
            <a:ext cx="1164333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 Tested on 64x NVIDIA H100 GPU Cluster with Quantum Tensor Backpropagation v4.2</a:t>
            </a:r>
            <a:endParaRPr lang="en-US" sz="864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subject>Generated from an audited HTML preview</dc:subject>
  <dc:creator>korean-presentation-skill</dc:creator>
  <cp:lastModifiedBy>korean-presentation-skill</cp:lastModifiedBy>
  <cp:revision>1</cp:revision>
  <dcterms:created xsi:type="dcterms:W3CDTF">2026-09-06T13:28:28Z</dcterms:created>
  <dcterms:modified xsi:type="dcterms:W3CDTF">2026-09-06T13:28:28Z</dcterms:modified>
</cp:coreProperties>
</file>