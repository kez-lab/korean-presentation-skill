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단일 세포 유전체 분석 기반 정밀 면역항암 플랫폼의 임상 지표입니다.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기존 화학요법 및 1세대 면역항암제 대비 월등한 반응률과 안전성 비교표입니다.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370" y="466710"/>
            <a:ext cx="2541300" cy="374447"/>
          </a:xfrm>
          <a:prstGeom prst="roundRect">
            <a:avLst>
              <a:gd name="adj" fmla="val 10183"/>
            </a:avLst>
          </a:prstGeom>
          <a:solidFill>
            <a:srgbClr val="E0F2F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630" y="503286"/>
            <a:ext cx="2557851" cy="29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49"/>
              </a:lnSpc>
              <a:buNone/>
            </a:pPr>
            <a:r>
              <a:rPr lang="en-US" sz="1566" b="1" spc="-54" kern="0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CLINICAL PROTOCOL v3.4</a:t>
            </a:r>
            <a:endParaRPr lang="en-US" sz="1566" dirty="0"/>
          </a:p>
        </p:txBody>
      </p:sp>
      <p:sp>
        <p:nvSpPr>
          <p:cNvPr id="4" name="Text 2"/>
          <p:cNvSpPr txBox="1"/>
          <p:nvPr/>
        </p:nvSpPr>
        <p:spPr>
          <a:xfrm>
            <a:off x="514350" y="893003"/>
            <a:ext cx="11163270" cy="1450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9"/>
              </a:lnSpc>
              <a:buNone/>
            </a:pPr>
            <a:r>
              <a:rPr lang="en-US" sz="4568" b="1" spc="-5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세포 전사체 분석 기반</a:t>
            </a:r>
            <a:endParaRPr lang="en-US" sz="4568" dirty="0"/>
          </a:p>
          <a:p>
            <a:pPr algn="l" indent="0" marL="0">
              <a:lnSpc>
                <a:spcPts val="5709"/>
              </a:lnSpc>
              <a:buNone/>
            </a:pPr>
            <a:r>
              <a:rPr lang="en-US" sz="4568" b="1" spc="-54" kern="0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 면역항암 바이오마커 행렬</a:t>
            </a:r>
            <a:endParaRPr lang="en-US" sz="4568" dirty="0"/>
          </a:p>
        </p:txBody>
      </p:sp>
      <p:sp>
        <p:nvSpPr>
          <p:cNvPr id="5" name="Text 3"/>
          <p:cNvSpPr txBox="1"/>
          <p:nvPr/>
        </p:nvSpPr>
        <p:spPr>
          <a:xfrm>
            <a:off x="514350" y="2575865"/>
            <a:ext cx="12034236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140" spc="-54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불응성 고형암 환자 500례 대상 10x Genomics 단일 세포 RNA 시퀀싱 임상 결과</a:t>
            </a:r>
            <a:endParaRPr lang="en-US" sz="1140" dirty="0"/>
          </a:p>
        </p:txBody>
      </p:sp>
      <p:sp>
        <p:nvSpPr>
          <p:cNvPr id="6" name="Shape 4"/>
          <p:cNvSpPr/>
          <p:nvPr/>
        </p:nvSpPr>
        <p:spPr>
          <a:xfrm>
            <a:off x="533370" y="5565861"/>
            <a:ext cx="3606759" cy="873069"/>
          </a:xfrm>
          <a:prstGeom prst="roundRect">
            <a:avLst>
              <a:gd name="adj" fmla="val 8724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533370" y="5565861"/>
            <a:ext cx="3606759" cy="28621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8" name="Shape 6"/>
          <p:cNvSpPr/>
          <p:nvPr/>
        </p:nvSpPr>
        <p:spPr>
          <a:xfrm>
            <a:off x="4130619" y="5565861"/>
            <a:ext cx="9510" cy="87306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Shape 7"/>
          <p:cNvSpPr/>
          <p:nvPr/>
        </p:nvSpPr>
        <p:spPr>
          <a:xfrm>
            <a:off x="533370" y="6429421"/>
            <a:ext cx="3606759" cy="951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533370" y="5565861"/>
            <a:ext cx="9510" cy="87306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6290" y="5740695"/>
            <a:ext cx="35646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64" b="1" spc="-54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 CELLS PROFILED</a:t>
            </a:r>
            <a:endParaRPr lang="en-US" sz="864" dirty="0"/>
          </a:p>
        </p:txBody>
      </p:sp>
      <p:sp>
        <p:nvSpPr>
          <p:cNvPr id="12" name="Text 10"/>
          <p:cNvSpPr txBox="1"/>
          <p:nvPr/>
        </p:nvSpPr>
        <p:spPr>
          <a:xfrm>
            <a:off x="676290" y="5909401"/>
            <a:ext cx="3564606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920" b="1" spc="-5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12,500,000+</a:t>
            </a:r>
            <a:endParaRPr lang="en-US" sz="1920" dirty="0"/>
          </a:p>
        </p:txBody>
      </p:sp>
      <p:sp>
        <p:nvSpPr>
          <p:cNvPr id="13" name="Shape 11"/>
          <p:cNvSpPr/>
          <p:nvPr/>
        </p:nvSpPr>
        <p:spPr>
          <a:xfrm>
            <a:off x="4292559" y="5565861"/>
            <a:ext cx="3606851" cy="873069"/>
          </a:xfrm>
          <a:prstGeom prst="roundRect">
            <a:avLst>
              <a:gd name="adj" fmla="val 8724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292559" y="5565861"/>
            <a:ext cx="3606851" cy="28621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Shape 13"/>
          <p:cNvSpPr/>
          <p:nvPr/>
        </p:nvSpPr>
        <p:spPr>
          <a:xfrm>
            <a:off x="7889809" y="5565861"/>
            <a:ext cx="9510" cy="87306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Shape 14"/>
          <p:cNvSpPr/>
          <p:nvPr/>
        </p:nvSpPr>
        <p:spPr>
          <a:xfrm>
            <a:off x="4292559" y="6429421"/>
            <a:ext cx="3606851" cy="951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Shape 15"/>
          <p:cNvSpPr/>
          <p:nvPr/>
        </p:nvSpPr>
        <p:spPr>
          <a:xfrm>
            <a:off x="4292559" y="5565861"/>
            <a:ext cx="9510" cy="87306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435389" y="5740695"/>
            <a:ext cx="356469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64" b="1" spc="-54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ORR (OBJECTIVE RESPONSE)</a:t>
            </a:r>
            <a:endParaRPr lang="en-US" sz="864" dirty="0"/>
          </a:p>
        </p:txBody>
      </p:sp>
      <p:sp>
        <p:nvSpPr>
          <p:cNvPr id="19" name="Text 17"/>
          <p:cNvSpPr txBox="1"/>
          <p:nvPr/>
        </p:nvSpPr>
        <p:spPr>
          <a:xfrm>
            <a:off x="4435389" y="5909401"/>
            <a:ext cx="3564697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920" b="1" spc="-54" kern="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84.2%</a:t>
            </a:r>
            <a:endParaRPr lang="en-US" sz="1920" dirty="0"/>
          </a:p>
        </p:txBody>
      </p:sp>
      <p:sp>
        <p:nvSpPr>
          <p:cNvPr id="20" name="Shape 18"/>
          <p:cNvSpPr/>
          <p:nvPr/>
        </p:nvSpPr>
        <p:spPr>
          <a:xfrm>
            <a:off x="8051749" y="5565861"/>
            <a:ext cx="3606759" cy="873069"/>
          </a:xfrm>
          <a:prstGeom prst="roundRect">
            <a:avLst>
              <a:gd name="adj" fmla="val 8724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8051749" y="5565861"/>
            <a:ext cx="3606759" cy="28621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2" name="Shape 20"/>
          <p:cNvSpPr/>
          <p:nvPr/>
        </p:nvSpPr>
        <p:spPr>
          <a:xfrm>
            <a:off x="11648999" y="5565861"/>
            <a:ext cx="9510" cy="87306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Shape 21"/>
          <p:cNvSpPr/>
          <p:nvPr/>
        </p:nvSpPr>
        <p:spPr>
          <a:xfrm>
            <a:off x="8051749" y="6429421"/>
            <a:ext cx="3606759" cy="951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Shape 22"/>
          <p:cNvSpPr/>
          <p:nvPr/>
        </p:nvSpPr>
        <p:spPr>
          <a:xfrm>
            <a:off x="8051749" y="5565861"/>
            <a:ext cx="9510" cy="87306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194670" y="5740695"/>
            <a:ext cx="35646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64" b="1" spc="-54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SEVERE CRS RATE</a:t>
            </a:r>
            <a:endParaRPr lang="en-US" sz="864" dirty="0"/>
          </a:p>
        </p:txBody>
      </p:sp>
      <p:sp>
        <p:nvSpPr>
          <p:cNvPr id="26" name="Text 24"/>
          <p:cNvSpPr txBox="1"/>
          <p:nvPr/>
        </p:nvSpPr>
        <p:spPr>
          <a:xfrm>
            <a:off x="8194670" y="5909401"/>
            <a:ext cx="3564606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920" b="1" spc="-54" kern="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0.0% (Zero)</a:t>
            </a:r>
            <a:endParaRPr lang="en-US" sz="19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370" y="466710"/>
            <a:ext cx="2692176" cy="374447"/>
          </a:xfrm>
          <a:prstGeom prst="roundRect">
            <a:avLst>
              <a:gd name="adj" fmla="val 10183"/>
            </a:avLst>
          </a:prstGeom>
          <a:solidFill>
            <a:srgbClr val="E0F2F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630" y="503286"/>
            <a:ext cx="2720797" cy="29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49"/>
              </a:lnSpc>
              <a:buNone/>
            </a:pPr>
            <a:r>
              <a:rPr lang="en-US" sz="1566" b="1" spc="-54" kern="0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BENCHMARK COMPARISON</a:t>
            </a:r>
            <a:endParaRPr lang="en-US" sz="1566" dirty="0"/>
          </a:p>
        </p:txBody>
      </p:sp>
      <p:sp>
        <p:nvSpPr>
          <p:cNvPr id="4" name="Text 2"/>
          <p:cNvSpPr txBox="1"/>
          <p:nvPr/>
        </p:nvSpPr>
        <p:spPr>
          <a:xfrm>
            <a:off x="514350" y="879287"/>
            <a:ext cx="12034236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80" b="1" spc="-5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표준 치료법(SoC) 대비 임상 효능 비교 행렬</a:t>
            </a:r>
            <a:endParaRPr lang="en-US" sz="1680" dirty="0"/>
          </a:p>
        </p:txBody>
      </p:sp>
      <p:sp>
        <p:nvSpPr>
          <p:cNvPr id="5" name="Shape 3"/>
          <p:cNvSpPr/>
          <p:nvPr/>
        </p:nvSpPr>
        <p:spPr>
          <a:xfrm>
            <a:off x="533370" y="2394448"/>
            <a:ext cx="11125230" cy="2638227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7726" y="2408804"/>
            <a:ext cx="11096610" cy="90095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547726" y="2408804"/>
            <a:ext cx="11096610" cy="9510"/>
          </a:xfrm>
          <a:prstGeom prst="rect">
            <a:avLst/>
          </a:prstGeom>
          <a:solidFill>
            <a:srgbClr val="D1D9E0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47726" y="2408804"/>
            <a:ext cx="2410907" cy="900958"/>
          </a:xfrm>
          <a:prstGeom prst="rect">
            <a:avLst/>
          </a:prstGeom>
          <a:solidFill>
            <a:srgbClr val="0F172A"/>
          </a:solidFill>
          <a:ln w="9525">
            <a:solidFill>
              <a:srgbClr val="D1D9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1535" y="2524018"/>
            <a:ext cx="216319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1740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CLINICAL PARAMETER</a:t>
            </a:r>
            <a:endParaRPr lang="en-US" sz="1740" dirty="0"/>
          </a:p>
        </p:txBody>
      </p:sp>
      <p:sp>
        <p:nvSpPr>
          <p:cNvPr id="10" name="Shape 8"/>
          <p:cNvSpPr/>
          <p:nvPr/>
        </p:nvSpPr>
        <p:spPr>
          <a:xfrm>
            <a:off x="2958541" y="2408804"/>
            <a:ext cx="2704612" cy="900958"/>
          </a:xfrm>
          <a:prstGeom prst="rect">
            <a:avLst/>
          </a:prstGeom>
          <a:solidFill>
            <a:srgbClr val="0F172A"/>
          </a:solidFill>
          <a:ln w="9525">
            <a:solidFill>
              <a:srgbClr val="D1D9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82351" y="2524018"/>
            <a:ext cx="2456993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1740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STANDARD SOC (CHEMO)</a:t>
            </a:r>
            <a:endParaRPr lang="en-US" sz="1740" dirty="0"/>
          </a:p>
        </p:txBody>
      </p:sp>
      <p:sp>
        <p:nvSpPr>
          <p:cNvPr id="12" name="Shape 10"/>
          <p:cNvSpPr/>
          <p:nvPr/>
        </p:nvSpPr>
        <p:spPr>
          <a:xfrm>
            <a:off x="5663154" y="2408804"/>
            <a:ext cx="2958267" cy="900958"/>
          </a:xfrm>
          <a:prstGeom prst="rect">
            <a:avLst/>
          </a:prstGeom>
          <a:solidFill>
            <a:srgbClr val="0F172A"/>
          </a:solidFill>
          <a:ln w="9525">
            <a:solidFill>
              <a:srgbClr val="D1D9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86963" y="2524018"/>
            <a:ext cx="2710647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1740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1ST GEN IMMUNOTHERAPY</a:t>
            </a:r>
            <a:endParaRPr lang="en-US" sz="1740" dirty="0"/>
          </a:p>
        </p:txBody>
      </p:sp>
      <p:sp>
        <p:nvSpPr>
          <p:cNvPr id="14" name="Shape 12"/>
          <p:cNvSpPr/>
          <p:nvPr/>
        </p:nvSpPr>
        <p:spPr>
          <a:xfrm>
            <a:off x="8621420" y="2408804"/>
            <a:ext cx="3022824" cy="900958"/>
          </a:xfrm>
          <a:prstGeom prst="rect">
            <a:avLst/>
          </a:prstGeom>
          <a:solidFill>
            <a:srgbClr val="0F172A"/>
          </a:solidFill>
          <a:ln w="9525">
            <a:solidFill>
              <a:srgbClr val="D1D9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745322" y="2524018"/>
            <a:ext cx="277520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1740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OUR SINGLE-CELL PLATFORM</a:t>
            </a:r>
            <a:endParaRPr lang="en-US" sz="1740" dirty="0"/>
          </a:p>
        </p:txBody>
      </p:sp>
      <p:sp>
        <p:nvSpPr>
          <p:cNvPr id="16" name="Shape 14"/>
          <p:cNvSpPr/>
          <p:nvPr/>
        </p:nvSpPr>
        <p:spPr>
          <a:xfrm>
            <a:off x="547726" y="3309762"/>
            <a:ext cx="11096610" cy="5695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547726" y="3309762"/>
            <a:ext cx="11096610" cy="9510"/>
          </a:xfrm>
          <a:prstGeom prst="rect">
            <a:avLst/>
          </a:prstGeom>
          <a:solidFill>
            <a:srgbClr val="D1D9E0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47726" y="3309762"/>
            <a:ext cx="2410907" cy="9510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19" name="Shape 17"/>
          <p:cNvSpPr/>
          <p:nvPr/>
        </p:nvSpPr>
        <p:spPr>
          <a:xfrm>
            <a:off x="2949031" y="3309762"/>
            <a:ext cx="9510" cy="569580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20" name="Shape 18"/>
          <p:cNvSpPr/>
          <p:nvPr/>
        </p:nvSpPr>
        <p:spPr>
          <a:xfrm>
            <a:off x="547726" y="3869832"/>
            <a:ext cx="2410907" cy="951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Shape 19"/>
          <p:cNvSpPr/>
          <p:nvPr/>
        </p:nvSpPr>
        <p:spPr>
          <a:xfrm>
            <a:off x="547726" y="3309762"/>
            <a:ext cx="9510" cy="569580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71535" y="3424977"/>
            <a:ext cx="2314164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1740" b="1" spc="-5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 Specificity</a:t>
            </a:r>
            <a:endParaRPr lang="en-US" sz="1740" dirty="0"/>
          </a:p>
        </p:txBody>
      </p:sp>
      <p:sp>
        <p:nvSpPr>
          <p:cNvPr id="23" name="Shape 21"/>
          <p:cNvSpPr/>
          <p:nvPr/>
        </p:nvSpPr>
        <p:spPr>
          <a:xfrm>
            <a:off x="2958541" y="3309762"/>
            <a:ext cx="2704612" cy="9510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24" name="Shape 22"/>
          <p:cNvSpPr/>
          <p:nvPr/>
        </p:nvSpPr>
        <p:spPr>
          <a:xfrm>
            <a:off x="5653644" y="3309762"/>
            <a:ext cx="9510" cy="569580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25" name="Shape 23"/>
          <p:cNvSpPr/>
          <p:nvPr/>
        </p:nvSpPr>
        <p:spPr>
          <a:xfrm>
            <a:off x="2958541" y="3869832"/>
            <a:ext cx="2704612" cy="951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Shape 24"/>
          <p:cNvSpPr/>
          <p:nvPr/>
        </p:nvSpPr>
        <p:spPr>
          <a:xfrm>
            <a:off x="2958541" y="3309762"/>
            <a:ext cx="9510" cy="569580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082351" y="3424977"/>
            <a:ext cx="2631460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1740" b="1" spc="-54" kern="0" dirty="0">
                <a:solidFill>
                  <a:srgbClr val="B9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Non-Specific</a:t>
            </a:r>
            <a:endParaRPr lang="en-US" sz="1740" dirty="0"/>
          </a:p>
        </p:txBody>
      </p:sp>
      <p:sp>
        <p:nvSpPr>
          <p:cNvPr id="28" name="Shape 26"/>
          <p:cNvSpPr/>
          <p:nvPr/>
        </p:nvSpPr>
        <p:spPr>
          <a:xfrm>
            <a:off x="3096707" y="3438327"/>
            <a:ext cx="1456273" cy="304770"/>
          </a:xfrm>
          <a:prstGeom prst="roundRect">
            <a:avLst>
              <a:gd name="adj" fmla="val 12511"/>
            </a:avLst>
          </a:prstGeom>
          <a:solidFill>
            <a:srgbClr val="FEE2E2"/>
          </a:solidFill>
          <a:ln/>
        </p:spPr>
      </p:sp>
      <p:sp>
        <p:nvSpPr>
          <p:cNvPr id="29" name="Shape 27"/>
          <p:cNvSpPr/>
          <p:nvPr/>
        </p:nvSpPr>
        <p:spPr>
          <a:xfrm>
            <a:off x="5663154" y="3309762"/>
            <a:ext cx="2958267" cy="9510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30" name="Shape 28"/>
          <p:cNvSpPr/>
          <p:nvPr/>
        </p:nvSpPr>
        <p:spPr>
          <a:xfrm>
            <a:off x="8611911" y="3309762"/>
            <a:ext cx="9510" cy="569580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31" name="Shape 29"/>
          <p:cNvSpPr/>
          <p:nvPr/>
        </p:nvSpPr>
        <p:spPr>
          <a:xfrm>
            <a:off x="5663154" y="3869832"/>
            <a:ext cx="2958267" cy="951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2" name="Shape 30"/>
          <p:cNvSpPr/>
          <p:nvPr/>
        </p:nvSpPr>
        <p:spPr>
          <a:xfrm>
            <a:off x="5663154" y="3309762"/>
            <a:ext cx="9510" cy="569580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786963" y="3424977"/>
            <a:ext cx="2905415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1740" spc="-5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Moderate (PD-L1 Only)</a:t>
            </a:r>
            <a:endParaRPr lang="en-US" sz="1740" dirty="0"/>
          </a:p>
        </p:txBody>
      </p:sp>
      <p:sp>
        <p:nvSpPr>
          <p:cNvPr id="34" name="Shape 32"/>
          <p:cNvSpPr/>
          <p:nvPr/>
        </p:nvSpPr>
        <p:spPr>
          <a:xfrm>
            <a:off x="8621420" y="3309762"/>
            <a:ext cx="3022824" cy="9510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35" name="Shape 33"/>
          <p:cNvSpPr/>
          <p:nvPr/>
        </p:nvSpPr>
        <p:spPr>
          <a:xfrm>
            <a:off x="11634826" y="3309762"/>
            <a:ext cx="9510" cy="569580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36" name="Shape 34"/>
          <p:cNvSpPr/>
          <p:nvPr/>
        </p:nvSpPr>
        <p:spPr>
          <a:xfrm>
            <a:off x="8621420" y="3869832"/>
            <a:ext cx="3022824" cy="951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7" name="Shape 35"/>
          <p:cNvSpPr/>
          <p:nvPr/>
        </p:nvSpPr>
        <p:spPr>
          <a:xfrm>
            <a:off x="8621420" y="3309762"/>
            <a:ext cx="9510" cy="569580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745322" y="3424977"/>
            <a:ext cx="2975092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1740" b="1" spc="-54" kern="0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Single-Cell TCR Precision</a:t>
            </a:r>
            <a:endParaRPr lang="en-US" sz="1740" dirty="0"/>
          </a:p>
        </p:txBody>
      </p:sp>
      <p:sp>
        <p:nvSpPr>
          <p:cNvPr id="39" name="Shape 37"/>
          <p:cNvSpPr/>
          <p:nvPr/>
        </p:nvSpPr>
        <p:spPr>
          <a:xfrm>
            <a:off x="8759586" y="3438327"/>
            <a:ext cx="2679924" cy="304770"/>
          </a:xfrm>
          <a:prstGeom prst="roundRect">
            <a:avLst>
              <a:gd name="adj" fmla="val 12511"/>
            </a:avLst>
          </a:prstGeom>
          <a:solidFill>
            <a:srgbClr val="DCFCE7"/>
          </a:solidFill>
          <a:ln/>
        </p:spPr>
      </p:sp>
      <p:sp>
        <p:nvSpPr>
          <p:cNvPr id="40" name="Shape 38"/>
          <p:cNvSpPr/>
          <p:nvPr/>
        </p:nvSpPr>
        <p:spPr>
          <a:xfrm>
            <a:off x="547726" y="3879342"/>
            <a:ext cx="11096610" cy="569580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41" name="Shape 39"/>
          <p:cNvSpPr/>
          <p:nvPr/>
        </p:nvSpPr>
        <p:spPr>
          <a:xfrm>
            <a:off x="547726" y="3879342"/>
            <a:ext cx="11096610" cy="9510"/>
          </a:xfrm>
          <a:prstGeom prst="rect">
            <a:avLst/>
          </a:prstGeom>
          <a:solidFill>
            <a:srgbClr val="D1D9E0">
              <a:alpha val="7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47726" y="3879342"/>
            <a:ext cx="2410907" cy="9510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43" name="Shape 41"/>
          <p:cNvSpPr/>
          <p:nvPr/>
        </p:nvSpPr>
        <p:spPr>
          <a:xfrm>
            <a:off x="2949031" y="3879342"/>
            <a:ext cx="9510" cy="569580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44" name="Shape 42"/>
          <p:cNvSpPr/>
          <p:nvPr/>
        </p:nvSpPr>
        <p:spPr>
          <a:xfrm>
            <a:off x="547726" y="4439412"/>
            <a:ext cx="2410907" cy="951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5" name="Shape 43"/>
          <p:cNvSpPr/>
          <p:nvPr/>
        </p:nvSpPr>
        <p:spPr>
          <a:xfrm>
            <a:off x="547726" y="3879342"/>
            <a:ext cx="9510" cy="569580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71535" y="3994556"/>
            <a:ext cx="2314164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1740" b="1" spc="-5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Solid Tumor ORR</a:t>
            </a:r>
            <a:endParaRPr lang="en-US" sz="1740" dirty="0"/>
          </a:p>
        </p:txBody>
      </p:sp>
      <p:sp>
        <p:nvSpPr>
          <p:cNvPr id="47" name="Shape 45"/>
          <p:cNvSpPr/>
          <p:nvPr/>
        </p:nvSpPr>
        <p:spPr>
          <a:xfrm>
            <a:off x="2958541" y="3879342"/>
            <a:ext cx="2704612" cy="9510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48" name="Shape 46"/>
          <p:cNvSpPr/>
          <p:nvPr/>
        </p:nvSpPr>
        <p:spPr>
          <a:xfrm>
            <a:off x="5653644" y="3879342"/>
            <a:ext cx="9510" cy="569580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49" name="Shape 47"/>
          <p:cNvSpPr/>
          <p:nvPr/>
        </p:nvSpPr>
        <p:spPr>
          <a:xfrm>
            <a:off x="2958541" y="4439412"/>
            <a:ext cx="2704612" cy="951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0" name="Shape 48"/>
          <p:cNvSpPr/>
          <p:nvPr/>
        </p:nvSpPr>
        <p:spPr>
          <a:xfrm>
            <a:off x="2958541" y="3879342"/>
            <a:ext cx="9510" cy="569580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3082351" y="3994556"/>
            <a:ext cx="2631460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1740" spc="-5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21.4%</a:t>
            </a:r>
            <a:endParaRPr lang="en-US" sz="1740" dirty="0"/>
          </a:p>
        </p:txBody>
      </p:sp>
      <p:sp>
        <p:nvSpPr>
          <p:cNvPr id="52" name="Shape 50"/>
          <p:cNvSpPr/>
          <p:nvPr/>
        </p:nvSpPr>
        <p:spPr>
          <a:xfrm>
            <a:off x="5663154" y="3879342"/>
            <a:ext cx="2958267" cy="9510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53" name="Shape 51"/>
          <p:cNvSpPr/>
          <p:nvPr/>
        </p:nvSpPr>
        <p:spPr>
          <a:xfrm>
            <a:off x="8611911" y="3879342"/>
            <a:ext cx="9510" cy="569580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54" name="Shape 52"/>
          <p:cNvSpPr/>
          <p:nvPr/>
        </p:nvSpPr>
        <p:spPr>
          <a:xfrm>
            <a:off x="5663154" y="4439412"/>
            <a:ext cx="2958267" cy="951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5" name="Shape 53"/>
          <p:cNvSpPr/>
          <p:nvPr/>
        </p:nvSpPr>
        <p:spPr>
          <a:xfrm>
            <a:off x="5663154" y="3879342"/>
            <a:ext cx="9510" cy="569580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5786963" y="3994556"/>
            <a:ext cx="2905415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1740" spc="-5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38.2%</a:t>
            </a:r>
            <a:endParaRPr lang="en-US" sz="1740" dirty="0"/>
          </a:p>
        </p:txBody>
      </p:sp>
      <p:sp>
        <p:nvSpPr>
          <p:cNvPr id="57" name="Shape 55"/>
          <p:cNvSpPr/>
          <p:nvPr/>
        </p:nvSpPr>
        <p:spPr>
          <a:xfrm>
            <a:off x="8621420" y="3879342"/>
            <a:ext cx="3022824" cy="9510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58" name="Shape 56"/>
          <p:cNvSpPr/>
          <p:nvPr/>
        </p:nvSpPr>
        <p:spPr>
          <a:xfrm>
            <a:off x="11634826" y="3879342"/>
            <a:ext cx="9510" cy="569580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59" name="Shape 57"/>
          <p:cNvSpPr/>
          <p:nvPr/>
        </p:nvSpPr>
        <p:spPr>
          <a:xfrm>
            <a:off x="8621420" y="4439412"/>
            <a:ext cx="3022824" cy="951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0" name="Shape 58"/>
          <p:cNvSpPr/>
          <p:nvPr/>
        </p:nvSpPr>
        <p:spPr>
          <a:xfrm>
            <a:off x="8621420" y="3879342"/>
            <a:ext cx="9510" cy="569580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8745322" y="3994556"/>
            <a:ext cx="2975092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1740" b="1" spc="-54" kern="0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84.2% (p &lt; 0.001)</a:t>
            </a:r>
            <a:endParaRPr lang="en-US" sz="1740" dirty="0"/>
          </a:p>
        </p:txBody>
      </p:sp>
      <p:sp>
        <p:nvSpPr>
          <p:cNvPr id="62" name="Shape 60"/>
          <p:cNvSpPr/>
          <p:nvPr/>
        </p:nvSpPr>
        <p:spPr>
          <a:xfrm>
            <a:off x="8759586" y="4007907"/>
            <a:ext cx="2027225" cy="304770"/>
          </a:xfrm>
          <a:prstGeom prst="roundRect">
            <a:avLst>
              <a:gd name="adj" fmla="val 12511"/>
            </a:avLst>
          </a:prstGeom>
          <a:solidFill>
            <a:srgbClr val="DCFCE7"/>
          </a:solidFill>
          <a:ln/>
        </p:spPr>
      </p:sp>
      <p:sp>
        <p:nvSpPr>
          <p:cNvPr id="63" name="Shape 61"/>
          <p:cNvSpPr/>
          <p:nvPr/>
        </p:nvSpPr>
        <p:spPr>
          <a:xfrm>
            <a:off x="547726" y="4448922"/>
            <a:ext cx="11096610" cy="5695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Shape 62"/>
          <p:cNvSpPr/>
          <p:nvPr/>
        </p:nvSpPr>
        <p:spPr>
          <a:xfrm>
            <a:off x="547726" y="4448922"/>
            <a:ext cx="11096610" cy="9510"/>
          </a:xfrm>
          <a:prstGeom prst="rect">
            <a:avLst/>
          </a:prstGeom>
          <a:solidFill>
            <a:srgbClr val="D1D9E0">
              <a:alpha val="70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547726" y="4448922"/>
            <a:ext cx="2410907" cy="9510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66" name="Shape 64"/>
          <p:cNvSpPr/>
          <p:nvPr/>
        </p:nvSpPr>
        <p:spPr>
          <a:xfrm>
            <a:off x="2949031" y="4448922"/>
            <a:ext cx="9510" cy="569580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67" name="Shape 65"/>
          <p:cNvSpPr/>
          <p:nvPr/>
        </p:nvSpPr>
        <p:spPr>
          <a:xfrm>
            <a:off x="547726" y="5008992"/>
            <a:ext cx="2410907" cy="951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8" name="Shape 66"/>
          <p:cNvSpPr/>
          <p:nvPr/>
        </p:nvSpPr>
        <p:spPr>
          <a:xfrm>
            <a:off x="547726" y="4448922"/>
            <a:ext cx="9510" cy="569580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671535" y="4564228"/>
            <a:ext cx="2314164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1740" b="1" spc="-5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Grade 3/4 Toxicity</a:t>
            </a:r>
            <a:endParaRPr lang="en-US" sz="1740" dirty="0"/>
          </a:p>
        </p:txBody>
      </p:sp>
      <p:sp>
        <p:nvSpPr>
          <p:cNvPr id="70" name="Shape 68"/>
          <p:cNvSpPr/>
          <p:nvPr/>
        </p:nvSpPr>
        <p:spPr>
          <a:xfrm>
            <a:off x="2958541" y="4448922"/>
            <a:ext cx="2704612" cy="9510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71" name="Shape 69"/>
          <p:cNvSpPr/>
          <p:nvPr/>
        </p:nvSpPr>
        <p:spPr>
          <a:xfrm>
            <a:off x="5653644" y="4448922"/>
            <a:ext cx="9510" cy="569580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72" name="Shape 70"/>
          <p:cNvSpPr/>
          <p:nvPr/>
        </p:nvSpPr>
        <p:spPr>
          <a:xfrm>
            <a:off x="2958541" y="5008992"/>
            <a:ext cx="2704612" cy="951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3" name="Shape 71"/>
          <p:cNvSpPr/>
          <p:nvPr/>
        </p:nvSpPr>
        <p:spPr>
          <a:xfrm>
            <a:off x="2958541" y="4448922"/>
            <a:ext cx="9510" cy="569580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3082351" y="4564228"/>
            <a:ext cx="2631460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1740" b="1" spc="-54" kern="0" dirty="0">
                <a:solidFill>
                  <a:srgbClr val="B9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46.8%</a:t>
            </a:r>
            <a:endParaRPr lang="en-US" sz="1740" dirty="0"/>
          </a:p>
        </p:txBody>
      </p:sp>
      <p:sp>
        <p:nvSpPr>
          <p:cNvPr id="75" name="Shape 73"/>
          <p:cNvSpPr/>
          <p:nvPr/>
        </p:nvSpPr>
        <p:spPr>
          <a:xfrm>
            <a:off x="3096707" y="4577486"/>
            <a:ext cx="844540" cy="304770"/>
          </a:xfrm>
          <a:prstGeom prst="roundRect">
            <a:avLst>
              <a:gd name="adj" fmla="val 12511"/>
            </a:avLst>
          </a:prstGeom>
          <a:solidFill>
            <a:srgbClr val="FEE2E2"/>
          </a:solidFill>
          <a:ln/>
        </p:spPr>
      </p:sp>
      <p:sp>
        <p:nvSpPr>
          <p:cNvPr id="76" name="Shape 74"/>
          <p:cNvSpPr/>
          <p:nvPr/>
        </p:nvSpPr>
        <p:spPr>
          <a:xfrm>
            <a:off x="5663154" y="4448922"/>
            <a:ext cx="2958267" cy="9510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77" name="Shape 75"/>
          <p:cNvSpPr/>
          <p:nvPr/>
        </p:nvSpPr>
        <p:spPr>
          <a:xfrm>
            <a:off x="8611911" y="4448922"/>
            <a:ext cx="9510" cy="569580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78" name="Shape 76"/>
          <p:cNvSpPr/>
          <p:nvPr/>
        </p:nvSpPr>
        <p:spPr>
          <a:xfrm>
            <a:off x="5663154" y="5008992"/>
            <a:ext cx="2958267" cy="951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9" name="Shape 77"/>
          <p:cNvSpPr/>
          <p:nvPr/>
        </p:nvSpPr>
        <p:spPr>
          <a:xfrm>
            <a:off x="5663154" y="4448922"/>
            <a:ext cx="9510" cy="569580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5786963" y="4564228"/>
            <a:ext cx="2905415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1740" spc="-5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18.5%</a:t>
            </a:r>
            <a:endParaRPr lang="en-US" sz="1740" dirty="0"/>
          </a:p>
        </p:txBody>
      </p:sp>
      <p:sp>
        <p:nvSpPr>
          <p:cNvPr id="81" name="Shape 79"/>
          <p:cNvSpPr/>
          <p:nvPr/>
        </p:nvSpPr>
        <p:spPr>
          <a:xfrm>
            <a:off x="8621420" y="4448922"/>
            <a:ext cx="3022824" cy="9510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82" name="Shape 80"/>
          <p:cNvSpPr/>
          <p:nvPr/>
        </p:nvSpPr>
        <p:spPr>
          <a:xfrm>
            <a:off x="11634826" y="4448922"/>
            <a:ext cx="9510" cy="569580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83" name="Shape 81"/>
          <p:cNvSpPr/>
          <p:nvPr/>
        </p:nvSpPr>
        <p:spPr>
          <a:xfrm>
            <a:off x="8621420" y="5008992"/>
            <a:ext cx="3022824" cy="951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4" name="Shape 82"/>
          <p:cNvSpPr/>
          <p:nvPr/>
        </p:nvSpPr>
        <p:spPr>
          <a:xfrm>
            <a:off x="8621420" y="4448922"/>
            <a:ext cx="9510" cy="569580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85" name="Text 83"/>
          <p:cNvSpPr txBox="1"/>
          <p:nvPr/>
        </p:nvSpPr>
        <p:spPr>
          <a:xfrm>
            <a:off x="8745322" y="4564228"/>
            <a:ext cx="2975092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1740" b="1" spc="-54" kern="0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1.2% (Ultra-Safe)</a:t>
            </a:r>
            <a:endParaRPr lang="en-US" sz="1740" dirty="0"/>
          </a:p>
        </p:txBody>
      </p:sp>
      <p:sp>
        <p:nvSpPr>
          <p:cNvPr id="86" name="Shape 84"/>
          <p:cNvSpPr/>
          <p:nvPr/>
        </p:nvSpPr>
        <p:spPr>
          <a:xfrm>
            <a:off x="8759586" y="4577486"/>
            <a:ext cx="1926184" cy="304770"/>
          </a:xfrm>
          <a:prstGeom prst="roundRect">
            <a:avLst>
              <a:gd name="adj" fmla="val 12511"/>
            </a:avLst>
          </a:prstGeom>
          <a:solidFill>
            <a:srgbClr val="DCFCE7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514350" y="6268303"/>
            <a:ext cx="1203423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64" spc="-54" kern="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Multi-center Phase II trial prospective cohort (N=520, 2024-2026)</a:t>
            </a:r>
            <a:endParaRPr lang="en-US" sz="86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Generated from an audited HTML preview</dc:subject>
  <dc:creator>korean-presentation-skill</dc:creator>
  <cp:lastModifiedBy>korean-presentation-skill</cp:lastModifiedBy>
  <cp:revision>1</cp:revision>
  <dcterms:created xsi:type="dcterms:W3CDTF">2026-09-06T13:28:35Z</dcterms:created>
  <dcterms:modified xsi:type="dcterms:W3CDTF">2026-09-06T13:28:35Z</dcterms:modified>
</cp:coreProperties>
</file>