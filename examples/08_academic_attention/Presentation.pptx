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NeurIPS 오럴 논문의 이론적 증명과 선형 복잡도 수식 설명입니다.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806135"/>
            <a:ext cx="10972800" cy="951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0520" y="416143"/>
            <a:ext cx="3965844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NEURIPS 2026 ORAL PRESENTATION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9068653" y="416143"/>
            <a:ext cx="2713299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ARXIV: 2608.01248 [CS.LG]</a:t>
            </a:r>
            <a:endParaRPr lang="en-US" sz="1631" dirty="0"/>
          </a:p>
        </p:txBody>
      </p:sp>
      <p:sp>
        <p:nvSpPr>
          <p:cNvPr id="5" name="Text 3"/>
          <p:cNvSpPr txBox="1"/>
          <p:nvPr/>
        </p:nvSpPr>
        <p:spPr>
          <a:xfrm>
            <a:off x="590520" y="1694566"/>
            <a:ext cx="11010930" cy="1346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2"/>
              </a:lnSpc>
              <a:buNone/>
            </a:pPr>
            <a:r>
              <a:rPr lang="en-US" sz="4241" b="1" spc="-22" kern="0" dirty="0">
                <a:solidFill>
                  <a:srgbClr val="1E1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시간 복잡도 어텐션을 통한</a:t>
            </a:r>
            <a:endParaRPr lang="en-US" sz="4241" dirty="0"/>
          </a:p>
          <a:p>
            <a:pPr algn="l" indent="0" marL="0">
              <a:lnSpc>
                <a:spcPts val="5302"/>
              </a:lnSpc>
              <a:buNone/>
            </a:pPr>
            <a:r>
              <a:rPr lang="en-US" sz="4241" b="1" spc="-22" kern="0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O(N) 초경량 트랜스포머의 이론적 증명</a:t>
            </a:r>
            <a:endParaRPr lang="en-US" sz="4241" dirty="0"/>
          </a:p>
        </p:txBody>
      </p:sp>
      <p:sp>
        <p:nvSpPr>
          <p:cNvPr id="6" name="Text 4"/>
          <p:cNvSpPr txBox="1"/>
          <p:nvPr/>
        </p:nvSpPr>
        <p:spPr>
          <a:xfrm>
            <a:off x="590520" y="3275289"/>
            <a:ext cx="1186964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-22" kern="0" dirty="0">
                <a:solidFill>
                  <a:srgbClr val="4338C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서울대학교 AI연구원 • 딥러닝 이론 연구실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09630" y="3590483"/>
            <a:ext cx="10972800" cy="1677741"/>
          </a:xfrm>
          <a:prstGeom prst="rect">
            <a:avLst/>
          </a:prstGeom>
          <a:solidFill>
            <a:srgbClr val="F1F0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30" y="3590483"/>
            <a:ext cx="38130" cy="1677741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0100" y="3695456"/>
            <a:ext cx="10629900" cy="704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1849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Theorem 1 (Linear Convergence).</a:t>
            </a:r>
            <a:pPr algn="l" indent="0" marL="0">
              <a:lnSpc>
                <a:spcPts val="2773"/>
              </a:lnSpc>
              <a:buNone/>
            </a:pPr>
            <a:r>
              <a:rPr lang="en-US" sz="1849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 Let \( \phi(x) \) be the kernel feature map with Taylor expansion order \( k \). Then the attention matrix multiplication satisfies:</a:t>
            </a:r>
            <a:endParaRPr lang="en-US" sz="1849" dirty="0"/>
          </a:p>
        </p:txBody>
      </p:sp>
      <p:sp>
        <p:nvSpPr>
          <p:cNvPr id="10" name="Text 8"/>
          <p:cNvSpPr txBox="1"/>
          <p:nvPr/>
        </p:nvSpPr>
        <p:spPr>
          <a:xfrm>
            <a:off x="800100" y="4792188"/>
            <a:ext cx="11458164" cy="352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73"/>
              </a:lnSpc>
              <a:buNone/>
            </a:pPr>
            <a:r>
              <a:rPr lang="en-US" sz="1849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with zero loss on 1,000,000 token context retrieval.</a:t>
            </a:r>
            <a:endParaRPr lang="en-US" sz="1849" dirty="0"/>
          </a:p>
        </p:txBody>
      </p:sp>
      <p:sp>
        <p:nvSpPr>
          <p:cNvPr id="11" name="Text 9"/>
          <p:cNvSpPr txBox="1"/>
          <p:nvPr/>
        </p:nvSpPr>
        <p:spPr>
          <a:xfrm>
            <a:off x="-28164" y="4484583"/>
            <a:ext cx="1228651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260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\( \text{Time Complexity} = O(N \cdot d^2) \ll O(N^2 \cdot d) \)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609630" y="6188659"/>
            <a:ext cx="10972800" cy="9510"/>
          </a:xfrm>
          <a:prstGeom prst="rect">
            <a:avLst/>
          </a:prstGeom>
          <a:solidFill>
            <a:srgbClr val="D4D2C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0520" y="6268303"/>
            <a:ext cx="34600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22" kern="0" dirty="0">
                <a:solidFill>
                  <a:srgbClr val="64748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Keywords: Linear Attention, Kernel Approximation, Long-Context LLMs</a:t>
            </a:r>
            <a:endParaRPr lang="en-US" sz="864" dirty="0"/>
          </a:p>
        </p:txBody>
      </p:sp>
      <p:sp>
        <p:nvSpPr>
          <p:cNvPr id="14" name="Text 12"/>
          <p:cNvSpPr txBox="1"/>
          <p:nvPr/>
        </p:nvSpPr>
        <p:spPr>
          <a:xfrm>
            <a:off x="10016155" y="6268303"/>
            <a:ext cx="16900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22" kern="0" dirty="0">
                <a:solidFill>
                  <a:srgbClr val="64748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Correspondence: theory@snu.ac.kr</a:t>
            </a:r>
            <a:endParaRPr lang="en-US" sz="8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" y="806135"/>
            <a:ext cx="10972800" cy="951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0520" y="416143"/>
            <a:ext cx="3343778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EXPERIMENTAL EVALUATION</a:t>
            </a:r>
            <a:endParaRPr lang="en-US" sz="1631" dirty="0"/>
          </a:p>
        </p:txBody>
      </p:sp>
      <p:sp>
        <p:nvSpPr>
          <p:cNvPr id="4" name="Text 2"/>
          <p:cNvSpPr txBox="1"/>
          <p:nvPr/>
        </p:nvSpPr>
        <p:spPr>
          <a:xfrm>
            <a:off x="6870802" y="416143"/>
            <a:ext cx="5087082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TABLE 2: 1M CONTEXT RETRIEVAL ACCURACY</a:t>
            </a:r>
            <a:endParaRPr lang="en-US" sz="1631" dirty="0"/>
          </a:p>
        </p:txBody>
      </p:sp>
      <p:sp>
        <p:nvSpPr>
          <p:cNvPr id="5" name="Text 3"/>
          <p:cNvSpPr txBox="1"/>
          <p:nvPr/>
        </p:nvSpPr>
        <p:spPr>
          <a:xfrm>
            <a:off x="590520" y="2266066"/>
            <a:ext cx="118696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spc="-22" kern="0" dirty="0">
                <a:solidFill>
                  <a:srgbClr val="1E1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 대비 연산 복잡도 및 메모리 비교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630" y="4004249"/>
            <a:ext cx="6446520" cy="190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Shape 5"/>
          <p:cNvSpPr/>
          <p:nvPr/>
        </p:nvSpPr>
        <p:spPr>
          <a:xfrm>
            <a:off x="609630" y="4952482"/>
            <a:ext cx="6446520" cy="190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Shape 6"/>
          <p:cNvSpPr/>
          <p:nvPr/>
        </p:nvSpPr>
        <p:spPr>
          <a:xfrm>
            <a:off x="614385" y="4028023"/>
            <a:ext cx="2976555" cy="306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14385" y="4028023"/>
            <a:ext cx="2976555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4385" y="4325112"/>
            <a:ext cx="2976555" cy="951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Shape 9"/>
          <p:cNvSpPr/>
          <p:nvPr/>
        </p:nvSpPr>
        <p:spPr>
          <a:xfrm>
            <a:off x="614385" y="4028023"/>
            <a:ext cx="871240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026" y="4089014"/>
            <a:ext cx="8160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MODEL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485626" y="4028023"/>
            <a:ext cx="490027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95135" y="4089014"/>
            <a:ext cx="4710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TIME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1975653" y="4028023"/>
            <a:ext cx="822594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85162" y="4089014"/>
            <a:ext cx="803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MEMORY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2798247" y="4028023"/>
            <a:ext cx="792693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07757" y="4089014"/>
            <a:ext cx="7735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ACCURACY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4385" y="4334622"/>
            <a:ext cx="2976555" cy="306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385" y="4334622"/>
            <a:ext cx="2976555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385" y="4631710"/>
            <a:ext cx="2976555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385" y="4334622"/>
            <a:ext cx="871240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026" y="4395612"/>
            <a:ext cx="8160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FlashAttn-3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1485626" y="4334622"/>
            <a:ext cx="490027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95135" y="4395612"/>
            <a:ext cx="4710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O(N^2)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1975653" y="4334622"/>
            <a:ext cx="822594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85162" y="4395612"/>
            <a:ext cx="803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48.2 GB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798247" y="4334622"/>
            <a:ext cx="792693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07757" y="4395612"/>
            <a:ext cx="7735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99.9%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14385" y="4641220"/>
            <a:ext cx="2976555" cy="30659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1" name="Shape 29"/>
          <p:cNvSpPr/>
          <p:nvPr/>
        </p:nvSpPr>
        <p:spPr>
          <a:xfrm>
            <a:off x="614385" y="4641220"/>
            <a:ext cx="2976555" cy="9510"/>
          </a:xfrm>
          <a:prstGeom prst="rect">
            <a:avLst/>
          </a:prstGeom>
          <a:solidFill>
            <a:srgbClr val="D1D9E0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4385" y="4641220"/>
            <a:ext cx="871240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026" y="4702211"/>
            <a:ext cx="81601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4338C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Ours (Linear)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1485626" y="4641220"/>
            <a:ext cx="490027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95135" y="4702211"/>
            <a:ext cx="47100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4338C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O(N)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1975653" y="4641220"/>
            <a:ext cx="822594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985162" y="4702211"/>
            <a:ext cx="80357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4338C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1.2 GB (-97%)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2798247" y="4641220"/>
            <a:ext cx="792693" cy="306598"/>
          </a:xfrm>
          <a:prstGeom prst="rect">
            <a:avLst/>
          </a:prstGeom>
          <a:ln w="9525">
            <a:solidFill>
              <a:srgbClr val="D1D9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07757" y="4702211"/>
            <a:ext cx="7735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60" b="1" spc="-22" kern="0" dirty="0">
                <a:solidFill>
                  <a:srgbClr val="4338CA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99.8%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7284750" y="4004249"/>
            <a:ext cx="4297680" cy="1119774"/>
          </a:xfrm>
          <a:prstGeom prst="rect">
            <a:avLst/>
          </a:prstGeom>
          <a:solidFill>
            <a:srgbClr val="F1F0EA"/>
          </a:solidFill>
          <a:ln/>
        </p:spPr>
      </p:sp>
      <p:sp>
        <p:nvSpPr>
          <p:cNvPr id="41" name="Shape 39"/>
          <p:cNvSpPr/>
          <p:nvPr/>
        </p:nvSpPr>
        <p:spPr>
          <a:xfrm>
            <a:off x="7284750" y="4004249"/>
            <a:ext cx="38130" cy="111977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75220" y="4110319"/>
            <a:ext cx="39547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b="1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Remark 2.1.</a:t>
            </a:r>
            <a:pPr algn="l" indent="0" marL="0">
              <a:lnSpc>
                <a:spcPts val="1404"/>
              </a:lnSpc>
              <a:buNone/>
            </a:pPr>
            <a:r>
              <a:rPr lang="en-US" sz="936" spc="-22" kern="0" dirty="0">
                <a:solidFill>
                  <a:srgbClr val="1E1B4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 The memory reduction enables full fine-tuning of a 70B parameter model on a single 8x H100 node with sequence length \( N = 10^6 \).</a:t>
            </a:r>
            <a:endParaRPr lang="en-US" sz="936" dirty="0"/>
          </a:p>
        </p:txBody>
      </p:sp>
      <p:sp>
        <p:nvSpPr>
          <p:cNvPr id="43" name="Text 41"/>
          <p:cNvSpPr txBox="1"/>
          <p:nvPr/>
        </p:nvSpPr>
        <p:spPr>
          <a:xfrm>
            <a:off x="590520" y="6268303"/>
            <a:ext cx="118696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4" spc="-22" kern="0" dirty="0">
                <a:solidFill>
                  <a:srgbClr val="64748B"/>
                </a:solidFill>
                <a:latin typeface="STIX Two Text" pitchFamily="34" charset="0"/>
                <a:ea typeface="STIX Two Text" pitchFamily="34" charset="-122"/>
                <a:cs typeface="STIX Two Text" pitchFamily="34" charset="-120"/>
              </a:rPr>
              <a:t>* Evaluated on synthetic Needle-In-A-Haystack benchmark with Llama-3 architecture.</a:t>
            </a:r>
            <a:endParaRPr lang="en-US" sz="8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2026-09-06T13:28:45Z</dcterms:created>
  <dcterms:modified xsi:type="dcterms:W3CDTF">2026-09-06T13:28:45Z</dcterms:modified>
</cp:coreProperties>
</file>